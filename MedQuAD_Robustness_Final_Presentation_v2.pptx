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charts/chart3.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0" d="100"/>
          <a:sy n="110" d="100"/>
        </p:scale>
        <p:origin x="548"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Li" userId="cf1f55cc47d0a442" providerId="LiveId" clId="{45806EC9-31E0-4934-BC3B-47E31944A0AE}"/>
    <pc:docChg chg="undo custSel modSld">
      <pc:chgData name="Michael Li" userId="cf1f55cc47d0a442" providerId="LiveId" clId="{45806EC9-31E0-4934-BC3B-47E31944A0AE}" dt="2026-04-28T04:13:40.857" v="15" actId="14100"/>
      <pc:docMkLst>
        <pc:docMk/>
      </pc:docMkLst>
      <pc:sldChg chg="modSp mod">
        <pc:chgData name="Michael Li" userId="cf1f55cc47d0a442" providerId="LiveId" clId="{45806EC9-31E0-4934-BC3B-47E31944A0AE}" dt="2026-04-28T04:10:02.419" v="3" actId="1076"/>
        <pc:sldMkLst>
          <pc:docMk/>
          <pc:sldMk cId="0" sldId="262"/>
        </pc:sldMkLst>
        <pc:spChg chg="mod">
          <ac:chgData name="Michael Li" userId="cf1f55cc47d0a442" providerId="LiveId" clId="{45806EC9-31E0-4934-BC3B-47E31944A0AE}" dt="2026-04-28T04:10:02.419" v="3" actId="1076"/>
          <ac:spMkLst>
            <pc:docMk/>
            <pc:sldMk cId="0" sldId="262"/>
            <ac:spMk id="27" creationId="{00000000-0000-0000-0000-000000000000}"/>
          </ac:spMkLst>
        </pc:spChg>
      </pc:sldChg>
      <pc:sldChg chg="modSp mod">
        <pc:chgData name="Michael Li" userId="cf1f55cc47d0a442" providerId="LiveId" clId="{45806EC9-31E0-4934-BC3B-47E31944A0AE}" dt="2026-04-28T02:52:13.342" v="0" actId="1076"/>
        <pc:sldMkLst>
          <pc:docMk/>
          <pc:sldMk cId="0" sldId="263"/>
        </pc:sldMkLst>
        <pc:spChg chg="mod">
          <ac:chgData name="Michael Li" userId="cf1f55cc47d0a442" providerId="LiveId" clId="{45806EC9-31E0-4934-BC3B-47E31944A0AE}" dt="2026-04-28T02:52:13.342" v="0" actId="1076"/>
          <ac:spMkLst>
            <pc:docMk/>
            <pc:sldMk cId="0" sldId="263"/>
            <ac:spMk id="4" creationId="{00000000-0000-0000-0000-000000000000}"/>
          </ac:spMkLst>
        </pc:spChg>
      </pc:sldChg>
      <pc:sldChg chg="addSp delSp mod">
        <pc:chgData name="Michael Li" userId="cf1f55cc47d0a442" providerId="LiveId" clId="{45806EC9-31E0-4934-BC3B-47E31944A0AE}" dt="2026-04-28T04:13:23.984" v="11" actId="478"/>
        <pc:sldMkLst>
          <pc:docMk/>
          <pc:sldMk cId="0" sldId="265"/>
        </pc:sldMkLst>
        <pc:spChg chg="add del">
          <ac:chgData name="Michael Li" userId="cf1f55cc47d0a442" providerId="LiveId" clId="{45806EC9-31E0-4934-BC3B-47E31944A0AE}" dt="2026-04-28T04:13:23.984" v="11" actId="478"/>
          <ac:spMkLst>
            <pc:docMk/>
            <pc:sldMk cId="0" sldId="265"/>
            <ac:spMk id="9" creationId="{00000000-0000-0000-0000-000000000000}"/>
          </ac:spMkLst>
        </pc:spChg>
      </pc:sldChg>
      <pc:sldChg chg="modSp mod">
        <pc:chgData name="Michael Li" userId="cf1f55cc47d0a442" providerId="LiveId" clId="{45806EC9-31E0-4934-BC3B-47E31944A0AE}" dt="2026-04-28T04:13:40.857" v="15" actId="14100"/>
        <pc:sldMkLst>
          <pc:docMk/>
          <pc:sldMk cId="0" sldId="273"/>
        </pc:sldMkLst>
        <pc:spChg chg="mod">
          <ac:chgData name="Michael Li" userId="cf1f55cc47d0a442" providerId="LiveId" clId="{45806EC9-31E0-4934-BC3B-47E31944A0AE}" dt="2026-04-28T04:13:40.857" v="15" actId="14100"/>
          <ac:spMkLst>
            <pc:docMk/>
            <pc:sldMk cId="0" sldId="273"/>
            <ac:spMk id="14" creationId="{00000000-0000-0000-0000-000000000000}"/>
          </ac:spMkLst>
        </pc:spChg>
        <pc:spChg chg="mod">
          <ac:chgData name="Michael Li" userId="cf1f55cc47d0a442" providerId="LiveId" clId="{45806EC9-31E0-4934-BC3B-47E31944A0AE}" dt="2026-04-28T04:13:37.849" v="14" actId="14100"/>
          <ac:spMkLst>
            <pc:docMk/>
            <pc:sldMk cId="0" sldId="273"/>
            <ac:spMk id="17" creationId="{00000000-0000-0000-0000-000000000000}"/>
          </ac:spMkLst>
        </pc:spChg>
        <pc:spChg chg="mod">
          <ac:chgData name="Michael Li" userId="cf1f55cc47d0a442" providerId="LiveId" clId="{45806EC9-31E0-4934-BC3B-47E31944A0AE}" dt="2026-04-28T04:13:33.599" v="13" actId="255"/>
          <ac:spMkLst>
            <pc:docMk/>
            <pc:sldMk cId="0" sldId="273"/>
            <ac:spMk id="19"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Clean</c:v>
                </c:pt>
              </c:strCache>
            </c:strRef>
          </c:tx>
          <c:spPr>
            <a:solidFill>
              <a:srgbClr val="127C7A"/>
            </a:solidFill>
            <a:ln>
              <a:noFill/>
            </a:ln>
            <a:effectLst/>
          </c:spPr>
          <c:invertIfNegative val="0"/>
          <c:cat>
            <c:strRef>
              <c:f>Sheet1!$A$2:$A$3</c:f>
              <c:strCache>
                <c:ptCount val="2"/>
                <c:pt idx="0">
                  <c:v>fixed_repair</c:v>
                </c:pt>
                <c:pt idx="1">
                  <c:v>self_repair</c:v>
                </c:pt>
              </c:strCache>
            </c:strRef>
          </c:cat>
          <c:val>
            <c:numRef>
              <c:f>Sheet1!$B$2:$B$3</c:f>
              <c:numCache>
                <c:formatCode>General</c:formatCode>
                <c:ptCount val="2"/>
                <c:pt idx="0">
                  <c:v>3.7272727272727271</c:v>
                </c:pt>
                <c:pt idx="1">
                  <c:v>3.7272727272727271</c:v>
                </c:pt>
              </c:numCache>
            </c:numRef>
          </c:val>
          <c:extLst>
            <c:ext xmlns:c16="http://schemas.microsoft.com/office/drawing/2014/chart" uri="{C3380CC4-5D6E-409C-BE32-E72D297353CC}">
              <c16:uniqueId val="{00000000-BB29-46C3-9600-710EA9EE5BC7}"/>
            </c:ext>
          </c:extLst>
        </c:ser>
        <c:ser>
          <c:idx val="1"/>
          <c:order val="1"/>
          <c:tx>
            <c:strRef>
              <c:f>Sheet1!$C$1</c:f>
              <c:strCache>
                <c:ptCount val="1"/>
                <c:pt idx="0">
                  <c:v>Noisy</c:v>
                </c:pt>
              </c:strCache>
            </c:strRef>
          </c:tx>
          <c:spPr>
            <a:solidFill>
              <a:srgbClr val="52616B"/>
            </a:solidFill>
            <a:ln>
              <a:noFill/>
            </a:ln>
            <a:effectLst/>
          </c:spPr>
          <c:invertIfNegative val="0"/>
          <c:cat>
            <c:strRef>
              <c:f>Sheet1!$A$2:$A$3</c:f>
              <c:strCache>
                <c:ptCount val="2"/>
                <c:pt idx="0">
                  <c:v>fixed_repair</c:v>
                </c:pt>
                <c:pt idx="1">
                  <c:v>self_repair</c:v>
                </c:pt>
              </c:strCache>
            </c:strRef>
          </c:cat>
          <c:val>
            <c:numRef>
              <c:f>Sheet1!$C$2:$C$3</c:f>
              <c:numCache>
                <c:formatCode>General</c:formatCode>
                <c:ptCount val="2"/>
                <c:pt idx="0">
                  <c:v>3.4727272727272727</c:v>
                </c:pt>
                <c:pt idx="1">
                  <c:v>3.4727272727272727</c:v>
                </c:pt>
              </c:numCache>
            </c:numRef>
          </c:val>
          <c:extLst>
            <c:ext xmlns:c16="http://schemas.microsoft.com/office/drawing/2014/chart" uri="{C3380CC4-5D6E-409C-BE32-E72D297353CC}">
              <c16:uniqueId val="{00000001-BB29-46C3-9600-710EA9EE5BC7}"/>
            </c:ext>
          </c:extLst>
        </c:ser>
        <c:ser>
          <c:idx val="2"/>
          <c:order val="2"/>
          <c:tx>
            <c:strRef>
              <c:f>Sheet1!$D$1</c:f>
              <c:strCache>
                <c:ptCount val="1"/>
                <c:pt idx="0">
                  <c:v>Repaired</c:v>
                </c:pt>
              </c:strCache>
            </c:strRef>
          </c:tx>
          <c:spPr>
            <a:solidFill>
              <a:srgbClr val="E0A13A"/>
            </a:solidFill>
            <a:ln>
              <a:noFill/>
            </a:ln>
            <a:effectLst/>
          </c:spPr>
          <c:invertIfNegative val="0"/>
          <c:cat>
            <c:strRef>
              <c:f>Sheet1!$A$2:$A$3</c:f>
              <c:strCache>
                <c:ptCount val="2"/>
                <c:pt idx="0">
                  <c:v>fixed_repair</c:v>
                </c:pt>
                <c:pt idx="1">
                  <c:v>self_repair</c:v>
                </c:pt>
              </c:strCache>
            </c:strRef>
          </c:cat>
          <c:val>
            <c:numRef>
              <c:f>Sheet1!$D$2:$D$3</c:f>
              <c:numCache>
                <c:formatCode>General</c:formatCode>
                <c:ptCount val="2"/>
                <c:pt idx="0">
                  <c:v>3.3527272727272726</c:v>
                </c:pt>
                <c:pt idx="1">
                  <c:v>3.4090909090909092</c:v>
                </c:pt>
              </c:numCache>
            </c:numRef>
          </c:val>
          <c:extLst>
            <c:ext xmlns:c16="http://schemas.microsoft.com/office/drawing/2014/chart" uri="{C3380CC4-5D6E-409C-BE32-E72D297353CC}">
              <c16:uniqueId val="{00000002-BB29-46C3-9600-710EA9EE5BC7}"/>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5323D"/>
                </a:solidFill>
                <a:latin typeface="Aptos"/>
              </a:defRPr>
            </a:pPr>
            <a:endParaRPr lang="en-US"/>
          </a:p>
        </c:txPr>
        <c:crossAx val="2094734552"/>
        <c:crosses val="autoZero"/>
        <c:auto val="1"/>
        <c:lblAlgn val="ctr"/>
        <c:lblOffset val="100"/>
        <c:noMultiLvlLbl val="1"/>
      </c:catAx>
      <c:valAx>
        <c:axId val="2094734552"/>
        <c:scaling>
          <c:orientation val="minMax"/>
          <c:max val="5"/>
          <c:min val="0"/>
        </c:scaling>
        <c:delete val="0"/>
        <c:axPos val="l"/>
        <c:majorGridlines>
          <c:spPr>
            <a:ln w="6350" cap="flat">
              <a:solidFill>
                <a:srgbClr val="DCE9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25323D"/>
                </a:solidFill>
                <a:latin typeface="Aptos"/>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fixed_repair</c:v>
                </c:pt>
              </c:strCache>
            </c:strRef>
          </c:tx>
          <c:spPr>
            <a:solidFill>
              <a:srgbClr val="127C7A"/>
            </a:solidFill>
            <a:ln>
              <a:noFill/>
            </a:ln>
          </c:spPr>
          <c:invertIfNegative val="0"/>
          <c:dPt>
            <c:idx val="0"/>
            <c:invertIfNegative val="0"/>
            <c:bubble3D val="0"/>
            <c:spPr>
              <a:solidFill>
                <a:srgbClr val="C94C4C"/>
              </a:solidFill>
              <a:ln>
                <a:noFill/>
              </a:ln>
            </c:spPr>
            <c:extLst>
              <c:ext xmlns:c16="http://schemas.microsoft.com/office/drawing/2014/chart" uri="{C3380CC4-5D6E-409C-BE32-E72D297353CC}">
                <c16:uniqueId val="{00000001-F4F3-4FCE-A28E-6FC555EAF53B}"/>
              </c:ext>
            </c:extLst>
          </c:dPt>
          <c:dPt>
            <c:idx val="1"/>
            <c:invertIfNegative val="0"/>
            <c:bubble3D val="0"/>
            <c:spPr>
              <a:solidFill>
                <a:srgbClr val="C94C4C"/>
              </a:solidFill>
              <a:ln>
                <a:noFill/>
              </a:ln>
            </c:spPr>
            <c:extLst>
              <c:ext xmlns:c16="http://schemas.microsoft.com/office/drawing/2014/chart" uri="{C3380CC4-5D6E-409C-BE32-E72D297353CC}">
                <c16:uniqueId val="{00000003-F4F3-4FCE-A28E-6FC555EAF53B}"/>
              </c:ext>
            </c:extLst>
          </c:dPt>
          <c:dPt>
            <c:idx val="2"/>
            <c:invertIfNegative val="0"/>
            <c:bubble3D val="0"/>
            <c:spPr>
              <a:solidFill>
                <a:srgbClr val="C94C4C"/>
              </a:solidFill>
              <a:ln>
                <a:noFill/>
              </a:ln>
            </c:spPr>
            <c:extLst>
              <c:ext xmlns:c16="http://schemas.microsoft.com/office/drawing/2014/chart" uri="{C3380CC4-5D6E-409C-BE32-E72D297353CC}">
                <c16:uniqueId val="{00000005-F4F3-4FCE-A28E-6FC555EAF53B}"/>
              </c:ext>
            </c:extLst>
          </c:dPt>
          <c:dPt>
            <c:idx val="3"/>
            <c:invertIfNegative val="0"/>
            <c:bubble3D val="0"/>
            <c:spPr>
              <a:solidFill>
                <a:srgbClr val="C94C4C"/>
              </a:solidFill>
              <a:ln>
                <a:noFill/>
              </a:ln>
            </c:spPr>
            <c:extLst>
              <c:ext xmlns:c16="http://schemas.microsoft.com/office/drawing/2014/chart" uri="{C3380CC4-5D6E-409C-BE32-E72D297353CC}">
                <c16:uniqueId val="{00000007-F4F3-4FCE-A28E-6FC555EAF53B}"/>
              </c:ext>
            </c:extLst>
          </c:dPt>
          <c:dPt>
            <c:idx val="4"/>
            <c:invertIfNegative val="0"/>
            <c:bubble3D val="0"/>
            <c:spPr>
              <a:solidFill>
                <a:srgbClr val="C94C4C"/>
              </a:solidFill>
              <a:ln>
                <a:noFill/>
              </a:ln>
            </c:spPr>
            <c:extLst>
              <c:ext xmlns:c16="http://schemas.microsoft.com/office/drawing/2014/chart" uri="{C3380CC4-5D6E-409C-BE32-E72D297353CC}">
                <c16:uniqueId val="{00000009-F4F3-4FCE-A28E-6FC555EAF53B}"/>
              </c:ext>
            </c:extLst>
          </c:dPt>
          <c:dPt>
            <c:idx val="5"/>
            <c:invertIfNegative val="0"/>
            <c:bubble3D val="0"/>
            <c:spPr>
              <a:solidFill>
                <a:srgbClr val="C94C4C"/>
              </a:solidFill>
              <a:ln>
                <a:noFill/>
              </a:ln>
            </c:spPr>
            <c:extLst>
              <c:ext xmlns:c16="http://schemas.microsoft.com/office/drawing/2014/chart" uri="{C3380CC4-5D6E-409C-BE32-E72D297353CC}">
                <c16:uniqueId val="{0000000B-F4F3-4FCE-A28E-6FC555EAF53B}"/>
              </c:ext>
            </c:extLst>
          </c:dPt>
          <c:dPt>
            <c:idx val="8"/>
            <c:invertIfNegative val="0"/>
            <c:bubble3D val="0"/>
            <c:spPr>
              <a:solidFill>
                <a:srgbClr val="C94C4C"/>
              </a:solidFill>
              <a:ln>
                <a:noFill/>
              </a:ln>
            </c:spPr>
            <c:extLst>
              <c:ext xmlns:c16="http://schemas.microsoft.com/office/drawing/2014/chart" uri="{C3380CC4-5D6E-409C-BE32-E72D297353CC}">
                <c16:uniqueId val="{0000000D-F4F3-4FCE-A28E-6FC555EAF53B}"/>
              </c:ext>
            </c:extLst>
          </c:dPt>
          <c:dPt>
            <c:idx val="9"/>
            <c:invertIfNegative val="0"/>
            <c:bubble3D val="0"/>
            <c:spPr>
              <a:solidFill>
                <a:srgbClr val="C94C4C"/>
              </a:solidFill>
              <a:ln>
                <a:noFill/>
              </a:ln>
            </c:spPr>
            <c:extLst>
              <c:ext xmlns:c16="http://schemas.microsoft.com/office/drawing/2014/chart" uri="{C3380CC4-5D6E-409C-BE32-E72D297353CC}">
                <c16:uniqueId val="{0000000F-F4F3-4FCE-A28E-6FC555EAF53B}"/>
              </c:ext>
            </c:extLst>
          </c:dPt>
          <c:cat>
            <c:strRef>
              <c:f>Sheet1!$A$2:$A$12</c:f>
              <c:strCache>
                <c:ptCount val="11"/>
                <c:pt idx="0">
                  <c:v>Phi-3 med</c:v>
                </c:pt>
                <c:pt idx="1">
                  <c:v>Gemma 4 31B</c:v>
                </c:pt>
                <c:pt idx="2">
                  <c:v>Mistral 7B</c:v>
                </c:pt>
                <c:pt idx="3">
                  <c:v>Qwen2.5 32B</c:v>
                </c:pt>
                <c:pt idx="4">
                  <c:v>Llama 3.1 8B</c:v>
                </c:pt>
                <c:pt idx="5">
                  <c:v>Qwen2.5 14B</c:v>
                </c:pt>
                <c:pt idx="6">
                  <c:v>Gemma 2 9B</c:v>
                </c:pt>
                <c:pt idx="7">
                  <c:v>BioMistral</c:v>
                </c:pt>
                <c:pt idx="8">
                  <c:v>GPT-5.4</c:v>
                </c:pt>
                <c:pt idx="9">
                  <c:v>Mixtral 8x7B</c:v>
                </c:pt>
                <c:pt idx="10">
                  <c:v>Qwen3 32B</c:v>
                </c:pt>
              </c:strCache>
            </c:strRef>
          </c:cat>
          <c:val>
            <c:numRef>
              <c:f>Sheet1!$B$2:$B$12</c:f>
              <c:numCache>
                <c:formatCode>General</c:formatCode>
                <c:ptCount val="11"/>
                <c:pt idx="0">
                  <c:v>-0.3400000000000003</c:v>
                </c:pt>
                <c:pt idx="1">
                  <c:v>-0.33999999999999986</c:v>
                </c:pt>
                <c:pt idx="2">
                  <c:v>-0.18000000000000016</c:v>
                </c:pt>
                <c:pt idx="3">
                  <c:v>-0.16000000000000014</c:v>
                </c:pt>
                <c:pt idx="4">
                  <c:v>-0.13999999999999968</c:v>
                </c:pt>
                <c:pt idx="5">
                  <c:v>-0.11999999999999966</c:v>
                </c:pt>
                <c:pt idx="6">
                  <c:v>0</c:v>
                </c:pt>
                <c:pt idx="7">
                  <c:v>2.0000000000000018E-2</c:v>
                </c:pt>
                <c:pt idx="8">
                  <c:v>-8.0000000000000071E-2</c:v>
                </c:pt>
                <c:pt idx="9">
                  <c:v>-0.33999999999999986</c:v>
                </c:pt>
                <c:pt idx="10">
                  <c:v>0.35999999999999988</c:v>
                </c:pt>
              </c:numCache>
            </c:numRef>
          </c:val>
          <c:extLst>
            <c:ext xmlns:c16="http://schemas.microsoft.com/office/drawing/2014/chart" uri="{C3380CC4-5D6E-409C-BE32-E72D297353CC}">
              <c16:uniqueId val="{00000010-F4F3-4FCE-A28E-6FC555EAF53B}"/>
            </c:ext>
          </c:extLst>
        </c:ser>
        <c:ser>
          <c:idx val="1"/>
          <c:order val="1"/>
          <c:tx>
            <c:strRef>
              <c:f>Sheet1!$C$1</c:f>
              <c:strCache>
                <c:ptCount val="1"/>
                <c:pt idx="0">
                  <c:v>self_repair</c:v>
                </c:pt>
              </c:strCache>
            </c:strRef>
          </c:tx>
          <c:spPr>
            <a:solidFill>
              <a:srgbClr val="E0A13A"/>
            </a:solidFill>
            <a:ln>
              <a:noFill/>
            </a:ln>
          </c:spPr>
          <c:invertIfNegative val="0"/>
          <c:dPt>
            <c:idx val="0"/>
            <c:invertIfNegative val="0"/>
            <c:bubble3D val="0"/>
            <c:spPr>
              <a:solidFill>
                <a:srgbClr val="C94C4C"/>
              </a:solidFill>
              <a:ln>
                <a:noFill/>
              </a:ln>
            </c:spPr>
            <c:extLst>
              <c:ext xmlns:c16="http://schemas.microsoft.com/office/drawing/2014/chart" uri="{C3380CC4-5D6E-409C-BE32-E72D297353CC}">
                <c16:uniqueId val="{00000012-F4F3-4FCE-A28E-6FC555EAF53B}"/>
              </c:ext>
            </c:extLst>
          </c:dPt>
          <c:dPt>
            <c:idx val="1"/>
            <c:invertIfNegative val="0"/>
            <c:bubble3D val="0"/>
            <c:spPr>
              <a:solidFill>
                <a:srgbClr val="C94C4C"/>
              </a:solidFill>
              <a:ln>
                <a:noFill/>
              </a:ln>
            </c:spPr>
            <c:extLst>
              <c:ext xmlns:c16="http://schemas.microsoft.com/office/drawing/2014/chart" uri="{C3380CC4-5D6E-409C-BE32-E72D297353CC}">
                <c16:uniqueId val="{00000014-F4F3-4FCE-A28E-6FC555EAF53B}"/>
              </c:ext>
            </c:extLst>
          </c:dPt>
          <c:dPt>
            <c:idx val="2"/>
            <c:invertIfNegative val="0"/>
            <c:bubble3D val="0"/>
            <c:spPr>
              <a:solidFill>
                <a:srgbClr val="C94C4C"/>
              </a:solidFill>
              <a:ln>
                <a:noFill/>
              </a:ln>
            </c:spPr>
            <c:extLst>
              <c:ext xmlns:c16="http://schemas.microsoft.com/office/drawing/2014/chart" uri="{C3380CC4-5D6E-409C-BE32-E72D297353CC}">
                <c16:uniqueId val="{00000016-F4F3-4FCE-A28E-6FC555EAF53B}"/>
              </c:ext>
            </c:extLst>
          </c:dPt>
          <c:dPt>
            <c:idx val="3"/>
            <c:invertIfNegative val="0"/>
            <c:bubble3D val="0"/>
            <c:spPr>
              <a:solidFill>
                <a:srgbClr val="C94C4C"/>
              </a:solidFill>
              <a:ln>
                <a:noFill/>
              </a:ln>
            </c:spPr>
            <c:extLst>
              <c:ext xmlns:c16="http://schemas.microsoft.com/office/drawing/2014/chart" uri="{C3380CC4-5D6E-409C-BE32-E72D297353CC}">
                <c16:uniqueId val="{00000018-F4F3-4FCE-A28E-6FC555EAF53B}"/>
              </c:ext>
            </c:extLst>
          </c:dPt>
          <c:dPt>
            <c:idx val="4"/>
            <c:invertIfNegative val="0"/>
            <c:bubble3D val="0"/>
            <c:spPr>
              <a:solidFill>
                <a:srgbClr val="C94C4C"/>
              </a:solidFill>
              <a:ln>
                <a:noFill/>
              </a:ln>
            </c:spPr>
            <c:extLst>
              <c:ext xmlns:c16="http://schemas.microsoft.com/office/drawing/2014/chart" uri="{C3380CC4-5D6E-409C-BE32-E72D297353CC}">
                <c16:uniqueId val="{0000001A-F4F3-4FCE-A28E-6FC555EAF53B}"/>
              </c:ext>
            </c:extLst>
          </c:dPt>
          <c:dPt>
            <c:idx val="5"/>
            <c:invertIfNegative val="0"/>
            <c:bubble3D val="0"/>
            <c:spPr>
              <a:solidFill>
                <a:srgbClr val="C94C4C"/>
              </a:solidFill>
              <a:ln>
                <a:noFill/>
              </a:ln>
            </c:spPr>
            <c:extLst>
              <c:ext xmlns:c16="http://schemas.microsoft.com/office/drawing/2014/chart" uri="{C3380CC4-5D6E-409C-BE32-E72D297353CC}">
                <c16:uniqueId val="{0000001C-F4F3-4FCE-A28E-6FC555EAF53B}"/>
              </c:ext>
            </c:extLst>
          </c:dPt>
          <c:dPt>
            <c:idx val="6"/>
            <c:invertIfNegative val="0"/>
            <c:bubble3D val="0"/>
            <c:spPr>
              <a:solidFill>
                <a:srgbClr val="C94C4C"/>
              </a:solidFill>
              <a:ln>
                <a:noFill/>
              </a:ln>
            </c:spPr>
            <c:extLst>
              <c:ext xmlns:c16="http://schemas.microsoft.com/office/drawing/2014/chart" uri="{C3380CC4-5D6E-409C-BE32-E72D297353CC}">
                <c16:uniqueId val="{0000001E-F4F3-4FCE-A28E-6FC555EAF53B}"/>
              </c:ext>
            </c:extLst>
          </c:dPt>
          <c:dPt>
            <c:idx val="7"/>
            <c:invertIfNegative val="0"/>
            <c:bubble3D val="0"/>
            <c:spPr>
              <a:solidFill>
                <a:srgbClr val="C94C4C"/>
              </a:solidFill>
              <a:ln>
                <a:noFill/>
              </a:ln>
            </c:spPr>
            <c:extLst>
              <c:ext xmlns:c16="http://schemas.microsoft.com/office/drawing/2014/chart" uri="{C3380CC4-5D6E-409C-BE32-E72D297353CC}">
                <c16:uniqueId val="{00000020-F4F3-4FCE-A28E-6FC555EAF53B}"/>
              </c:ext>
            </c:extLst>
          </c:dPt>
          <c:dPt>
            <c:idx val="8"/>
            <c:invertIfNegative val="0"/>
            <c:bubble3D val="0"/>
            <c:spPr>
              <a:solidFill>
                <a:srgbClr val="C94C4C"/>
              </a:solidFill>
              <a:ln>
                <a:noFill/>
              </a:ln>
            </c:spPr>
            <c:extLst>
              <c:ext xmlns:c16="http://schemas.microsoft.com/office/drawing/2014/chart" uri="{C3380CC4-5D6E-409C-BE32-E72D297353CC}">
                <c16:uniqueId val="{00000022-F4F3-4FCE-A28E-6FC555EAF53B}"/>
              </c:ext>
            </c:extLst>
          </c:dPt>
          <c:cat>
            <c:strRef>
              <c:f>Sheet1!$A$2:$A$12</c:f>
              <c:strCache>
                <c:ptCount val="11"/>
                <c:pt idx="0">
                  <c:v>Phi-3 med</c:v>
                </c:pt>
                <c:pt idx="1">
                  <c:v>Gemma 4 31B</c:v>
                </c:pt>
                <c:pt idx="2">
                  <c:v>Mistral 7B</c:v>
                </c:pt>
                <c:pt idx="3">
                  <c:v>Qwen2.5 32B</c:v>
                </c:pt>
                <c:pt idx="4">
                  <c:v>Llama 3.1 8B</c:v>
                </c:pt>
                <c:pt idx="5">
                  <c:v>Qwen2.5 14B</c:v>
                </c:pt>
                <c:pt idx="6">
                  <c:v>Gemma 2 9B</c:v>
                </c:pt>
                <c:pt idx="7">
                  <c:v>BioMistral</c:v>
                </c:pt>
                <c:pt idx="8">
                  <c:v>GPT-5.4</c:v>
                </c:pt>
                <c:pt idx="9">
                  <c:v>Mixtral 8x7B</c:v>
                </c:pt>
                <c:pt idx="10">
                  <c:v>Qwen3 32B</c:v>
                </c:pt>
              </c:strCache>
            </c:strRef>
          </c:cat>
          <c:val>
            <c:numRef>
              <c:f>Sheet1!$C$2:$C$12</c:f>
              <c:numCache>
                <c:formatCode>General</c:formatCode>
                <c:ptCount val="11"/>
                <c:pt idx="0">
                  <c:v>-0.56000000000000005</c:v>
                </c:pt>
                <c:pt idx="1">
                  <c:v>-0.52</c:v>
                </c:pt>
                <c:pt idx="2">
                  <c:v>-0.48</c:v>
                </c:pt>
                <c:pt idx="3">
                  <c:v>-0.31999999999999984</c:v>
                </c:pt>
                <c:pt idx="4">
                  <c:v>-0.23999999999999977</c:v>
                </c:pt>
                <c:pt idx="5">
                  <c:v>-0.23999999999999977</c:v>
                </c:pt>
                <c:pt idx="6">
                  <c:v>-0.20000000000000018</c:v>
                </c:pt>
                <c:pt idx="7">
                  <c:v>-0.10000000000000009</c:v>
                </c:pt>
                <c:pt idx="8">
                  <c:v>-2.0000000000000018E-2</c:v>
                </c:pt>
                <c:pt idx="9">
                  <c:v>0.6599999999999997</c:v>
                </c:pt>
                <c:pt idx="10">
                  <c:v>1.3200000000000003</c:v>
                </c:pt>
              </c:numCache>
            </c:numRef>
          </c:val>
          <c:extLst>
            <c:ext xmlns:c16="http://schemas.microsoft.com/office/drawing/2014/chart" uri="{C3380CC4-5D6E-409C-BE32-E72D297353CC}">
              <c16:uniqueId val="{00000023-F4F3-4FCE-A28E-6FC555EAF53B}"/>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1100">
                <a:solidFill>
                  <a:srgbClr val="25323D"/>
                </a:solidFill>
              </a:defRPr>
            </a:pPr>
            <a:endParaRPr lang="en-US"/>
          </a:p>
        </c:txPr>
        <c:crossAx val="-2113994440"/>
        <c:crosses val="autoZero"/>
        <c:auto val="1"/>
        <c:lblAlgn val="ctr"/>
        <c:lblOffset val="100"/>
        <c:noMultiLvlLbl val="0"/>
      </c:catAx>
      <c:valAx>
        <c:axId val="-2113994440"/>
        <c:scaling>
          <c:orientation val="minMax"/>
        </c:scaling>
        <c:delete val="0"/>
        <c:axPos val="b"/>
        <c:majorGridlines>
          <c:spPr>
            <a:ln w="6350">
              <a:solidFill>
                <a:srgbClr val="DCE9ED"/>
              </a:solidFill>
            </a:ln>
          </c:spPr>
        </c:majorGridlines>
        <c:numFmt formatCode="General" sourceLinked="1"/>
        <c:majorTickMark val="out"/>
        <c:minorTickMark val="none"/>
        <c:tickLblPos val="nextTo"/>
        <c:txPr>
          <a:bodyPr/>
          <a:lstStyle/>
          <a:p>
            <a:pPr>
              <a:defRPr sz="1100">
                <a:solidFill>
                  <a:srgbClr val="25323D"/>
                </a:solidFill>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fixed_repair</c:v>
                </c:pt>
              </c:strCache>
            </c:strRef>
          </c:tx>
          <c:spPr>
            <a:solidFill>
              <a:srgbClr val="127C7A"/>
            </a:solidFill>
            <a:ln>
              <a:noFill/>
            </a:ln>
          </c:spPr>
          <c:invertIfNegative val="0"/>
          <c:dPt>
            <c:idx val="0"/>
            <c:invertIfNegative val="0"/>
            <c:bubble3D val="0"/>
            <c:spPr>
              <a:solidFill>
                <a:srgbClr val="C94C4C"/>
              </a:solidFill>
              <a:ln>
                <a:noFill/>
              </a:ln>
            </c:spPr>
            <c:extLst>
              <c:ext xmlns:c16="http://schemas.microsoft.com/office/drawing/2014/chart" uri="{C3380CC4-5D6E-409C-BE32-E72D297353CC}">
                <c16:uniqueId val="{00000001-614A-4E1E-9689-835FF2CE7676}"/>
              </c:ext>
            </c:extLst>
          </c:dPt>
          <c:dPt>
            <c:idx val="1"/>
            <c:invertIfNegative val="0"/>
            <c:bubble3D val="0"/>
            <c:spPr>
              <a:solidFill>
                <a:srgbClr val="C94C4C"/>
              </a:solidFill>
              <a:ln>
                <a:noFill/>
              </a:ln>
            </c:spPr>
            <c:extLst>
              <c:ext xmlns:c16="http://schemas.microsoft.com/office/drawing/2014/chart" uri="{C3380CC4-5D6E-409C-BE32-E72D297353CC}">
                <c16:uniqueId val="{00000003-614A-4E1E-9689-835FF2CE7676}"/>
              </c:ext>
            </c:extLst>
          </c:dPt>
          <c:dPt>
            <c:idx val="3"/>
            <c:invertIfNegative val="0"/>
            <c:bubble3D val="0"/>
            <c:spPr>
              <a:solidFill>
                <a:srgbClr val="C94C4C"/>
              </a:solidFill>
              <a:ln>
                <a:noFill/>
              </a:ln>
            </c:spPr>
            <c:extLst>
              <c:ext xmlns:c16="http://schemas.microsoft.com/office/drawing/2014/chart" uri="{C3380CC4-5D6E-409C-BE32-E72D297353CC}">
                <c16:uniqueId val="{00000005-614A-4E1E-9689-835FF2CE7676}"/>
              </c:ext>
            </c:extLst>
          </c:dPt>
          <c:dPt>
            <c:idx val="4"/>
            <c:invertIfNegative val="0"/>
            <c:bubble3D val="0"/>
            <c:spPr>
              <a:solidFill>
                <a:srgbClr val="C94C4C"/>
              </a:solidFill>
              <a:ln>
                <a:noFill/>
              </a:ln>
            </c:spPr>
            <c:extLst>
              <c:ext xmlns:c16="http://schemas.microsoft.com/office/drawing/2014/chart" uri="{C3380CC4-5D6E-409C-BE32-E72D297353CC}">
                <c16:uniqueId val="{00000007-614A-4E1E-9689-835FF2CE7676}"/>
              </c:ext>
            </c:extLst>
          </c:dPt>
          <c:cat>
            <c:strRef>
              <c:f>Sheet1!$A$2:$A$6</c:f>
              <c:strCache>
                <c:ptCount val="5"/>
                <c:pt idx="0">
                  <c:v>layperson</c:v>
                </c:pt>
                <c:pt idx="1">
                  <c:v>overgeneralization</c:v>
                </c:pt>
                <c:pt idx="2">
                  <c:v>ambiguity</c:v>
                </c:pt>
                <c:pt idx="3">
                  <c:v>incomplete</c:v>
                </c:pt>
                <c:pt idx="4">
                  <c:v>typos grammar</c:v>
                </c:pt>
              </c:strCache>
            </c:strRef>
          </c:cat>
          <c:val>
            <c:numRef>
              <c:f>Sheet1!$B$2:$B$6</c:f>
              <c:numCache>
                <c:formatCode>General</c:formatCode>
                <c:ptCount val="5"/>
                <c:pt idx="0">
                  <c:v>-0.19090909090909092</c:v>
                </c:pt>
                <c:pt idx="1">
                  <c:v>-0.23636363636363636</c:v>
                </c:pt>
                <c:pt idx="2">
                  <c:v>6.363636363636363E-2</c:v>
                </c:pt>
                <c:pt idx="3">
                  <c:v>-1.8181818181818181E-2</c:v>
                </c:pt>
                <c:pt idx="4">
                  <c:v>-0.21818181818181817</c:v>
                </c:pt>
              </c:numCache>
            </c:numRef>
          </c:val>
          <c:extLst>
            <c:ext xmlns:c16="http://schemas.microsoft.com/office/drawing/2014/chart" uri="{C3380CC4-5D6E-409C-BE32-E72D297353CC}">
              <c16:uniqueId val="{00000008-614A-4E1E-9689-835FF2CE7676}"/>
            </c:ext>
          </c:extLst>
        </c:ser>
        <c:ser>
          <c:idx val="1"/>
          <c:order val="1"/>
          <c:tx>
            <c:strRef>
              <c:f>Sheet1!$C$1</c:f>
              <c:strCache>
                <c:ptCount val="1"/>
                <c:pt idx="0">
                  <c:v>self_repair</c:v>
                </c:pt>
              </c:strCache>
            </c:strRef>
          </c:tx>
          <c:spPr>
            <a:solidFill>
              <a:srgbClr val="E0A13A"/>
            </a:solidFill>
            <a:ln>
              <a:noFill/>
            </a:ln>
          </c:spPr>
          <c:invertIfNegative val="0"/>
          <c:dPt>
            <c:idx val="0"/>
            <c:invertIfNegative val="0"/>
            <c:bubble3D val="0"/>
            <c:spPr>
              <a:solidFill>
                <a:srgbClr val="C94C4C"/>
              </a:solidFill>
              <a:ln>
                <a:noFill/>
              </a:ln>
            </c:spPr>
            <c:extLst>
              <c:ext xmlns:c16="http://schemas.microsoft.com/office/drawing/2014/chart" uri="{C3380CC4-5D6E-409C-BE32-E72D297353CC}">
                <c16:uniqueId val="{0000000A-614A-4E1E-9689-835FF2CE7676}"/>
              </c:ext>
            </c:extLst>
          </c:dPt>
          <c:dPt>
            <c:idx val="1"/>
            <c:invertIfNegative val="0"/>
            <c:bubble3D val="0"/>
            <c:spPr>
              <a:solidFill>
                <a:srgbClr val="C94C4C"/>
              </a:solidFill>
              <a:ln>
                <a:noFill/>
              </a:ln>
            </c:spPr>
            <c:extLst>
              <c:ext xmlns:c16="http://schemas.microsoft.com/office/drawing/2014/chart" uri="{C3380CC4-5D6E-409C-BE32-E72D297353CC}">
                <c16:uniqueId val="{0000000C-614A-4E1E-9689-835FF2CE7676}"/>
              </c:ext>
            </c:extLst>
          </c:dPt>
          <c:dPt>
            <c:idx val="2"/>
            <c:invertIfNegative val="0"/>
            <c:bubble3D val="0"/>
            <c:spPr>
              <a:solidFill>
                <a:srgbClr val="C94C4C"/>
              </a:solidFill>
              <a:ln>
                <a:noFill/>
              </a:ln>
            </c:spPr>
            <c:extLst>
              <c:ext xmlns:c16="http://schemas.microsoft.com/office/drawing/2014/chart" uri="{C3380CC4-5D6E-409C-BE32-E72D297353CC}">
                <c16:uniqueId val="{0000000E-614A-4E1E-9689-835FF2CE7676}"/>
              </c:ext>
            </c:extLst>
          </c:dPt>
          <c:cat>
            <c:strRef>
              <c:f>Sheet1!$A$2:$A$6</c:f>
              <c:strCache>
                <c:ptCount val="5"/>
                <c:pt idx="0">
                  <c:v>layperson</c:v>
                </c:pt>
                <c:pt idx="1">
                  <c:v>overgeneralization</c:v>
                </c:pt>
                <c:pt idx="2">
                  <c:v>ambiguity</c:v>
                </c:pt>
                <c:pt idx="3">
                  <c:v>incomplete</c:v>
                </c:pt>
                <c:pt idx="4">
                  <c:v>typos grammar</c:v>
                </c:pt>
              </c:strCache>
            </c:strRef>
          </c:cat>
          <c:val>
            <c:numRef>
              <c:f>Sheet1!$C$2:$C$6</c:f>
              <c:numCache>
                <c:formatCode>General</c:formatCode>
                <c:ptCount val="5"/>
                <c:pt idx="0">
                  <c:v>-0.2818181818181818</c:v>
                </c:pt>
                <c:pt idx="1">
                  <c:v>-0.1</c:v>
                </c:pt>
                <c:pt idx="2">
                  <c:v>-8.1818181818181818E-2</c:v>
                </c:pt>
                <c:pt idx="3">
                  <c:v>7.2727272727272724E-2</c:v>
                </c:pt>
                <c:pt idx="4">
                  <c:v>7.2727272727272724E-2</c:v>
                </c:pt>
              </c:numCache>
            </c:numRef>
          </c:val>
          <c:extLst>
            <c:ext xmlns:c16="http://schemas.microsoft.com/office/drawing/2014/chart" uri="{C3380CC4-5D6E-409C-BE32-E72D297353CC}">
              <c16:uniqueId val="{0000000F-614A-4E1E-9689-835FF2CE7676}"/>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1100">
                <a:solidFill>
                  <a:srgbClr val="25323D"/>
                </a:solidFill>
              </a:defRPr>
            </a:pPr>
            <a:endParaRPr lang="en-US"/>
          </a:p>
        </c:txPr>
        <c:crossAx val="-2113994440"/>
        <c:crosses val="autoZero"/>
        <c:auto val="1"/>
        <c:lblAlgn val="ctr"/>
        <c:lblOffset val="100"/>
        <c:noMultiLvlLbl val="0"/>
      </c:catAx>
      <c:valAx>
        <c:axId val="-2113994440"/>
        <c:scaling>
          <c:orientation val="minMax"/>
        </c:scaling>
        <c:delete val="0"/>
        <c:axPos val="b"/>
        <c:majorGridlines>
          <c:spPr>
            <a:ln w="6350">
              <a:solidFill>
                <a:srgbClr val="DCE9ED"/>
              </a:solidFill>
            </a:ln>
          </c:spPr>
        </c:majorGridlines>
        <c:numFmt formatCode="General" sourceLinked="1"/>
        <c:majorTickMark val="out"/>
        <c:minorTickMark val="none"/>
        <c:tickLblPos val="nextTo"/>
        <c:txPr>
          <a:bodyPr/>
          <a:lstStyle/>
          <a:p>
            <a:pPr>
              <a:defRPr sz="1100">
                <a:solidFill>
                  <a:srgbClr val="25323D"/>
                </a:solidFill>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3446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5323D"/>
        </a:solidFill>
        <a:effectLst/>
      </p:bgPr>
    </p:bg>
    <p:spTree>
      <p:nvGrpSpPr>
        <p:cNvPr id="1" name=""/>
        <p:cNvGrpSpPr/>
        <p:nvPr/>
      </p:nvGrpSpPr>
      <p:grpSpPr>
        <a:xfrm>
          <a:off x="0" y="0"/>
          <a:ext cx="0" cy="0"/>
          <a:chOff x="0" y="0"/>
          <a:chExt cx="0" cy="0"/>
        </a:xfrm>
      </p:grpSpPr>
      <p:sp>
        <p:nvSpPr>
          <p:cNvPr id="2" name="Text 0"/>
          <p:cNvSpPr/>
          <p:nvPr/>
        </p:nvSpPr>
        <p:spPr>
          <a:xfrm>
            <a:off x="475488" y="411480"/>
            <a:ext cx="4846320" cy="219456"/>
          </a:xfrm>
          <a:prstGeom prst="rect">
            <a:avLst/>
          </a:prstGeom>
          <a:noFill/>
          <a:ln/>
        </p:spPr>
        <p:txBody>
          <a:bodyPr wrap="square" lIns="0" tIns="0" rIns="0" bIns="0" rtlCol="0" anchor="t"/>
          <a:lstStyle/>
          <a:p>
            <a:pPr marL="0" indent="0" algn="l">
              <a:buNone/>
            </a:pPr>
            <a:r>
              <a:rPr lang="en-US" sz="1400" b="1" dirty="0">
                <a:solidFill>
                  <a:srgbClr val="FFFFFF"/>
                </a:solidFill>
                <a:latin typeface="Aptos" pitchFamily="34" charset="0"/>
                <a:ea typeface="Aptos" pitchFamily="34" charset="-122"/>
                <a:cs typeface="Aptos" pitchFamily="34" charset="-120"/>
              </a:rPr>
              <a:t>PRACTICUM IN LLM EVALUATION | FINAL PRESENTATION</a:t>
            </a:r>
            <a:endParaRPr lang="en-US" sz="800" dirty="0"/>
          </a:p>
        </p:txBody>
      </p:sp>
      <p:sp>
        <p:nvSpPr>
          <p:cNvPr id="3" name="Text 1"/>
          <p:cNvSpPr/>
          <p:nvPr/>
        </p:nvSpPr>
        <p:spPr>
          <a:xfrm>
            <a:off x="475488" y="987552"/>
            <a:ext cx="5394960" cy="1325880"/>
          </a:xfrm>
          <a:prstGeom prst="rect">
            <a:avLst/>
          </a:prstGeom>
          <a:noFill/>
          <a:ln/>
        </p:spPr>
        <p:txBody>
          <a:bodyPr wrap="square" lIns="0" tIns="0" rIns="0" bIns="0" rtlCol="0" anchor="t">
            <a:normAutofit/>
          </a:bodyPr>
          <a:lstStyle/>
          <a:p>
            <a:pPr marL="0" indent="0" algn="l">
              <a:buNone/>
            </a:pPr>
            <a:r>
              <a:rPr lang="en-US" sz="3800" b="1" dirty="0">
                <a:solidFill>
                  <a:srgbClr val="FFFFFF"/>
                </a:solidFill>
                <a:latin typeface="Aptos" pitchFamily="34" charset="0"/>
                <a:ea typeface="Aptos" pitchFamily="34" charset="-122"/>
                <a:cs typeface="Aptos" pitchFamily="34" charset="-120"/>
              </a:rPr>
              <a:t>Medical LLM</a:t>
            </a:r>
            <a:endParaRPr lang="en-US" sz="3800" dirty="0"/>
          </a:p>
          <a:p>
            <a:pPr marL="0" indent="0" algn="l">
              <a:buNone/>
            </a:pPr>
            <a:r>
              <a:rPr lang="en-US" sz="3800" b="1" dirty="0">
                <a:solidFill>
                  <a:srgbClr val="FFFFFF"/>
                </a:solidFill>
                <a:latin typeface="Aptos" pitchFamily="34" charset="0"/>
                <a:ea typeface="Aptos" pitchFamily="34" charset="-122"/>
                <a:cs typeface="Aptos" pitchFamily="34" charset="-120"/>
              </a:rPr>
              <a:t>Robustness</a:t>
            </a:r>
            <a:endParaRPr lang="en-US" sz="3800" dirty="0"/>
          </a:p>
        </p:txBody>
      </p:sp>
      <p:sp>
        <p:nvSpPr>
          <p:cNvPr id="4" name="Text 2"/>
          <p:cNvSpPr/>
          <p:nvPr/>
        </p:nvSpPr>
        <p:spPr>
          <a:xfrm>
            <a:off x="475488" y="2331720"/>
            <a:ext cx="4206240" cy="329184"/>
          </a:xfrm>
          <a:prstGeom prst="rect">
            <a:avLst/>
          </a:prstGeom>
          <a:noFill/>
          <a:ln/>
        </p:spPr>
        <p:txBody>
          <a:bodyPr wrap="square" lIns="0" tIns="0" rIns="0" bIns="0" rtlCol="0" anchor="t"/>
          <a:lstStyle/>
          <a:p>
            <a:pPr marL="0" indent="0" algn="l">
              <a:buNone/>
            </a:pPr>
            <a:r>
              <a:rPr lang="en-US" sz="1700" dirty="0">
                <a:solidFill>
                  <a:srgbClr val="FFFFFF"/>
                </a:solidFill>
                <a:latin typeface="Aptos" pitchFamily="34" charset="0"/>
                <a:ea typeface="Aptos" pitchFamily="34" charset="-122"/>
                <a:cs typeface="Aptos" pitchFamily="34" charset="-120"/>
              </a:rPr>
              <a:t>to noisy user inputs</a:t>
            </a:r>
            <a:endParaRPr lang="en-US" sz="1700" dirty="0"/>
          </a:p>
        </p:txBody>
      </p:sp>
      <p:sp>
        <p:nvSpPr>
          <p:cNvPr id="5" name="Text 3"/>
          <p:cNvSpPr/>
          <p:nvPr/>
        </p:nvSpPr>
        <p:spPr>
          <a:xfrm>
            <a:off x="475488" y="3063240"/>
            <a:ext cx="4937760" cy="676656"/>
          </a:xfrm>
          <a:prstGeom prst="rect">
            <a:avLst/>
          </a:prstGeom>
          <a:noFill/>
          <a:ln/>
        </p:spPr>
        <p:txBody>
          <a:bodyPr wrap="square" lIns="0" tIns="0" rIns="0" bIns="0" rtlCol="0" anchor="t">
            <a:normAutofit/>
          </a:bodyPr>
          <a:lstStyle/>
          <a:p>
            <a:pPr marL="0" indent="0" algn="l">
              <a:buNone/>
            </a:pPr>
            <a:r>
              <a:rPr lang="en-US" sz="1400" dirty="0">
                <a:solidFill>
                  <a:srgbClr val="FFFFFF"/>
                </a:solidFill>
                <a:latin typeface="Aptos" pitchFamily="34" charset="0"/>
                <a:ea typeface="Aptos" pitchFamily="34" charset="-122"/>
                <a:cs typeface="Aptos" pitchFamily="34" charset="-120"/>
              </a:rPr>
              <a:t>We test whether prompt repair actually helps medical QA models answer messy real-user questions.</a:t>
            </a:r>
            <a:endParaRPr lang="en-US" sz="1400" dirty="0"/>
          </a:p>
        </p:txBody>
      </p:sp>
      <p:sp>
        <p:nvSpPr>
          <p:cNvPr id="6" name="Shape 4"/>
          <p:cNvSpPr/>
          <p:nvPr/>
        </p:nvSpPr>
        <p:spPr>
          <a:xfrm>
            <a:off x="6537960" y="777240"/>
            <a:ext cx="4480560" cy="4480560"/>
          </a:xfrm>
          <a:prstGeom prst="rect">
            <a:avLst/>
          </a:prstGeom>
          <a:solidFill>
            <a:srgbClr val="2F3F4D"/>
          </a:solidFill>
          <a:ln w="8890">
            <a:noFill/>
            <a:prstDash val="solid"/>
          </a:ln>
        </p:spPr>
        <p:txBody>
          <a:bodyPr/>
          <a:lstStyle/>
          <a:p>
            <a:endParaRPr lang="en-US"/>
          </a:p>
        </p:txBody>
      </p:sp>
      <p:sp>
        <p:nvSpPr>
          <p:cNvPr id="7" name="Shape 5"/>
          <p:cNvSpPr/>
          <p:nvPr/>
        </p:nvSpPr>
        <p:spPr>
          <a:xfrm>
            <a:off x="6903720" y="1143000"/>
            <a:ext cx="3749040" cy="502920"/>
          </a:xfrm>
          <a:prstGeom prst="roundRect">
            <a:avLst>
              <a:gd name="adj" fmla="val 10909"/>
            </a:avLst>
          </a:prstGeom>
          <a:solidFill>
            <a:srgbClr val="127C7A"/>
          </a:solidFill>
          <a:ln w="8890">
            <a:noFill/>
            <a:prstDash val="solid"/>
          </a:ln>
        </p:spPr>
        <p:txBody>
          <a:bodyPr/>
          <a:lstStyle/>
          <a:p>
            <a:endParaRPr lang="en-US"/>
          </a:p>
        </p:txBody>
      </p:sp>
      <p:sp>
        <p:nvSpPr>
          <p:cNvPr id="8" name="Text 6"/>
          <p:cNvSpPr/>
          <p:nvPr/>
        </p:nvSpPr>
        <p:spPr>
          <a:xfrm>
            <a:off x="7114032" y="1298448"/>
            <a:ext cx="2377440" cy="155448"/>
          </a:xfrm>
          <a:prstGeom prst="rect">
            <a:avLst/>
          </a:prstGeom>
          <a:noFill/>
          <a:ln/>
        </p:spPr>
        <p:txBody>
          <a:bodyPr wrap="square" lIns="0" tIns="0" rIns="0" bIns="0" rtlCol="0" anchor="t"/>
          <a:lstStyle/>
          <a:p>
            <a:pPr marL="0" indent="0" algn="l">
              <a:buNone/>
            </a:pPr>
            <a:r>
              <a:rPr lang="en-US" sz="1400" b="1" dirty="0">
                <a:solidFill>
                  <a:srgbClr val="FFFFFF"/>
                </a:solidFill>
                <a:latin typeface="Aptos" pitchFamily="34" charset="0"/>
                <a:ea typeface="Aptos" pitchFamily="34" charset="-122"/>
                <a:cs typeface="Aptos" pitchFamily="34" charset="-120"/>
              </a:rPr>
              <a:t>Clean medical question</a:t>
            </a:r>
            <a:endParaRPr lang="en-US" sz="900" dirty="0"/>
          </a:p>
        </p:txBody>
      </p:sp>
      <p:sp>
        <p:nvSpPr>
          <p:cNvPr id="9" name="Shape 7"/>
          <p:cNvSpPr/>
          <p:nvPr/>
        </p:nvSpPr>
        <p:spPr>
          <a:xfrm>
            <a:off x="6903720" y="1938528"/>
            <a:ext cx="3749040" cy="502920"/>
          </a:xfrm>
          <a:prstGeom prst="roundRect">
            <a:avLst>
              <a:gd name="adj" fmla="val 10909"/>
            </a:avLst>
          </a:prstGeom>
          <a:solidFill>
            <a:srgbClr val="127C7A"/>
          </a:solidFill>
          <a:ln w="8890">
            <a:noFill/>
            <a:prstDash val="solid"/>
          </a:ln>
        </p:spPr>
        <p:txBody>
          <a:bodyPr/>
          <a:lstStyle/>
          <a:p>
            <a:endParaRPr lang="en-US"/>
          </a:p>
        </p:txBody>
      </p:sp>
      <p:sp>
        <p:nvSpPr>
          <p:cNvPr id="10" name="Text 8"/>
          <p:cNvSpPr/>
          <p:nvPr/>
        </p:nvSpPr>
        <p:spPr>
          <a:xfrm>
            <a:off x="7114032" y="2093976"/>
            <a:ext cx="2377440" cy="155448"/>
          </a:xfrm>
          <a:prstGeom prst="rect">
            <a:avLst/>
          </a:prstGeom>
          <a:noFill/>
          <a:ln/>
        </p:spPr>
        <p:txBody>
          <a:bodyPr wrap="square" lIns="0" tIns="0" rIns="0" bIns="0" rtlCol="0" anchor="t"/>
          <a:lstStyle/>
          <a:p>
            <a:pPr marL="0" indent="0" algn="l">
              <a:buNone/>
            </a:pPr>
            <a:r>
              <a:rPr lang="en-US" sz="1400" b="1" dirty="0">
                <a:solidFill>
                  <a:srgbClr val="FFFFFF"/>
                </a:solidFill>
                <a:latin typeface="Aptos" pitchFamily="34" charset="0"/>
                <a:ea typeface="Aptos" pitchFamily="34" charset="-122"/>
                <a:cs typeface="Aptos" pitchFamily="34" charset="-120"/>
              </a:rPr>
              <a:t>Messy user question</a:t>
            </a:r>
            <a:endParaRPr lang="en-US" sz="900" dirty="0"/>
          </a:p>
        </p:txBody>
      </p:sp>
      <p:sp>
        <p:nvSpPr>
          <p:cNvPr id="11" name="Shape 9"/>
          <p:cNvSpPr/>
          <p:nvPr/>
        </p:nvSpPr>
        <p:spPr>
          <a:xfrm>
            <a:off x="6903720" y="2734056"/>
            <a:ext cx="3749040" cy="502920"/>
          </a:xfrm>
          <a:prstGeom prst="roundRect">
            <a:avLst>
              <a:gd name="adj" fmla="val 10909"/>
            </a:avLst>
          </a:prstGeom>
          <a:solidFill>
            <a:srgbClr val="127C7A"/>
          </a:solidFill>
          <a:ln w="8890">
            <a:noFill/>
            <a:prstDash val="solid"/>
          </a:ln>
        </p:spPr>
        <p:txBody>
          <a:bodyPr/>
          <a:lstStyle/>
          <a:p>
            <a:endParaRPr lang="en-US"/>
          </a:p>
        </p:txBody>
      </p:sp>
      <p:sp>
        <p:nvSpPr>
          <p:cNvPr id="12" name="Text 10"/>
          <p:cNvSpPr/>
          <p:nvPr/>
        </p:nvSpPr>
        <p:spPr>
          <a:xfrm>
            <a:off x="7114032" y="2889504"/>
            <a:ext cx="2377440" cy="155448"/>
          </a:xfrm>
          <a:prstGeom prst="rect">
            <a:avLst/>
          </a:prstGeom>
          <a:noFill/>
          <a:ln/>
        </p:spPr>
        <p:txBody>
          <a:bodyPr wrap="square" lIns="0" tIns="0" rIns="0" bIns="0" rtlCol="0" anchor="t"/>
          <a:lstStyle/>
          <a:p>
            <a:pPr marL="0" indent="0" algn="l">
              <a:buNone/>
            </a:pPr>
            <a:r>
              <a:rPr lang="en-US" sz="1400" b="1" dirty="0">
                <a:solidFill>
                  <a:srgbClr val="FFFFFF"/>
                </a:solidFill>
                <a:latin typeface="Aptos" pitchFamily="34" charset="0"/>
                <a:ea typeface="Aptos" pitchFamily="34" charset="-122"/>
                <a:cs typeface="Aptos" pitchFamily="34" charset="-120"/>
              </a:rPr>
              <a:t>Repair rewrite</a:t>
            </a:r>
            <a:endParaRPr lang="en-US" sz="900" dirty="0"/>
          </a:p>
        </p:txBody>
      </p:sp>
      <p:sp>
        <p:nvSpPr>
          <p:cNvPr id="13" name="Shape 11"/>
          <p:cNvSpPr/>
          <p:nvPr/>
        </p:nvSpPr>
        <p:spPr>
          <a:xfrm>
            <a:off x="6903720" y="3529584"/>
            <a:ext cx="3749040" cy="502920"/>
          </a:xfrm>
          <a:prstGeom prst="roundRect">
            <a:avLst>
              <a:gd name="adj" fmla="val 10909"/>
            </a:avLst>
          </a:prstGeom>
          <a:solidFill>
            <a:srgbClr val="127C7A"/>
          </a:solidFill>
          <a:ln w="8890">
            <a:noFill/>
            <a:prstDash val="solid"/>
          </a:ln>
        </p:spPr>
        <p:txBody>
          <a:bodyPr/>
          <a:lstStyle/>
          <a:p>
            <a:endParaRPr lang="en-US"/>
          </a:p>
        </p:txBody>
      </p:sp>
      <p:sp>
        <p:nvSpPr>
          <p:cNvPr id="14" name="Text 12"/>
          <p:cNvSpPr/>
          <p:nvPr/>
        </p:nvSpPr>
        <p:spPr>
          <a:xfrm>
            <a:off x="7114032" y="3685032"/>
            <a:ext cx="2377440" cy="155448"/>
          </a:xfrm>
          <a:prstGeom prst="rect">
            <a:avLst/>
          </a:prstGeom>
          <a:noFill/>
          <a:ln/>
        </p:spPr>
        <p:txBody>
          <a:bodyPr wrap="square" lIns="0" tIns="0" rIns="0" bIns="0" rtlCol="0" anchor="t"/>
          <a:lstStyle/>
          <a:p>
            <a:pPr marL="0" indent="0" algn="l">
              <a:buNone/>
            </a:pPr>
            <a:r>
              <a:rPr lang="en-US" sz="1400" b="1" dirty="0">
                <a:solidFill>
                  <a:srgbClr val="FFFFFF"/>
                </a:solidFill>
                <a:latin typeface="Aptos" pitchFamily="34" charset="0"/>
                <a:ea typeface="Aptos" pitchFamily="34" charset="-122"/>
                <a:cs typeface="Aptos" pitchFamily="34" charset="-120"/>
              </a:rPr>
              <a:t>Answer + evaluate</a:t>
            </a:r>
            <a:endParaRPr lang="en-US" sz="900" dirty="0"/>
          </a:p>
        </p:txBody>
      </p:sp>
      <p:sp>
        <p:nvSpPr>
          <p:cNvPr id="15" name="Text 13"/>
          <p:cNvSpPr/>
          <p:nvPr/>
        </p:nvSpPr>
        <p:spPr>
          <a:xfrm>
            <a:off x="475488" y="5440680"/>
            <a:ext cx="4846320" cy="292608"/>
          </a:xfrm>
          <a:prstGeom prst="rect">
            <a:avLst/>
          </a:prstGeom>
          <a:noFill/>
          <a:ln/>
        </p:spPr>
        <p:txBody>
          <a:bodyPr wrap="square" lIns="0" tIns="0" rIns="0" bIns="0" rtlCol="0" anchor="t"/>
          <a:lstStyle/>
          <a:p>
            <a:pPr marL="0" indent="0" algn="l">
              <a:buNone/>
            </a:pPr>
            <a:r>
              <a:rPr lang="en-US" sz="1400" b="1" dirty="0">
                <a:solidFill>
                  <a:srgbClr val="FFFFFF"/>
                </a:solidFill>
                <a:latin typeface="Aptos" pitchFamily="34" charset="0"/>
                <a:ea typeface="Aptos" pitchFamily="34" charset="-122"/>
                <a:cs typeface="Aptos" pitchFamily="34" charset="-120"/>
              </a:rPr>
              <a:t>n=50 pilot | 11 models | fixed_repair + self_repair</a:t>
            </a:r>
            <a:endParaRPr lang="en-US" sz="1200" dirty="0"/>
          </a:p>
        </p:txBody>
      </p:sp>
      <p:sp>
        <p:nvSpPr>
          <p:cNvPr id="16" name="Text 14"/>
          <p:cNvSpPr/>
          <p:nvPr/>
        </p:nvSpPr>
        <p:spPr>
          <a:xfrm>
            <a:off x="475488" y="5806440"/>
            <a:ext cx="3657600" cy="237744"/>
          </a:xfrm>
          <a:prstGeom prst="rect">
            <a:avLst/>
          </a:prstGeom>
          <a:noFill/>
          <a:ln/>
        </p:spPr>
        <p:txBody>
          <a:bodyPr wrap="square" lIns="0" tIns="0" rIns="0" bIns="0" rtlCol="0" anchor="t"/>
          <a:lstStyle/>
          <a:p>
            <a:pPr marL="0" indent="0" algn="l">
              <a:buNone/>
            </a:pPr>
            <a:r>
              <a:rPr lang="en-US" sz="1400" dirty="0">
                <a:solidFill>
                  <a:srgbClr val="FFFFFF"/>
                </a:solidFill>
                <a:latin typeface="Aptos" pitchFamily="34" charset="0"/>
                <a:ea typeface="Aptos" pitchFamily="34" charset="-122"/>
                <a:cs typeface="Aptos" pitchFamily="34" charset="-120"/>
              </a:rPr>
              <a:t>Group 2 | Columbia University</a:t>
            </a:r>
            <a:endParaRPr lang="en-US" sz="900" dirty="0"/>
          </a:p>
        </p:txBody>
      </p:sp>
      <p:sp>
        <p:nvSpPr>
          <p:cNvPr id="17" name="Rectangle 16"/>
          <p:cNvSpPr/>
          <p:nvPr/>
        </p:nvSpPr>
        <p:spPr>
          <a:xfrm>
            <a:off x="475488" y="2286000"/>
            <a:ext cx="1097280" cy="54864"/>
          </a:xfrm>
          <a:prstGeom prst="rect">
            <a:avLst/>
          </a:prstGeom>
          <a:solidFill>
            <a:srgbClr val="E0A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978408" y="320040"/>
            <a:ext cx="5029200" cy="210312"/>
          </a:xfrm>
          <a:prstGeom prst="rect">
            <a:avLst/>
          </a:prstGeom>
          <a:noFill/>
          <a:ln/>
        </p:spPr>
        <p:txBody>
          <a:bodyPr wrap="square" lIns="635" tIns="635" rIns="635" bIns="635" rtlCol="0" anchor="t"/>
          <a:lstStyle/>
          <a:p>
            <a:pPr marL="0" indent="0" algn="l">
              <a:buNone/>
            </a:pPr>
            <a:r>
              <a:rPr sz="2000" b="1">
                <a:solidFill>
                  <a:srgbClr val="25323D"/>
                </a:solidFill>
                <a:latin typeface="Aptos"/>
              </a:rPr>
              <a:t>Problem</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25323D"/>
                </a:solidFill>
                <a:latin typeface="Aptos" pitchFamily="34" charset="0"/>
                <a:ea typeface="Aptos" pitchFamily="34" charset="-122"/>
                <a:cs typeface="Aptos" pitchFamily="34" charset="-120"/>
              </a:rPr>
              <a:t>Real users do not ask clean benchmark questions.</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Medical QA systems see typos, vague wording, missing context, and patient-language phrasing.</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100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1000" dirty="0">
                <a:solidFill>
                  <a:srgbClr val="52616B"/>
                </a:solidFill>
                <a:latin typeface="Aptos" pitchFamily="34" charset="0"/>
                <a:ea typeface="Aptos" pitchFamily="34" charset="-122"/>
                <a:cs typeface="Aptos" pitchFamily="34" charset="-120"/>
              </a:rPr>
              <a:t>2 / 19</a:t>
            </a:r>
            <a:endParaRPr lang="en-US" sz="680" dirty="0"/>
          </a:p>
        </p:txBody>
      </p:sp>
      <p:sp>
        <p:nvSpPr>
          <p:cNvPr id="8" name="Text 6"/>
          <p:cNvSpPr/>
          <p:nvPr/>
        </p:nvSpPr>
        <p:spPr>
          <a:xfrm>
            <a:off x="475488" y="1737360"/>
            <a:ext cx="5394960" cy="786384"/>
          </a:xfrm>
          <a:prstGeom prst="rect">
            <a:avLst/>
          </a:prstGeom>
          <a:noFill/>
          <a:ln/>
        </p:spPr>
        <p:txBody>
          <a:bodyPr wrap="square" lIns="635" tIns="635" rIns="635" bIns="635" rtlCol="0" anchor="t">
            <a:normAutofit/>
          </a:bodyPr>
          <a:lstStyle/>
          <a:p>
            <a:pPr marL="0" indent="0" algn="l">
              <a:buNone/>
            </a:pPr>
            <a:r>
              <a:rPr lang="en-US" sz="1700" b="1" dirty="0">
                <a:solidFill>
                  <a:srgbClr val="25323D"/>
                </a:solidFill>
                <a:latin typeface="Aptos" pitchFamily="34" charset="0"/>
                <a:ea typeface="Aptos" pitchFamily="34" charset="-122"/>
                <a:cs typeface="Aptos" pitchFamily="34" charset="-120"/>
              </a:rPr>
              <a:t>A clean-input score tells us how a model behaves in the lab. It does not tell us what happens when a patient asks a messy question at midnight.</a:t>
            </a:r>
            <a:endParaRPr lang="en-US" sz="1700" dirty="0"/>
          </a:p>
        </p:txBody>
      </p:sp>
      <p:sp>
        <p:nvSpPr>
          <p:cNvPr id="9" name="Shape 7"/>
          <p:cNvSpPr/>
          <p:nvPr/>
        </p:nvSpPr>
        <p:spPr>
          <a:xfrm>
            <a:off x="6492240" y="1572768"/>
            <a:ext cx="4663440" cy="3886200"/>
          </a:xfrm>
          <a:prstGeom prst="roundRect">
            <a:avLst>
              <a:gd name="adj" fmla="val 1412"/>
            </a:avLst>
          </a:prstGeom>
          <a:solidFill>
            <a:srgbClr val="FFFFFF"/>
          </a:solidFill>
          <a:ln w="8890">
            <a:solidFill>
              <a:srgbClr val="D9E2E8"/>
            </a:solidFill>
            <a:prstDash val="solid"/>
          </a:ln>
        </p:spPr>
        <p:txBody>
          <a:bodyPr/>
          <a:lstStyle/>
          <a:p>
            <a:endParaRPr lang="en-US"/>
          </a:p>
        </p:txBody>
      </p:sp>
      <p:sp>
        <p:nvSpPr>
          <p:cNvPr id="10" name="Text 8"/>
          <p:cNvSpPr/>
          <p:nvPr/>
        </p:nvSpPr>
        <p:spPr>
          <a:xfrm>
            <a:off x="6812280" y="1874520"/>
            <a:ext cx="2377440" cy="274320"/>
          </a:xfrm>
          <a:prstGeom prst="rect">
            <a:avLst/>
          </a:prstGeom>
          <a:noFill/>
          <a:ln/>
        </p:spPr>
        <p:txBody>
          <a:bodyPr wrap="square" lIns="0" tIns="0" rIns="0" bIns="0" rtlCol="0" anchor="t"/>
          <a:lstStyle/>
          <a:p>
            <a:pPr marL="0" indent="0" algn="l">
              <a:buNone/>
            </a:pPr>
            <a:r>
              <a:rPr lang="en-US" sz="1400" b="1" dirty="0">
                <a:solidFill>
                  <a:srgbClr val="127C7A"/>
                </a:solidFill>
                <a:latin typeface="Aptos" pitchFamily="34" charset="0"/>
                <a:ea typeface="Aptos" pitchFamily="34" charset="-122"/>
                <a:cs typeface="Aptos" pitchFamily="34" charset="-120"/>
              </a:rPr>
              <a:t>Why this matters</a:t>
            </a:r>
            <a:endParaRPr lang="en-US" sz="1400" dirty="0"/>
          </a:p>
        </p:txBody>
      </p:sp>
      <p:sp>
        <p:nvSpPr>
          <p:cNvPr id="11" name="Text 9"/>
          <p:cNvSpPr/>
          <p:nvPr/>
        </p:nvSpPr>
        <p:spPr>
          <a:xfrm>
            <a:off x="6812280" y="2331720"/>
            <a:ext cx="3840480" cy="914400"/>
          </a:xfrm>
          <a:prstGeom prst="rect">
            <a:avLst/>
          </a:prstGeom>
          <a:noFill/>
          <a:ln/>
        </p:spPr>
        <p:txBody>
          <a:bodyPr wrap="square" lIns="635" tIns="635" rIns="635" bIns="635" rtlCol="0" anchor="t">
            <a:normAutofit/>
          </a:bodyPr>
          <a:lstStyle/>
          <a:p>
            <a:pPr marL="0" indent="0" algn="l">
              <a:buNone/>
            </a:pPr>
            <a:r>
              <a:rPr lang="en-US" sz="1400" dirty="0">
                <a:solidFill>
                  <a:srgbClr val="25323D"/>
                </a:solidFill>
                <a:latin typeface="Aptos" pitchFamily="34" charset="0"/>
                <a:ea typeface="Aptos" pitchFamily="34" charset="-122"/>
                <a:cs typeface="Aptos" pitchFamily="34" charset="-120"/>
              </a:rPr>
              <a:t>In healthcare, a vague or misread question is not just a UX problem. It can change the medical concepts the model retrieves, the risks it mentions, and the confidence a user takes away.</a:t>
            </a:r>
            <a:endParaRPr lang="en-US" sz="1200" dirty="0"/>
          </a:p>
        </p:txBody>
      </p:sp>
      <p:sp>
        <p:nvSpPr>
          <p:cNvPr id="12" name="Text 10"/>
          <p:cNvSpPr/>
          <p:nvPr/>
        </p:nvSpPr>
        <p:spPr>
          <a:xfrm>
            <a:off x="6812280" y="3703320"/>
            <a:ext cx="2560320" cy="256032"/>
          </a:xfrm>
          <a:prstGeom prst="rect">
            <a:avLst/>
          </a:prstGeom>
          <a:noFill/>
          <a:ln/>
        </p:spPr>
        <p:txBody>
          <a:bodyPr wrap="square" lIns="0" tIns="0" rIns="0" bIns="0" rtlCol="0" anchor="t"/>
          <a:lstStyle/>
          <a:p>
            <a:pPr marL="0" indent="0" algn="l">
              <a:buNone/>
            </a:pPr>
            <a:r>
              <a:rPr lang="en-US" sz="1400" b="1" dirty="0">
                <a:solidFill>
                  <a:srgbClr val="52616B"/>
                </a:solidFill>
                <a:latin typeface="Aptos" pitchFamily="34" charset="0"/>
                <a:ea typeface="Aptos" pitchFamily="34" charset="-122"/>
                <a:cs typeface="Aptos" pitchFamily="34" charset="-120"/>
              </a:rPr>
              <a:t>Research question</a:t>
            </a:r>
            <a:endParaRPr lang="en-US" sz="1000" dirty="0"/>
          </a:p>
        </p:txBody>
      </p:sp>
      <p:sp>
        <p:nvSpPr>
          <p:cNvPr id="13" name="Text 11"/>
          <p:cNvSpPr/>
          <p:nvPr/>
        </p:nvSpPr>
        <p:spPr>
          <a:xfrm>
            <a:off x="6812280" y="4023360"/>
            <a:ext cx="3931920" cy="640080"/>
          </a:xfrm>
          <a:prstGeom prst="rect">
            <a:avLst/>
          </a:prstGeom>
          <a:noFill/>
          <a:ln/>
        </p:spPr>
        <p:txBody>
          <a:bodyPr wrap="square" lIns="635" tIns="635" rIns="635" bIns="635" rtlCol="0" anchor="t">
            <a:normAutofit/>
          </a:bodyPr>
          <a:lstStyle/>
          <a:p>
            <a:pPr marL="0" indent="0" algn="l">
              <a:buNone/>
            </a:pPr>
            <a:r>
              <a:rPr lang="en-US" sz="1500" b="1" dirty="0">
                <a:solidFill>
                  <a:srgbClr val="25323D"/>
                </a:solidFill>
                <a:latin typeface="Aptos" pitchFamily="34" charset="0"/>
                <a:ea typeface="Aptos" pitchFamily="34" charset="-122"/>
                <a:cs typeface="Aptos" pitchFamily="34" charset="-120"/>
              </a:rPr>
              <a:t>Can a prompt-repair step recover answer quality lost under noisy user input?</a:t>
            </a:r>
            <a:endParaRPr lang="en-US" sz="1500" dirty="0"/>
          </a:p>
        </p:txBody>
      </p:sp>
      <p:sp>
        <p:nvSpPr>
          <p:cNvPr id="14" name="Text 12"/>
          <p:cNvSpPr/>
          <p:nvPr/>
        </p:nvSpPr>
        <p:spPr>
          <a:xfrm>
            <a:off x="475488" y="4389120"/>
            <a:ext cx="1371600" cy="502920"/>
          </a:xfrm>
          <a:prstGeom prst="rect">
            <a:avLst/>
          </a:prstGeom>
          <a:noFill/>
          <a:ln/>
        </p:spPr>
        <p:txBody>
          <a:bodyPr wrap="square" lIns="0" tIns="0" rIns="0" bIns="0" rtlCol="0" anchor="t"/>
          <a:lstStyle/>
          <a:p>
            <a:pPr marL="0" indent="0" algn="ctr">
              <a:buNone/>
            </a:pPr>
            <a:r>
              <a:rPr lang="en-US" sz="3600" b="1" dirty="0">
                <a:solidFill>
                  <a:srgbClr val="E0A13A"/>
                </a:solidFill>
                <a:latin typeface="Aptos" pitchFamily="34" charset="0"/>
                <a:ea typeface="Aptos" pitchFamily="34" charset="-122"/>
                <a:cs typeface="Aptos" pitchFamily="34" charset="-120"/>
              </a:rPr>
              <a:t>11</a:t>
            </a:r>
            <a:endParaRPr lang="en-US" sz="2000" dirty="0"/>
          </a:p>
        </p:txBody>
      </p:sp>
      <p:sp>
        <p:nvSpPr>
          <p:cNvPr id="15" name="Text 13"/>
          <p:cNvSpPr/>
          <p:nvPr/>
        </p:nvSpPr>
        <p:spPr>
          <a:xfrm>
            <a:off x="475488" y="4901184"/>
            <a:ext cx="1280160" cy="237744"/>
          </a:xfrm>
          <a:prstGeom prst="rect">
            <a:avLst/>
          </a:prstGeom>
          <a:noFill/>
          <a:ln/>
        </p:spPr>
        <p:txBody>
          <a:bodyPr wrap="square" lIns="0" tIns="0" rIns="0" bIns="0" rtlCol="0" anchor="t">
            <a:normAutofit/>
          </a:bodyPr>
          <a:lstStyle/>
          <a:p>
            <a:pPr marL="0" indent="0" algn="ctr">
              <a:buNone/>
            </a:pPr>
            <a:r>
              <a:rPr lang="en-US" sz="1400" dirty="0">
                <a:solidFill>
                  <a:srgbClr val="52616B"/>
                </a:solidFill>
                <a:latin typeface="Aptos" pitchFamily="34" charset="0"/>
                <a:ea typeface="Aptos" pitchFamily="34" charset="-122"/>
                <a:cs typeface="Aptos" pitchFamily="34" charset="-120"/>
              </a:rPr>
              <a:t>models</a:t>
            </a:r>
            <a:endParaRPr lang="en-US" sz="750" dirty="0"/>
          </a:p>
        </p:txBody>
      </p:sp>
      <p:sp>
        <p:nvSpPr>
          <p:cNvPr id="16" name="Text 14"/>
          <p:cNvSpPr/>
          <p:nvPr/>
        </p:nvSpPr>
        <p:spPr>
          <a:xfrm>
            <a:off x="2029968" y="4389120"/>
            <a:ext cx="1554480" cy="502920"/>
          </a:xfrm>
          <a:prstGeom prst="rect">
            <a:avLst/>
          </a:prstGeom>
          <a:noFill/>
          <a:ln/>
        </p:spPr>
        <p:txBody>
          <a:bodyPr wrap="square" lIns="0" tIns="0" rIns="0" bIns="0" rtlCol="0" anchor="t"/>
          <a:lstStyle/>
          <a:p>
            <a:pPr marL="0" indent="0" algn="ctr">
              <a:buNone/>
            </a:pPr>
            <a:r>
              <a:rPr lang="en-US" sz="3600" b="1" dirty="0">
                <a:solidFill>
                  <a:srgbClr val="E0A13A"/>
                </a:solidFill>
                <a:latin typeface="Aptos" pitchFamily="34" charset="0"/>
                <a:ea typeface="Aptos" pitchFamily="34" charset="-122"/>
                <a:cs typeface="Aptos" pitchFamily="34" charset="-120"/>
              </a:rPr>
              <a:t>50</a:t>
            </a:r>
            <a:endParaRPr lang="en-US" sz="2000" dirty="0"/>
          </a:p>
        </p:txBody>
      </p:sp>
      <p:sp>
        <p:nvSpPr>
          <p:cNvPr id="17" name="Text 15"/>
          <p:cNvSpPr/>
          <p:nvPr/>
        </p:nvSpPr>
        <p:spPr>
          <a:xfrm>
            <a:off x="2029968" y="4901184"/>
            <a:ext cx="1554480" cy="237744"/>
          </a:xfrm>
          <a:prstGeom prst="rect">
            <a:avLst/>
          </a:prstGeom>
          <a:noFill/>
          <a:ln/>
        </p:spPr>
        <p:txBody>
          <a:bodyPr wrap="square" lIns="0" tIns="0" rIns="0" bIns="0" rtlCol="0" anchor="t">
            <a:normAutofit/>
          </a:bodyPr>
          <a:lstStyle/>
          <a:p>
            <a:pPr marL="0" indent="0" algn="ctr">
              <a:buNone/>
            </a:pPr>
            <a:r>
              <a:rPr lang="en-US" sz="1400" dirty="0">
                <a:solidFill>
                  <a:srgbClr val="52616B"/>
                </a:solidFill>
                <a:latin typeface="Aptos" pitchFamily="34" charset="0"/>
                <a:ea typeface="Aptos" pitchFamily="34" charset="-122"/>
                <a:cs typeface="Aptos" pitchFamily="34" charset="-120"/>
              </a:rPr>
              <a:t>questions/model</a:t>
            </a:r>
            <a:endParaRPr lang="en-US" sz="750" dirty="0"/>
          </a:p>
        </p:txBody>
      </p:sp>
      <p:sp>
        <p:nvSpPr>
          <p:cNvPr id="18" name="Text 16"/>
          <p:cNvSpPr/>
          <p:nvPr/>
        </p:nvSpPr>
        <p:spPr>
          <a:xfrm>
            <a:off x="3858768" y="4389120"/>
            <a:ext cx="1371600" cy="502920"/>
          </a:xfrm>
          <a:prstGeom prst="rect">
            <a:avLst/>
          </a:prstGeom>
          <a:noFill/>
          <a:ln/>
        </p:spPr>
        <p:txBody>
          <a:bodyPr wrap="square" lIns="0" tIns="0" rIns="0" bIns="0" rtlCol="0" anchor="t"/>
          <a:lstStyle/>
          <a:p>
            <a:pPr marL="0" indent="0" algn="ctr">
              <a:buNone/>
            </a:pPr>
            <a:r>
              <a:rPr lang="en-US" sz="3600" b="1" dirty="0">
                <a:solidFill>
                  <a:srgbClr val="E0A13A"/>
                </a:solidFill>
                <a:latin typeface="Aptos" pitchFamily="34" charset="0"/>
                <a:ea typeface="Aptos" pitchFamily="34" charset="-122"/>
                <a:cs typeface="Aptos" pitchFamily="34" charset="-120"/>
              </a:rPr>
              <a:t>5</a:t>
            </a:r>
            <a:endParaRPr lang="en-US" sz="2000" dirty="0"/>
          </a:p>
        </p:txBody>
      </p:sp>
      <p:sp>
        <p:nvSpPr>
          <p:cNvPr id="19" name="Text 17"/>
          <p:cNvSpPr/>
          <p:nvPr/>
        </p:nvSpPr>
        <p:spPr>
          <a:xfrm>
            <a:off x="3858768" y="4901184"/>
            <a:ext cx="1280160" cy="237744"/>
          </a:xfrm>
          <a:prstGeom prst="rect">
            <a:avLst/>
          </a:prstGeom>
          <a:noFill/>
          <a:ln/>
        </p:spPr>
        <p:txBody>
          <a:bodyPr wrap="square" lIns="0" tIns="0" rIns="0" bIns="0" rtlCol="0" anchor="t">
            <a:normAutofit/>
          </a:bodyPr>
          <a:lstStyle/>
          <a:p>
            <a:pPr marL="0" indent="0" algn="ctr">
              <a:buNone/>
            </a:pPr>
            <a:r>
              <a:rPr lang="en-US" sz="1400" dirty="0">
                <a:solidFill>
                  <a:srgbClr val="52616B"/>
                </a:solidFill>
                <a:latin typeface="Aptos" pitchFamily="34" charset="0"/>
                <a:ea typeface="Aptos" pitchFamily="34" charset="-122"/>
                <a:cs typeface="Aptos" pitchFamily="34" charset="-120"/>
              </a:rPr>
              <a:t>noise types</a:t>
            </a:r>
            <a:endParaRPr lang="en-US" sz="750" dirty="0"/>
          </a:p>
        </p:txBody>
      </p:sp>
      <p:sp>
        <p:nvSpPr>
          <p:cNvPr id="20" name="Oval 19"/>
          <p:cNvSpPr/>
          <p:nvPr/>
        </p:nvSpPr>
        <p:spPr>
          <a:xfrm>
            <a:off x="475488" y="274320"/>
            <a:ext cx="384048" cy="384048"/>
          </a:xfrm>
          <a:prstGeom prst="ellipse">
            <a:avLst/>
          </a:prstGeom>
          <a:solidFill>
            <a:srgbClr val="127C7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ptos"/>
              </a:rPr>
              <a:t>01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78408" y="320040"/>
            <a:ext cx="5029200" cy="210312"/>
          </a:xfrm>
          <a:prstGeom prst="rect">
            <a:avLst/>
          </a:prstGeom>
          <a:noFill/>
          <a:ln/>
        </p:spPr>
        <p:txBody>
          <a:bodyPr wrap="square" lIns="635" tIns="635" rIns="635" bIns="635" rtlCol="0" anchor="t"/>
          <a:lstStyle/>
          <a:p>
            <a:pPr marL="0" indent="0" algn="l">
              <a:buNone/>
            </a:pPr>
            <a:r>
              <a:rPr sz="2000" b="1">
                <a:solidFill>
                  <a:srgbClr val="25323D"/>
                </a:solidFill>
                <a:latin typeface="Aptos"/>
              </a:rPr>
              <a:t>Audience bridge</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25323D"/>
                </a:solidFill>
                <a:latin typeface="Aptos" pitchFamily="34" charset="0"/>
                <a:ea typeface="Aptos" pitchFamily="34" charset="-122"/>
                <a:cs typeface="Aptos" pitchFamily="34" charset="-120"/>
              </a:rPr>
              <a:t>The project in one sentence</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We take real medical questions, make them messy like real user input, try to repair them, then test whether LLM answers get better or worse.</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100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1000" dirty="0">
                <a:solidFill>
                  <a:srgbClr val="52616B"/>
                </a:solidFill>
                <a:latin typeface="Aptos" pitchFamily="34" charset="0"/>
                <a:ea typeface="Aptos" pitchFamily="34" charset="-122"/>
                <a:cs typeface="Aptos" pitchFamily="34" charset="-120"/>
              </a:rPr>
              <a:t>3 / 19</a:t>
            </a:r>
            <a:endParaRPr lang="en-US" sz="680" dirty="0"/>
          </a:p>
        </p:txBody>
      </p:sp>
      <p:sp>
        <p:nvSpPr>
          <p:cNvPr id="8" name="Shape 6"/>
          <p:cNvSpPr/>
          <p:nvPr/>
        </p:nvSpPr>
        <p:spPr>
          <a:xfrm>
            <a:off x="475488" y="1828800"/>
            <a:ext cx="2137867" cy="658368"/>
          </a:xfrm>
          <a:prstGeom prst="roundRect">
            <a:avLst>
              <a:gd name="adj" fmla="val 8333"/>
            </a:avLst>
          </a:prstGeom>
          <a:solidFill>
            <a:srgbClr val="F2F6F7"/>
          </a:solidFill>
          <a:ln w="8890">
            <a:solidFill>
              <a:srgbClr val="3867D6"/>
            </a:solidFill>
            <a:prstDash val="solid"/>
          </a:ln>
        </p:spPr>
        <p:txBody>
          <a:bodyPr/>
          <a:lstStyle/>
          <a:p>
            <a:endParaRPr lang="en-US"/>
          </a:p>
        </p:txBody>
      </p:sp>
      <p:sp>
        <p:nvSpPr>
          <p:cNvPr id="9" name="Text 7"/>
          <p:cNvSpPr/>
          <p:nvPr/>
        </p:nvSpPr>
        <p:spPr>
          <a:xfrm>
            <a:off x="548640" y="2002536"/>
            <a:ext cx="1991563" cy="219456"/>
          </a:xfrm>
          <a:prstGeom prst="rect">
            <a:avLst/>
          </a:prstGeom>
          <a:noFill/>
          <a:ln/>
        </p:spPr>
        <p:txBody>
          <a:bodyPr wrap="square" lIns="0" tIns="0" rIns="0" bIns="0" rtlCol="0" anchor="t">
            <a:normAutofit/>
          </a:bodyPr>
          <a:lstStyle/>
          <a:p>
            <a:pPr marL="0" indent="0" algn="ctr">
              <a:buNone/>
            </a:pPr>
            <a:r>
              <a:rPr lang="en-US" sz="1400" b="1" dirty="0">
                <a:solidFill>
                  <a:srgbClr val="25323D"/>
                </a:solidFill>
                <a:latin typeface="Aptos" pitchFamily="34" charset="0"/>
                <a:ea typeface="Aptos" pitchFamily="34" charset="-122"/>
                <a:cs typeface="Aptos" pitchFamily="34" charset="-120"/>
              </a:rPr>
              <a:t>Clean medical question</a:t>
            </a:r>
            <a:endParaRPr lang="en-US" sz="810" dirty="0"/>
          </a:p>
        </p:txBody>
      </p:sp>
      <p:sp>
        <p:nvSpPr>
          <p:cNvPr id="10" name="Text 8"/>
          <p:cNvSpPr/>
          <p:nvPr/>
        </p:nvSpPr>
        <p:spPr>
          <a:xfrm>
            <a:off x="2645359" y="2011680"/>
            <a:ext cx="73152" cy="201168"/>
          </a:xfrm>
          <a:prstGeom prst="rect">
            <a:avLst/>
          </a:prstGeom>
          <a:noFill/>
          <a:ln/>
        </p:spPr>
        <p:txBody>
          <a:bodyPr wrap="square" lIns="0" tIns="0" rIns="0" bIns="0" rtlCol="0" anchor="t"/>
          <a:lstStyle/>
          <a:p>
            <a:pPr marL="0" indent="0" algn="l">
              <a:buNone/>
            </a:pPr>
            <a:r>
              <a:rPr lang="en-US" sz="1400" b="1" dirty="0">
                <a:solidFill>
                  <a:srgbClr val="52616B"/>
                </a:solidFill>
                <a:latin typeface="Aptos" pitchFamily="34" charset="0"/>
                <a:ea typeface="Aptos" pitchFamily="34" charset="-122"/>
                <a:cs typeface="Aptos" pitchFamily="34" charset="-120"/>
              </a:rPr>
              <a:t>&gt;</a:t>
            </a:r>
            <a:endParaRPr lang="en-US" sz="1200" dirty="0"/>
          </a:p>
        </p:txBody>
      </p:sp>
      <p:sp>
        <p:nvSpPr>
          <p:cNvPr id="11" name="Shape 9"/>
          <p:cNvSpPr/>
          <p:nvPr/>
        </p:nvSpPr>
        <p:spPr>
          <a:xfrm>
            <a:off x="2741371" y="1828800"/>
            <a:ext cx="2137867" cy="658368"/>
          </a:xfrm>
          <a:prstGeom prst="roundRect">
            <a:avLst>
              <a:gd name="adj" fmla="val 8333"/>
            </a:avLst>
          </a:prstGeom>
          <a:solidFill>
            <a:srgbClr val="F2F6F7"/>
          </a:solidFill>
          <a:ln w="8890">
            <a:solidFill>
              <a:srgbClr val="E0A13A"/>
            </a:solidFill>
            <a:prstDash val="solid"/>
          </a:ln>
        </p:spPr>
        <p:txBody>
          <a:bodyPr/>
          <a:lstStyle/>
          <a:p>
            <a:endParaRPr lang="en-US"/>
          </a:p>
        </p:txBody>
      </p:sp>
      <p:sp>
        <p:nvSpPr>
          <p:cNvPr id="12" name="Text 10"/>
          <p:cNvSpPr/>
          <p:nvPr/>
        </p:nvSpPr>
        <p:spPr>
          <a:xfrm>
            <a:off x="2814523" y="2002536"/>
            <a:ext cx="1991563" cy="219456"/>
          </a:xfrm>
          <a:prstGeom prst="rect">
            <a:avLst/>
          </a:prstGeom>
          <a:noFill/>
          <a:ln/>
        </p:spPr>
        <p:txBody>
          <a:bodyPr wrap="square" lIns="0" tIns="0" rIns="0" bIns="0" rtlCol="0" anchor="t">
            <a:normAutofit/>
          </a:bodyPr>
          <a:lstStyle/>
          <a:p>
            <a:pPr marL="0" indent="0" algn="ctr">
              <a:buNone/>
            </a:pPr>
            <a:r>
              <a:rPr lang="en-US" sz="1400" b="1" dirty="0">
                <a:solidFill>
                  <a:srgbClr val="25323D"/>
                </a:solidFill>
                <a:latin typeface="Aptos" pitchFamily="34" charset="0"/>
                <a:ea typeface="Aptos" pitchFamily="34" charset="-122"/>
                <a:cs typeface="Aptos" pitchFamily="34" charset="-120"/>
              </a:rPr>
              <a:t>Noisy user question</a:t>
            </a:r>
            <a:endParaRPr lang="en-US" sz="810" dirty="0"/>
          </a:p>
        </p:txBody>
      </p:sp>
      <p:sp>
        <p:nvSpPr>
          <p:cNvPr id="13" name="Text 11"/>
          <p:cNvSpPr/>
          <p:nvPr/>
        </p:nvSpPr>
        <p:spPr>
          <a:xfrm>
            <a:off x="4911242" y="2011680"/>
            <a:ext cx="73152" cy="201168"/>
          </a:xfrm>
          <a:prstGeom prst="rect">
            <a:avLst/>
          </a:prstGeom>
          <a:noFill/>
          <a:ln/>
        </p:spPr>
        <p:txBody>
          <a:bodyPr wrap="square" lIns="0" tIns="0" rIns="0" bIns="0" rtlCol="0" anchor="t"/>
          <a:lstStyle/>
          <a:p>
            <a:pPr marL="0" indent="0" algn="l">
              <a:buNone/>
            </a:pPr>
            <a:r>
              <a:rPr lang="en-US" sz="1400" b="1" dirty="0">
                <a:solidFill>
                  <a:srgbClr val="52616B"/>
                </a:solidFill>
                <a:latin typeface="Aptos" pitchFamily="34" charset="0"/>
                <a:ea typeface="Aptos" pitchFamily="34" charset="-122"/>
                <a:cs typeface="Aptos" pitchFamily="34" charset="-120"/>
              </a:rPr>
              <a:t>&gt;</a:t>
            </a:r>
            <a:endParaRPr lang="en-US" sz="1200" dirty="0"/>
          </a:p>
        </p:txBody>
      </p:sp>
      <p:sp>
        <p:nvSpPr>
          <p:cNvPr id="14" name="Shape 12"/>
          <p:cNvSpPr/>
          <p:nvPr/>
        </p:nvSpPr>
        <p:spPr>
          <a:xfrm>
            <a:off x="5007254" y="1828800"/>
            <a:ext cx="2137867" cy="658368"/>
          </a:xfrm>
          <a:prstGeom prst="roundRect">
            <a:avLst>
              <a:gd name="adj" fmla="val 8333"/>
            </a:avLst>
          </a:prstGeom>
          <a:solidFill>
            <a:srgbClr val="F2F6F7"/>
          </a:solidFill>
          <a:ln w="8890">
            <a:solidFill>
              <a:srgbClr val="127C7A"/>
            </a:solidFill>
            <a:prstDash val="solid"/>
          </a:ln>
        </p:spPr>
        <p:txBody>
          <a:bodyPr/>
          <a:lstStyle/>
          <a:p>
            <a:endParaRPr lang="en-US"/>
          </a:p>
        </p:txBody>
      </p:sp>
      <p:sp>
        <p:nvSpPr>
          <p:cNvPr id="15" name="Text 13"/>
          <p:cNvSpPr/>
          <p:nvPr/>
        </p:nvSpPr>
        <p:spPr>
          <a:xfrm>
            <a:off x="5080406" y="2002536"/>
            <a:ext cx="1991563" cy="219456"/>
          </a:xfrm>
          <a:prstGeom prst="rect">
            <a:avLst/>
          </a:prstGeom>
          <a:noFill/>
          <a:ln/>
        </p:spPr>
        <p:txBody>
          <a:bodyPr wrap="square" lIns="0" tIns="0" rIns="0" bIns="0" rtlCol="0" anchor="t">
            <a:normAutofit/>
          </a:bodyPr>
          <a:lstStyle/>
          <a:p>
            <a:pPr marL="0" indent="0" algn="ctr">
              <a:buNone/>
            </a:pPr>
            <a:r>
              <a:rPr lang="en-US" sz="1400" b="1" dirty="0">
                <a:solidFill>
                  <a:srgbClr val="25323D"/>
                </a:solidFill>
                <a:latin typeface="Aptos" pitchFamily="34" charset="0"/>
                <a:ea typeface="Aptos" pitchFamily="34" charset="-122"/>
                <a:cs typeface="Aptos" pitchFamily="34" charset="-120"/>
              </a:rPr>
              <a:t>Repaired question</a:t>
            </a:r>
            <a:endParaRPr lang="en-US" sz="810" dirty="0"/>
          </a:p>
        </p:txBody>
      </p:sp>
      <p:sp>
        <p:nvSpPr>
          <p:cNvPr id="16" name="Text 14"/>
          <p:cNvSpPr/>
          <p:nvPr/>
        </p:nvSpPr>
        <p:spPr>
          <a:xfrm>
            <a:off x="7177126" y="2011680"/>
            <a:ext cx="73152" cy="201168"/>
          </a:xfrm>
          <a:prstGeom prst="rect">
            <a:avLst/>
          </a:prstGeom>
          <a:noFill/>
          <a:ln/>
        </p:spPr>
        <p:txBody>
          <a:bodyPr wrap="square" lIns="0" tIns="0" rIns="0" bIns="0" rtlCol="0" anchor="t"/>
          <a:lstStyle/>
          <a:p>
            <a:pPr marL="0" indent="0" algn="l">
              <a:buNone/>
            </a:pPr>
            <a:r>
              <a:rPr lang="en-US" sz="1400" b="1" dirty="0">
                <a:solidFill>
                  <a:srgbClr val="52616B"/>
                </a:solidFill>
                <a:latin typeface="Aptos" pitchFamily="34" charset="0"/>
                <a:ea typeface="Aptos" pitchFamily="34" charset="-122"/>
                <a:cs typeface="Aptos" pitchFamily="34" charset="-120"/>
              </a:rPr>
              <a:t>&gt;</a:t>
            </a:r>
            <a:endParaRPr lang="en-US" sz="1200" dirty="0"/>
          </a:p>
        </p:txBody>
      </p:sp>
      <p:sp>
        <p:nvSpPr>
          <p:cNvPr id="17" name="Shape 15"/>
          <p:cNvSpPr/>
          <p:nvPr/>
        </p:nvSpPr>
        <p:spPr>
          <a:xfrm>
            <a:off x="7273138" y="1828800"/>
            <a:ext cx="2137867" cy="658368"/>
          </a:xfrm>
          <a:prstGeom prst="roundRect">
            <a:avLst>
              <a:gd name="adj" fmla="val 8333"/>
            </a:avLst>
          </a:prstGeom>
          <a:solidFill>
            <a:srgbClr val="F2F6F7"/>
          </a:solidFill>
          <a:ln w="8890">
            <a:solidFill>
              <a:srgbClr val="2D9D78"/>
            </a:solidFill>
            <a:prstDash val="solid"/>
          </a:ln>
        </p:spPr>
        <p:txBody>
          <a:bodyPr/>
          <a:lstStyle/>
          <a:p>
            <a:endParaRPr lang="en-US"/>
          </a:p>
        </p:txBody>
      </p:sp>
      <p:sp>
        <p:nvSpPr>
          <p:cNvPr id="18" name="Text 16"/>
          <p:cNvSpPr/>
          <p:nvPr/>
        </p:nvSpPr>
        <p:spPr>
          <a:xfrm>
            <a:off x="7346290" y="2002536"/>
            <a:ext cx="1991563" cy="219456"/>
          </a:xfrm>
          <a:prstGeom prst="rect">
            <a:avLst/>
          </a:prstGeom>
          <a:noFill/>
          <a:ln/>
        </p:spPr>
        <p:txBody>
          <a:bodyPr wrap="square" lIns="0" tIns="0" rIns="0" bIns="0" rtlCol="0" anchor="t">
            <a:normAutofit/>
          </a:bodyPr>
          <a:lstStyle/>
          <a:p>
            <a:pPr marL="0" indent="0" algn="ctr">
              <a:buNone/>
            </a:pPr>
            <a:r>
              <a:rPr lang="en-US" sz="1400" b="1" dirty="0">
                <a:solidFill>
                  <a:srgbClr val="25323D"/>
                </a:solidFill>
                <a:latin typeface="Aptos" pitchFamily="34" charset="0"/>
                <a:ea typeface="Aptos" pitchFamily="34" charset="-122"/>
                <a:cs typeface="Aptos" pitchFamily="34" charset="-120"/>
              </a:rPr>
              <a:t>Model answer</a:t>
            </a:r>
            <a:endParaRPr lang="en-US" sz="810" dirty="0"/>
          </a:p>
        </p:txBody>
      </p:sp>
      <p:sp>
        <p:nvSpPr>
          <p:cNvPr id="19" name="Text 17"/>
          <p:cNvSpPr/>
          <p:nvPr/>
        </p:nvSpPr>
        <p:spPr>
          <a:xfrm>
            <a:off x="9443009" y="2011680"/>
            <a:ext cx="73152" cy="201168"/>
          </a:xfrm>
          <a:prstGeom prst="rect">
            <a:avLst/>
          </a:prstGeom>
          <a:noFill/>
          <a:ln/>
        </p:spPr>
        <p:txBody>
          <a:bodyPr wrap="square" lIns="0" tIns="0" rIns="0" bIns="0" rtlCol="0" anchor="t"/>
          <a:lstStyle/>
          <a:p>
            <a:pPr marL="0" indent="0" algn="l">
              <a:buNone/>
            </a:pPr>
            <a:r>
              <a:rPr lang="en-US" sz="1400" b="1" dirty="0">
                <a:solidFill>
                  <a:srgbClr val="52616B"/>
                </a:solidFill>
                <a:latin typeface="Aptos" pitchFamily="34" charset="0"/>
                <a:ea typeface="Aptos" pitchFamily="34" charset="-122"/>
                <a:cs typeface="Aptos" pitchFamily="34" charset="-120"/>
              </a:rPr>
              <a:t>&gt;</a:t>
            </a:r>
            <a:endParaRPr lang="en-US" sz="1200" dirty="0"/>
          </a:p>
        </p:txBody>
      </p:sp>
      <p:sp>
        <p:nvSpPr>
          <p:cNvPr id="20" name="Shape 18"/>
          <p:cNvSpPr/>
          <p:nvPr/>
        </p:nvSpPr>
        <p:spPr>
          <a:xfrm>
            <a:off x="9539021" y="1828800"/>
            <a:ext cx="2137867" cy="658368"/>
          </a:xfrm>
          <a:prstGeom prst="roundRect">
            <a:avLst>
              <a:gd name="adj" fmla="val 8333"/>
            </a:avLst>
          </a:prstGeom>
          <a:solidFill>
            <a:srgbClr val="F2F6F7"/>
          </a:solidFill>
          <a:ln w="8890">
            <a:solidFill>
              <a:srgbClr val="C94C4C"/>
            </a:solidFill>
            <a:prstDash val="solid"/>
          </a:ln>
        </p:spPr>
        <p:txBody>
          <a:bodyPr/>
          <a:lstStyle/>
          <a:p>
            <a:endParaRPr lang="en-US"/>
          </a:p>
        </p:txBody>
      </p:sp>
      <p:sp>
        <p:nvSpPr>
          <p:cNvPr id="21" name="Text 19"/>
          <p:cNvSpPr/>
          <p:nvPr/>
        </p:nvSpPr>
        <p:spPr>
          <a:xfrm>
            <a:off x="9612173" y="2002536"/>
            <a:ext cx="1991563" cy="219456"/>
          </a:xfrm>
          <a:prstGeom prst="rect">
            <a:avLst/>
          </a:prstGeom>
          <a:noFill/>
          <a:ln/>
        </p:spPr>
        <p:txBody>
          <a:bodyPr wrap="square" lIns="0" tIns="0" rIns="0" bIns="0" rtlCol="0" anchor="t">
            <a:normAutofit/>
          </a:bodyPr>
          <a:lstStyle/>
          <a:p>
            <a:pPr marL="0" indent="0" algn="ctr">
              <a:buNone/>
            </a:pPr>
            <a:r>
              <a:rPr lang="en-US" sz="1400" b="1" dirty="0">
                <a:solidFill>
                  <a:srgbClr val="25323D"/>
                </a:solidFill>
                <a:latin typeface="Aptos" pitchFamily="34" charset="0"/>
                <a:ea typeface="Aptos" pitchFamily="34" charset="-122"/>
                <a:cs typeface="Aptos" pitchFamily="34" charset="-120"/>
              </a:rPr>
              <a:t>Score vs reference</a:t>
            </a:r>
            <a:endParaRPr lang="en-US" sz="810" dirty="0"/>
          </a:p>
        </p:txBody>
      </p:sp>
      <p:sp>
        <p:nvSpPr>
          <p:cNvPr id="22" name="Shape 20"/>
          <p:cNvSpPr/>
          <p:nvPr/>
        </p:nvSpPr>
        <p:spPr>
          <a:xfrm>
            <a:off x="475488" y="2971800"/>
            <a:ext cx="5166360" cy="822960"/>
          </a:xfrm>
          <a:prstGeom prst="roundRect">
            <a:avLst>
              <a:gd name="adj" fmla="val 6667"/>
            </a:avLst>
          </a:prstGeom>
          <a:solidFill>
            <a:srgbClr val="F2F6F7"/>
          </a:solidFill>
          <a:ln w="8890">
            <a:solidFill>
              <a:srgbClr val="E0A13A"/>
            </a:solidFill>
            <a:prstDash val="solid"/>
          </a:ln>
        </p:spPr>
        <p:txBody>
          <a:bodyPr/>
          <a:lstStyle/>
          <a:p>
            <a:endParaRPr lang="en-US"/>
          </a:p>
        </p:txBody>
      </p:sp>
      <p:sp>
        <p:nvSpPr>
          <p:cNvPr id="23" name="Text 21"/>
          <p:cNvSpPr/>
          <p:nvPr/>
        </p:nvSpPr>
        <p:spPr>
          <a:xfrm>
            <a:off x="640080" y="3127248"/>
            <a:ext cx="1188720" cy="201168"/>
          </a:xfrm>
          <a:prstGeom prst="rect">
            <a:avLst/>
          </a:prstGeom>
          <a:noFill/>
          <a:ln/>
        </p:spPr>
        <p:txBody>
          <a:bodyPr wrap="square" lIns="0" tIns="0" rIns="0" bIns="0" rtlCol="0" anchor="t"/>
          <a:lstStyle/>
          <a:p>
            <a:pPr marL="0" indent="0" algn="l">
              <a:buNone/>
            </a:pPr>
            <a:r>
              <a:rPr lang="en-US" sz="1400" b="1" dirty="0">
                <a:solidFill>
                  <a:srgbClr val="E0A13A"/>
                </a:solidFill>
                <a:latin typeface="Aptos" pitchFamily="34" charset="0"/>
                <a:ea typeface="Aptos" pitchFamily="34" charset="-122"/>
                <a:cs typeface="Aptos" pitchFamily="34" charset="-120"/>
              </a:rPr>
              <a:t>Noise</a:t>
            </a:r>
            <a:endParaRPr lang="en-US" sz="1100" dirty="0"/>
          </a:p>
        </p:txBody>
      </p:sp>
      <p:sp>
        <p:nvSpPr>
          <p:cNvPr id="24" name="Text 22"/>
          <p:cNvSpPr/>
          <p:nvPr/>
        </p:nvSpPr>
        <p:spPr>
          <a:xfrm>
            <a:off x="1773936" y="3099816"/>
            <a:ext cx="3611880" cy="402336"/>
          </a:xfrm>
          <a:prstGeom prst="rect">
            <a:avLst/>
          </a:prstGeom>
          <a:noFill/>
          <a:ln/>
        </p:spPr>
        <p:txBody>
          <a:bodyPr wrap="square" lIns="0" tIns="0" rIns="0" bIns="0" rtlCol="0" anchor="t">
            <a:normAutofit/>
          </a:bodyPr>
          <a:lstStyle/>
          <a:p>
            <a:pPr marL="0" indent="0" algn="l">
              <a:buNone/>
            </a:pPr>
            <a:r>
              <a:rPr lang="en-US" sz="1400" dirty="0">
                <a:solidFill>
                  <a:srgbClr val="25323D"/>
                </a:solidFill>
                <a:latin typeface="Aptos" pitchFamily="34" charset="0"/>
                <a:ea typeface="Aptos" pitchFamily="34" charset="-122"/>
                <a:cs typeface="Aptos" pitchFamily="34" charset="-120"/>
              </a:rPr>
              <a:t>A controlled way of making the question harder: typo, vague phrasing, missing detail, layperson wording, or overgeneralization.</a:t>
            </a:r>
            <a:endParaRPr lang="en-US" sz="880" dirty="0"/>
          </a:p>
        </p:txBody>
      </p:sp>
      <p:sp>
        <p:nvSpPr>
          <p:cNvPr id="25" name="Shape 23"/>
          <p:cNvSpPr/>
          <p:nvPr/>
        </p:nvSpPr>
        <p:spPr>
          <a:xfrm>
            <a:off x="6099048" y="2971800"/>
            <a:ext cx="5166360" cy="822960"/>
          </a:xfrm>
          <a:prstGeom prst="roundRect">
            <a:avLst>
              <a:gd name="adj" fmla="val 6667"/>
            </a:avLst>
          </a:prstGeom>
          <a:solidFill>
            <a:srgbClr val="F2F6F7"/>
          </a:solidFill>
          <a:ln w="8890">
            <a:solidFill>
              <a:srgbClr val="127C7A"/>
            </a:solidFill>
            <a:prstDash val="solid"/>
          </a:ln>
        </p:spPr>
        <p:txBody>
          <a:bodyPr/>
          <a:lstStyle/>
          <a:p>
            <a:endParaRPr lang="en-US"/>
          </a:p>
        </p:txBody>
      </p:sp>
      <p:sp>
        <p:nvSpPr>
          <p:cNvPr id="26" name="Text 24"/>
          <p:cNvSpPr/>
          <p:nvPr/>
        </p:nvSpPr>
        <p:spPr>
          <a:xfrm>
            <a:off x="6263640" y="3127248"/>
            <a:ext cx="1188720" cy="201168"/>
          </a:xfrm>
          <a:prstGeom prst="rect">
            <a:avLst/>
          </a:prstGeom>
          <a:noFill/>
          <a:ln/>
        </p:spPr>
        <p:txBody>
          <a:bodyPr wrap="square" lIns="0" tIns="0" rIns="0" bIns="0" rtlCol="0" anchor="t"/>
          <a:lstStyle/>
          <a:p>
            <a:pPr marL="0" indent="0" algn="l">
              <a:buNone/>
            </a:pPr>
            <a:r>
              <a:rPr lang="en-US" sz="1400" b="1" dirty="0">
                <a:solidFill>
                  <a:srgbClr val="127C7A"/>
                </a:solidFill>
                <a:latin typeface="Aptos" pitchFamily="34" charset="0"/>
                <a:ea typeface="Aptos" pitchFamily="34" charset="-122"/>
                <a:cs typeface="Aptos" pitchFamily="34" charset="-120"/>
              </a:rPr>
              <a:t>Repair</a:t>
            </a:r>
            <a:endParaRPr lang="en-US" sz="1100" dirty="0"/>
          </a:p>
        </p:txBody>
      </p:sp>
      <p:sp>
        <p:nvSpPr>
          <p:cNvPr id="27" name="Text 25"/>
          <p:cNvSpPr/>
          <p:nvPr/>
        </p:nvSpPr>
        <p:spPr>
          <a:xfrm>
            <a:off x="7397496" y="3099816"/>
            <a:ext cx="3611880" cy="402336"/>
          </a:xfrm>
          <a:prstGeom prst="rect">
            <a:avLst/>
          </a:prstGeom>
          <a:noFill/>
          <a:ln/>
        </p:spPr>
        <p:txBody>
          <a:bodyPr wrap="square" lIns="0" tIns="0" rIns="0" bIns="0" rtlCol="0" anchor="t">
            <a:normAutofit/>
          </a:bodyPr>
          <a:lstStyle/>
          <a:p>
            <a:pPr marL="0" indent="0" algn="l">
              <a:buNone/>
            </a:pPr>
            <a:r>
              <a:rPr lang="en-US" sz="1400" dirty="0">
                <a:solidFill>
                  <a:srgbClr val="25323D"/>
                </a:solidFill>
                <a:latin typeface="Aptos" pitchFamily="34" charset="0"/>
                <a:ea typeface="Aptos" pitchFamily="34" charset="-122"/>
                <a:cs typeface="Aptos" pitchFamily="34" charset="-120"/>
              </a:rPr>
              <a:t>A rewrite step that tries to make the messy question clearer without answering it.</a:t>
            </a:r>
            <a:endParaRPr lang="en-US" sz="880" dirty="0"/>
          </a:p>
        </p:txBody>
      </p:sp>
      <p:sp>
        <p:nvSpPr>
          <p:cNvPr id="28" name="Shape 26"/>
          <p:cNvSpPr/>
          <p:nvPr/>
        </p:nvSpPr>
        <p:spPr>
          <a:xfrm>
            <a:off x="475488" y="4206240"/>
            <a:ext cx="5166360" cy="822960"/>
          </a:xfrm>
          <a:prstGeom prst="roundRect">
            <a:avLst>
              <a:gd name="adj" fmla="val 6667"/>
            </a:avLst>
          </a:prstGeom>
          <a:solidFill>
            <a:srgbClr val="F2F6F7"/>
          </a:solidFill>
          <a:ln w="8890">
            <a:solidFill>
              <a:srgbClr val="3867D6"/>
            </a:solidFill>
            <a:prstDash val="solid"/>
          </a:ln>
        </p:spPr>
        <p:txBody>
          <a:bodyPr/>
          <a:lstStyle/>
          <a:p>
            <a:endParaRPr lang="en-US"/>
          </a:p>
        </p:txBody>
      </p:sp>
      <p:sp>
        <p:nvSpPr>
          <p:cNvPr id="29" name="Text 27"/>
          <p:cNvSpPr/>
          <p:nvPr/>
        </p:nvSpPr>
        <p:spPr>
          <a:xfrm>
            <a:off x="640080" y="4361688"/>
            <a:ext cx="1188720" cy="201168"/>
          </a:xfrm>
          <a:prstGeom prst="rect">
            <a:avLst/>
          </a:prstGeom>
          <a:noFill/>
          <a:ln/>
        </p:spPr>
        <p:txBody>
          <a:bodyPr wrap="square" lIns="0" tIns="0" rIns="0" bIns="0" rtlCol="0" anchor="t"/>
          <a:lstStyle/>
          <a:p>
            <a:pPr marL="0" indent="0" algn="l">
              <a:buNone/>
            </a:pPr>
            <a:r>
              <a:rPr lang="en-US" sz="1400" b="1" dirty="0">
                <a:solidFill>
                  <a:srgbClr val="127C7A"/>
                </a:solidFill>
                <a:latin typeface="Aptos" pitchFamily="34" charset="0"/>
                <a:ea typeface="Aptos" pitchFamily="34" charset="-122"/>
                <a:cs typeface="Aptos" pitchFamily="34" charset="-120"/>
              </a:rPr>
              <a:t>Robustness</a:t>
            </a:r>
            <a:endParaRPr lang="en-US" sz="1100" dirty="0"/>
          </a:p>
        </p:txBody>
      </p:sp>
      <p:sp>
        <p:nvSpPr>
          <p:cNvPr id="30" name="Text 28"/>
          <p:cNvSpPr/>
          <p:nvPr/>
        </p:nvSpPr>
        <p:spPr>
          <a:xfrm>
            <a:off x="1773936" y="4334256"/>
            <a:ext cx="3611880" cy="402336"/>
          </a:xfrm>
          <a:prstGeom prst="rect">
            <a:avLst/>
          </a:prstGeom>
          <a:noFill/>
          <a:ln/>
        </p:spPr>
        <p:txBody>
          <a:bodyPr wrap="square" lIns="0" tIns="0" rIns="0" bIns="0" rtlCol="0" anchor="t">
            <a:normAutofit/>
          </a:bodyPr>
          <a:lstStyle/>
          <a:p>
            <a:pPr marL="0" indent="0" algn="l">
              <a:buNone/>
            </a:pPr>
            <a:r>
              <a:rPr lang="en-US" sz="1400" dirty="0">
                <a:solidFill>
                  <a:srgbClr val="25323D"/>
                </a:solidFill>
                <a:latin typeface="Aptos" pitchFamily="34" charset="0"/>
                <a:ea typeface="Aptos" pitchFamily="34" charset="-122"/>
                <a:cs typeface="Aptos" pitchFamily="34" charset="-120"/>
              </a:rPr>
              <a:t>Whether the model still gives a good answer when the user question is messy.</a:t>
            </a:r>
            <a:endParaRPr lang="en-US" sz="880" dirty="0"/>
          </a:p>
        </p:txBody>
      </p:sp>
      <p:sp>
        <p:nvSpPr>
          <p:cNvPr id="31" name="Shape 29"/>
          <p:cNvSpPr/>
          <p:nvPr/>
        </p:nvSpPr>
        <p:spPr>
          <a:xfrm>
            <a:off x="6099048" y="4206240"/>
            <a:ext cx="5166360" cy="822960"/>
          </a:xfrm>
          <a:prstGeom prst="roundRect">
            <a:avLst>
              <a:gd name="adj" fmla="val 6667"/>
            </a:avLst>
          </a:prstGeom>
          <a:solidFill>
            <a:srgbClr val="F2F6F7"/>
          </a:solidFill>
          <a:ln w="8890">
            <a:solidFill>
              <a:srgbClr val="2D9D78"/>
            </a:solidFill>
            <a:prstDash val="solid"/>
          </a:ln>
        </p:spPr>
        <p:txBody>
          <a:bodyPr/>
          <a:lstStyle/>
          <a:p>
            <a:endParaRPr lang="en-US"/>
          </a:p>
        </p:txBody>
      </p:sp>
      <p:sp>
        <p:nvSpPr>
          <p:cNvPr id="32" name="Text 30"/>
          <p:cNvSpPr/>
          <p:nvPr/>
        </p:nvSpPr>
        <p:spPr>
          <a:xfrm>
            <a:off x="6263640" y="4361688"/>
            <a:ext cx="1188720" cy="201168"/>
          </a:xfrm>
          <a:prstGeom prst="rect">
            <a:avLst/>
          </a:prstGeom>
          <a:noFill/>
          <a:ln/>
        </p:spPr>
        <p:txBody>
          <a:bodyPr wrap="square" lIns="0" tIns="0" rIns="0" bIns="0" rtlCol="0" anchor="t"/>
          <a:lstStyle/>
          <a:p>
            <a:pPr marL="0" indent="0" algn="l">
              <a:buNone/>
            </a:pPr>
            <a:r>
              <a:rPr lang="en-US" sz="1400" b="1" dirty="0">
                <a:solidFill>
                  <a:srgbClr val="2D9D78"/>
                </a:solidFill>
                <a:latin typeface="Aptos" pitchFamily="34" charset="0"/>
                <a:ea typeface="Aptos" pitchFamily="34" charset="-122"/>
                <a:cs typeface="Aptos" pitchFamily="34" charset="-120"/>
              </a:rPr>
              <a:t>Recovery</a:t>
            </a:r>
            <a:endParaRPr lang="en-US" sz="1100" dirty="0"/>
          </a:p>
        </p:txBody>
      </p:sp>
      <p:sp>
        <p:nvSpPr>
          <p:cNvPr id="33" name="Text 31"/>
          <p:cNvSpPr/>
          <p:nvPr/>
        </p:nvSpPr>
        <p:spPr>
          <a:xfrm>
            <a:off x="7397496" y="4334256"/>
            <a:ext cx="3611880" cy="402336"/>
          </a:xfrm>
          <a:prstGeom prst="rect">
            <a:avLst/>
          </a:prstGeom>
          <a:noFill/>
          <a:ln/>
        </p:spPr>
        <p:txBody>
          <a:bodyPr wrap="square" lIns="0" tIns="0" rIns="0" bIns="0" rtlCol="0" anchor="t">
            <a:normAutofit/>
          </a:bodyPr>
          <a:lstStyle/>
          <a:p>
            <a:pPr marL="0" indent="0" algn="l">
              <a:buNone/>
            </a:pPr>
            <a:r>
              <a:rPr lang="en-US" sz="1400" dirty="0">
                <a:solidFill>
                  <a:srgbClr val="25323D"/>
                </a:solidFill>
                <a:latin typeface="Aptos" pitchFamily="34" charset="0"/>
                <a:ea typeface="Aptos" pitchFamily="34" charset="-122"/>
                <a:cs typeface="Aptos" pitchFamily="34" charset="-120"/>
              </a:rPr>
              <a:t>Whether repair moves the answer back toward the clean-question answer and reference.</a:t>
            </a:r>
            <a:endParaRPr lang="en-US" sz="880" dirty="0"/>
          </a:p>
        </p:txBody>
      </p:sp>
      <p:sp>
        <p:nvSpPr>
          <p:cNvPr id="34" name="Oval 33"/>
          <p:cNvSpPr/>
          <p:nvPr/>
        </p:nvSpPr>
        <p:spPr>
          <a:xfrm>
            <a:off x="475488" y="274320"/>
            <a:ext cx="384048" cy="384048"/>
          </a:xfrm>
          <a:prstGeom prst="ellipse">
            <a:avLst/>
          </a:prstGeom>
          <a:solidFill>
            <a:srgbClr val="127C7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ptos"/>
              </a:rPr>
              <a:t>02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978408" y="320040"/>
            <a:ext cx="5029200" cy="210312"/>
          </a:xfrm>
          <a:prstGeom prst="rect">
            <a:avLst/>
          </a:prstGeom>
          <a:noFill/>
          <a:ln/>
        </p:spPr>
        <p:txBody>
          <a:bodyPr wrap="square" lIns="635" tIns="635" rIns="635" bIns="635" rtlCol="0" anchor="t"/>
          <a:lstStyle/>
          <a:p>
            <a:pPr marL="0" indent="0" algn="l">
              <a:buNone/>
            </a:pPr>
            <a:r>
              <a:rPr sz="2000" b="1">
                <a:solidFill>
                  <a:srgbClr val="25323D"/>
                </a:solidFill>
                <a:latin typeface="Aptos"/>
              </a:rPr>
              <a:t>Design</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25323D"/>
                </a:solidFill>
                <a:latin typeface="Aptos" pitchFamily="34" charset="0"/>
                <a:ea typeface="Aptos" pitchFamily="34" charset="-122"/>
                <a:cs typeface="Aptos" pitchFamily="34" charset="-120"/>
              </a:rPr>
              <a:t>Two n=50 experiments separate fairness from realism.</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The project now compares a controlled repair setup with a practical self-repair workflow.</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100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1000" dirty="0">
                <a:solidFill>
                  <a:srgbClr val="52616B"/>
                </a:solidFill>
                <a:latin typeface="Aptos" pitchFamily="34" charset="0"/>
                <a:ea typeface="Aptos" pitchFamily="34" charset="-122"/>
                <a:cs typeface="Aptos" pitchFamily="34" charset="-120"/>
              </a:rPr>
              <a:t>4 / 19</a:t>
            </a:r>
            <a:endParaRPr lang="en-US" sz="680" dirty="0"/>
          </a:p>
        </p:txBody>
      </p:sp>
      <p:sp>
        <p:nvSpPr>
          <p:cNvPr id="8" name="Text 6"/>
          <p:cNvSpPr/>
          <p:nvPr/>
        </p:nvSpPr>
        <p:spPr>
          <a:xfrm>
            <a:off x="475488" y="1783080"/>
            <a:ext cx="1097280" cy="201168"/>
          </a:xfrm>
          <a:prstGeom prst="rect">
            <a:avLst/>
          </a:prstGeom>
          <a:noFill/>
          <a:ln/>
        </p:spPr>
        <p:txBody>
          <a:bodyPr wrap="square" lIns="0" tIns="0" rIns="0" bIns="0" rtlCol="0" anchor="t"/>
          <a:lstStyle/>
          <a:p>
            <a:pPr marL="0" indent="0" algn="l">
              <a:buNone/>
            </a:pPr>
            <a:r>
              <a:rPr lang="en-US" sz="1400" b="1" dirty="0">
                <a:solidFill>
                  <a:srgbClr val="52616B"/>
                </a:solidFill>
                <a:latin typeface="Aptos" pitchFamily="34" charset="0"/>
                <a:ea typeface="Aptos" pitchFamily="34" charset="-122"/>
                <a:cs typeface="Aptos" pitchFamily="34" charset="-120"/>
              </a:rPr>
              <a:t>Pipeline A</a:t>
            </a:r>
            <a:endParaRPr lang="en-US" sz="900" dirty="0"/>
          </a:p>
        </p:txBody>
      </p:sp>
      <p:sp>
        <p:nvSpPr>
          <p:cNvPr id="9" name="Text 7"/>
          <p:cNvSpPr/>
          <p:nvPr/>
        </p:nvSpPr>
        <p:spPr>
          <a:xfrm>
            <a:off x="1737360" y="1719072"/>
            <a:ext cx="5577840" cy="329184"/>
          </a:xfrm>
          <a:prstGeom prst="rect">
            <a:avLst/>
          </a:prstGeom>
          <a:noFill/>
          <a:ln/>
        </p:spPr>
        <p:txBody>
          <a:bodyPr wrap="square" lIns="0" tIns="0" rIns="0" bIns="0" rtlCol="0" anchor="t"/>
          <a:lstStyle/>
          <a:p>
            <a:pPr marL="0" indent="0" algn="l">
              <a:buNone/>
            </a:pPr>
            <a:r>
              <a:rPr lang="en-US" sz="1500" b="1" dirty="0">
                <a:solidFill>
                  <a:srgbClr val="127C7A"/>
                </a:solidFill>
                <a:latin typeface="Aptos" pitchFamily="34" charset="0"/>
                <a:ea typeface="Aptos" pitchFamily="34" charset="-122"/>
                <a:cs typeface="Aptos" pitchFamily="34" charset="-120"/>
              </a:rPr>
              <a:t>Clean question -&gt; answer model -&gt; clean answer</a:t>
            </a:r>
            <a:endParaRPr lang="en-US" sz="1500" dirty="0"/>
          </a:p>
        </p:txBody>
      </p:sp>
      <p:sp>
        <p:nvSpPr>
          <p:cNvPr id="10" name="Text 8"/>
          <p:cNvSpPr/>
          <p:nvPr/>
        </p:nvSpPr>
        <p:spPr>
          <a:xfrm>
            <a:off x="475488" y="2514600"/>
            <a:ext cx="1097280" cy="201168"/>
          </a:xfrm>
          <a:prstGeom prst="rect">
            <a:avLst/>
          </a:prstGeom>
          <a:noFill/>
          <a:ln/>
        </p:spPr>
        <p:txBody>
          <a:bodyPr wrap="square" lIns="0" tIns="0" rIns="0" bIns="0" rtlCol="0" anchor="t"/>
          <a:lstStyle/>
          <a:p>
            <a:pPr marL="0" indent="0" algn="l">
              <a:buNone/>
            </a:pPr>
            <a:r>
              <a:rPr lang="en-US" sz="1400" b="1" dirty="0">
                <a:solidFill>
                  <a:srgbClr val="52616B"/>
                </a:solidFill>
                <a:latin typeface="Aptos" pitchFamily="34" charset="0"/>
                <a:ea typeface="Aptos" pitchFamily="34" charset="-122"/>
                <a:cs typeface="Aptos" pitchFamily="34" charset="-120"/>
              </a:rPr>
              <a:t>Pipeline B</a:t>
            </a:r>
            <a:endParaRPr lang="en-US" sz="900" dirty="0"/>
          </a:p>
        </p:txBody>
      </p:sp>
      <p:sp>
        <p:nvSpPr>
          <p:cNvPr id="11" name="Text 9"/>
          <p:cNvSpPr/>
          <p:nvPr/>
        </p:nvSpPr>
        <p:spPr>
          <a:xfrm>
            <a:off x="1737360" y="2450592"/>
            <a:ext cx="5577840" cy="329184"/>
          </a:xfrm>
          <a:prstGeom prst="rect">
            <a:avLst/>
          </a:prstGeom>
          <a:noFill/>
          <a:ln/>
        </p:spPr>
        <p:txBody>
          <a:bodyPr wrap="square" lIns="0" tIns="0" rIns="0" bIns="0" rtlCol="0" anchor="t"/>
          <a:lstStyle/>
          <a:p>
            <a:pPr marL="0" indent="0" algn="l">
              <a:buNone/>
            </a:pPr>
            <a:r>
              <a:rPr lang="en-US" sz="1500" b="1" dirty="0">
                <a:solidFill>
                  <a:srgbClr val="E0A13A"/>
                </a:solidFill>
                <a:latin typeface="Aptos" pitchFamily="34" charset="0"/>
                <a:ea typeface="Aptos" pitchFamily="34" charset="-122"/>
                <a:cs typeface="Aptos" pitchFamily="34" charset="-120"/>
              </a:rPr>
              <a:t>Noisy question -&gt; answer model -&gt; noisy answer</a:t>
            </a:r>
            <a:endParaRPr lang="en-US" sz="1500" dirty="0"/>
          </a:p>
        </p:txBody>
      </p:sp>
      <p:sp>
        <p:nvSpPr>
          <p:cNvPr id="12" name="Text 10"/>
          <p:cNvSpPr/>
          <p:nvPr/>
        </p:nvSpPr>
        <p:spPr>
          <a:xfrm>
            <a:off x="475488" y="3246120"/>
            <a:ext cx="1097280" cy="201168"/>
          </a:xfrm>
          <a:prstGeom prst="rect">
            <a:avLst/>
          </a:prstGeom>
          <a:noFill/>
          <a:ln/>
        </p:spPr>
        <p:txBody>
          <a:bodyPr wrap="square" lIns="0" tIns="0" rIns="0" bIns="0" rtlCol="0" anchor="t"/>
          <a:lstStyle/>
          <a:p>
            <a:pPr marL="0" indent="0" algn="l">
              <a:buNone/>
            </a:pPr>
            <a:r>
              <a:rPr lang="en-US" sz="1400" b="1" dirty="0">
                <a:solidFill>
                  <a:srgbClr val="52616B"/>
                </a:solidFill>
                <a:latin typeface="Aptos" pitchFamily="34" charset="0"/>
                <a:ea typeface="Aptos" pitchFamily="34" charset="-122"/>
                <a:cs typeface="Aptos" pitchFamily="34" charset="-120"/>
              </a:rPr>
              <a:t>Pipeline C</a:t>
            </a:r>
            <a:endParaRPr lang="en-US" sz="900" dirty="0"/>
          </a:p>
        </p:txBody>
      </p:sp>
      <p:sp>
        <p:nvSpPr>
          <p:cNvPr id="13" name="Text 11"/>
          <p:cNvSpPr/>
          <p:nvPr/>
        </p:nvSpPr>
        <p:spPr>
          <a:xfrm>
            <a:off x="1737360" y="3182112"/>
            <a:ext cx="6949440" cy="329184"/>
          </a:xfrm>
          <a:prstGeom prst="rect">
            <a:avLst/>
          </a:prstGeom>
          <a:noFill/>
          <a:ln/>
        </p:spPr>
        <p:txBody>
          <a:bodyPr wrap="square" lIns="0" tIns="0" rIns="0" bIns="0" rtlCol="0" anchor="t"/>
          <a:lstStyle/>
          <a:p>
            <a:pPr marL="0" indent="0" algn="l">
              <a:buNone/>
            </a:pPr>
            <a:r>
              <a:rPr lang="en-US" sz="1500" b="1" dirty="0">
                <a:solidFill>
                  <a:srgbClr val="127C7A"/>
                </a:solidFill>
                <a:latin typeface="Aptos" pitchFamily="34" charset="0"/>
                <a:ea typeface="Aptos" pitchFamily="34" charset="-122"/>
                <a:cs typeface="Aptos" pitchFamily="34" charset="-120"/>
              </a:rPr>
              <a:t>Noisy question -&gt; repair -&gt; answer model -&gt; repaired answer</a:t>
            </a:r>
            <a:endParaRPr lang="en-US" sz="1500" dirty="0"/>
          </a:p>
        </p:txBody>
      </p:sp>
      <p:sp>
        <p:nvSpPr>
          <p:cNvPr id="14" name="Shape 12"/>
          <p:cNvSpPr/>
          <p:nvPr/>
        </p:nvSpPr>
        <p:spPr>
          <a:xfrm>
            <a:off x="475488" y="4389120"/>
            <a:ext cx="5257800" cy="960120"/>
          </a:xfrm>
          <a:prstGeom prst="roundRect">
            <a:avLst>
              <a:gd name="adj" fmla="val 5714"/>
            </a:avLst>
          </a:prstGeom>
          <a:solidFill>
            <a:srgbClr val="FFFFFF"/>
          </a:solidFill>
          <a:ln w="8890">
            <a:solidFill>
              <a:srgbClr val="D9E2E8"/>
            </a:solidFill>
            <a:prstDash val="solid"/>
          </a:ln>
        </p:spPr>
        <p:txBody>
          <a:bodyPr/>
          <a:lstStyle/>
          <a:p>
            <a:endParaRPr lang="en-US"/>
          </a:p>
        </p:txBody>
      </p:sp>
      <p:sp>
        <p:nvSpPr>
          <p:cNvPr id="15" name="Text 13"/>
          <p:cNvSpPr/>
          <p:nvPr/>
        </p:nvSpPr>
        <p:spPr>
          <a:xfrm>
            <a:off x="676656" y="4617720"/>
            <a:ext cx="1417320" cy="219456"/>
          </a:xfrm>
          <a:prstGeom prst="rect">
            <a:avLst/>
          </a:prstGeom>
          <a:noFill/>
          <a:ln/>
        </p:spPr>
        <p:txBody>
          <a:bodyPr wrap="square" lIns="0" tIns="0" rIns="0" bIns="0" rtlCol="0" anchor="t"/>
          <a:lstStyle/>
          <a:p>
            <a:pPr marL="0" indent="0" algn="l">
              <a:buNone/>
            </a:pPr>
            <a:r>
              <a:rPr lang="en-US" sz="1400" b="1" dirty="0">
                <a:solidFill>
                  <a:srgbClr val="127C7A"/>
                </a:solidFill>
                <a:latin typeface="Aptos" pitchFamily="34" charset="0"/>
                <a:ea typeface="Aptos" pitchFamily="34" charset="-122"/>
                <a:cs typeface="Aptos" pitchFamily="34" charset="-120"/>
              </a:rPr>
              <a:t>fixed_repair</a:t>
            </a:r>
            <a:endParaRPr lang="en-US" sz="1200" dirty="0"/>
          </a:p>
        </p:txBody>
      </p:sp>
      <p:sp>
        <p:nvSpPr>
          <p:cNvPr id="16" name="Text 14"/>
          <p:cNvSpPr/>
          <p:nvPr/>
        </p:nvSpPr>
        <p:spPr>
          <a:xfrm>
            <a:off x="2121408" y="4553712"/>
            <a:ext cx="3246120" cy="365760"/>
          </a:xfrm>
          <a:prstGeom prst="rect">
            <a:avLst/>
          </a:prstGeom>
          <a:noFill/>
          <a:ln/>
        </p:spPr>
        <p:txBody>
          <a:bodyPr wrap="square" lIns="0" tIns="0" rIns="0" bIns="0" rtlCol="0" anchor="t">
            <a:normAutofit/>
          </a:bodyPr>
          <a:lstStyle/>
          <a:p>
            <a:pPr marL="0" indent="0" algn="l">
              <a:buNone/>
            </a:pPr>
            <a:r>
              <a:rPr lang="en-US" sz="1400" dirty="0">
                <a:solidFill>
                  <a:srgbClr val="25323D"/>
                </a:solidFill>
                <a:latin typeface="Aptos" pitchFamily="34" charset="0"/>
                <a:ea typeface="Aptos" pitchFamily="34" charset="-122"/>
                <a:cs typeface="Aptos" pitchFamily="34" charset="-120"/>
              </a:rPr>
              <a:t>All 11 models see the same clean, noisy, and repaired questions. Best for apples-to-apples comparison.</a:t>
            </a:r>
            <a:endParaRPr lang="en-US" sz="920" dirty="0"/>
          </a:p>
        </p:txBody>
      </p:sp>
      <p:sp>
        <p:nvSpPr>
          <p:cNvPr id="17" name="Shape 15"/>
          <p:cNvSpPr/>
          <p:nvPr/>
        </p:nvSpPr>
        <p:spPr>
          <a:xfrm>
            <a:off x="6355080" y="4389120"/>
            <a:ext cx="5257800" cy="960120"/>
          </a:xfrm>
          <a:prstGeom prst="roundRect">
            <a:avLst>
              <a:gd name="adj" fmla="val 5714"/>
            </a:avLst>
          </a:prstGeom>
          <a:solidFill>
            <a:srgbClr val="FFFFFF"/>
          </a:solidFill>
          <a:ln w="8890">
            <a:solidFill>
              <a:srgbClr val="D9E2E8"/>
            </a:solidFill>
            <a:prstDash val="solid"/>
          </a:ln>
        </p:spPr>
        <p:txBody>
          <a:bodyPr/>
          <a:lstStyle/>
          <a:p>
            <a:endParaRPr lang="en-US"/>
          </a:p>
        </p:txBody>
      </p:sp>
      <p:sp>
        <p:nvSpPr>
          <p:cNvPr id="18" name="Text 16"/>
          <p:cNvSpPr/>
          <p:nvPr/>
        </p:nvSpPr>
        <p:spPr>
          <a:xfrm>
            <a:off x="6556248" y="4617720"/>
            <a:ext cx="1417320" cy="219456"/>
          </a:xfrm>
          <a:prstGeom prst="rect">
            <a:avLst/>
          </a:prstGeom>
          <a:noFill/>
          <a:ln/>
        </p:spPr>
        <p:txBody>
          <a:bodyPr wrap="square" lIns="0" tIns="0" rIns="0" bIns="0" rtlCol="0" anchor="t"/>
          <a:lstStyle/>
          <a:p>
            <a:pPr marL="0" indent="0" algn="l">
              <a:buNone/>
            </a:pPr>
            <a:r>
              <a:rPr lang="en-US" sz="1400" b="1" dirty="0">
                <a:solidFill>
                  <a:srgbClr val="E0A13A"/>
                </a:solidFill>
                <a:latin typeface="Aptos" pitchFamily="34" charset="0"/>
                <a:ea typeface="Aptos" pitchFamily="34" charset="-122"/>
                <a:cs typeface="Aptos" pitchFamily="34" charset="-120"/>
              </a:rPr>
              <a:t>self_repair</a:t>
            </a:r>
            <a:endParaRPr lang="en-US" sz="1200" dirty="0"/>
          </a:p>
        </p:txBody>
      </p:sp>
      <p:sp>
        <p:nvSpPr>
          <p:cNvPr id="19" name="Text 17"/>
          <p:cNvSpPr/>
          <p:nvPr/>
        </p:nvSpPr>
        <p:spPr>
          <a:xfrm>
            <a:off x="7818120" y="4553712"/>
            <a:ext cx="3337560" cy="365760"/>
          </a:xfrm>
          <a:prstGeom prst="rect">
            <a:avLst/>
          </a:prstGeom>
          <a:noFill/>
          <a:ln/>
        </p:spPr>
        <p:txBody>
          <a:bodyPr wrap="square" lIns="0" tIns="0" rIns="0" bIns="0" rtlCol="0" anchor="t">
            <a:normAutofit/>
          </a:bodyPr>
          <a:lstStyle/>
          <a:p>
            <a:pPr marL="0" indent="0" algn="l">
              <a:buNone/>
            </a:pPr>
            <a:r>
              <a:rPr lang="en-US" sz="1400" dirty="0">
                <a:solidFill>
                  <a:srgbClr val="25323D"/>
                </a:solidFill>
                <a:latin typeface="Aptos" pitchFamily="34" charset="0"/>
                <a:ea typeface="Aptos" pitchFamily="34" charset="-122"/>
                <a:cs typeface="Aptos" pitchFamily="34" charset="-120"/>
              </a:rPr>
              <a:t>All models see the same noisy questions, then each model repairs its own input. Best for practical workflow behavior.</a:t>
            </a:r>
            <a:endParaRPr lang="en-US" sz="920" dirty="0"/>
          </a:p>
        </p:txBody>
      </p:sp>
      <p:sp>
        <p:nvSpPr>
          <p:cNvPr id="20" name="Oval 19"/>
          <p:cNvSpPr/>
          <p:nvPr/>
        </p:nvSpPr>
        <p:spPr>
          <a:xfrm>
            <a:off x="475488" y="274320"/>
            <a:ext cx="384048" cy="384048"/>
          </a:xfrm>
          <a:prstGeom prst="ellipse">
            <a:avLst/>
          </a:prstGeom>
          <a:solidFill>
            <a:srgbClr val="127C7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ptos"/>
              </a:rPr>
              <a:t>03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978408" y="320040"/>
            <a:ext cx="5029200" cy="210312"/>
          </a:xfrm>
          <a:prstGeom prst="rect">
            <a:avLst/>
          </a:prstGeom>
          <a:noFill/>
          <a:ln/>
        </p:spPr>
        <p:txBody>
          <a:bodyPr wrap="square" lIns="635" tIns="635" rIns="635" bIns="635" rtlCol="0" anchor="t"/>
          <a:lstStyle/>
          <a:p>
            <a:pPr marL="0" indent="0" algn="l">
              <a:buNone/>
            </a:pPr>
            <a:r>
              <a:rPr sz="2000" b="1">
                <a:solidFill>
                  <a:srgbClr val="25323D"/>
                </a:solidFill>
                <a:latin typeface="Aptos"/>
              </a:rPr>
              <a:t>Setup</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25323D"/>
                </a:solidFill>
                <a:latin typeface="Aptos" pitchFamily="34" charset="0"/>
                <a:ea typeface="Aptos" pitchFamily="34" charset="-122"/>
                <a:cs typeface="Aptos" pitchFamily="34" charset="-120"/>
              </a:rPr>
              <a:t>What was tested</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The completed n=50 pilot uses 11 answer models, five evenly assigned noise types, and 11 metrics per pipeline.</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100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1000" dirty="0">
                <a:solidFill>
                  <a:srgbClr val="52616B"/>
                </a:solidFill>
                <a:latin typeface="Aptos" pitchFamily="34" charset="0"/>
                <a:ea typeface="Aptos" pitchFamily="34" charset="-122"/>
                <a:cs typeface="Aptos" pitchFamily="34" charset="-120"/>
              </a:rPr>
              <a:t>5 / 19</a:t>
            </a:r>
            <a:endParaRPr lang="en-US" sz="680" dirty="0"/>
          </a:p>
        </p:txBody>
      </p:sp>
      <p:sp>
        <p:nvSpPr>
          <p:cNvPr id="8" name="Text 6"/>
          <p:cNvSpPr/>
          <p:nvPr/>
        </p:nvSpPr>
        <p:spPr>
          <a:xfrm>
            <a:off x="475488" y="1600200"/>
            <a:ext cx="1371600" cy="502920"/>
          </a:xfrm>
          <a:prstGeom prst="rect">
            <a:avLst/>
          </a:prstGeom>
          <a:noFill/>
          <a:ln/>
        </p:spPr>
        <p:txBody>
          <a:bodyPr wrap="square" lIns="0" tIns="0" rIns="0" bIns="0" rtlCol="0" anchor="t"/>
          <a:lstStyle/>
          <a:p>
            <a:pPr marL="0" indent="0" algn="l">
              <a:buNone/>
            </a:pPr>
            <a:r>
              <a:rPr lang="en-US" sz="3600" b="1" dirty="0">
                <a:solidFill>
                  <a:srgbClr val="E0A13A"/>
                </a:solidFill>
                <a:latin typeface="Aptos" pitchFamily="34" charset="0"/>
                <a:ea typeface="Aptos" pitchFamily="34" charset="-122"/>
                <a:cs typeface="Aptos" pitchFamily="34" charset="-120"/>
              </a:rPr>
              <a:t>11</a:t>
            </a:r>
            <a:endParaRPr lang="en-US" sz="2400" dirty="0"/>
          </a:p>
        </p:txBody>
      </p:sp>
      <p:sp>
        <p:nvSpPr>
          <p:cNvPr id="9" name="Text 7"/>
          <p:cNvSpPr/>
          <p:nvPr/>
        </p:nvSpPr>
        <p:spPr>
          <a:xfrm>
            <a:off x="475488" y="2148840"/>
            <a:ext cx="2331720" cy="201168"/>
          </a:xfrm>
          <a:prstGeom prst="rect">
            <a:avLst/>
          </a:prstGeom>
          <a:noFill/>
          <a:ln/>
        </p:spPr>
        <p:txBody>
          <a:bodyPr wrap="square" lIns="0" tIns="0" rIns="0" bIns="0" rtlCol="0" anchor="t"/>
          <a:lstStyle/>
          <a:p>
            <a:pPr marL="0" indent="0" algn="l">
              <a:buNone/>
            </a:pPr>
            <a:r>
              <a:rPr lang="en-US" sz="1400" b="1" dirty="0">
                <a:solidFill>
                  <a:srgbClr val="25323D"/>
                </a:solidFill>
                <a:latin typeface="Aptos" pitchFamily="34" charset="0"/>
                <a:ea typeface="Aptos" pitchFamily="34" charset="-122"/>
                <a:cs typeface="Aptos" pitchFamily="34" charset="-120"/>
              </a:rPr>
              <a:t>answer models</a:t>
            </a:r>
            <a:endParaRPr lang="en-US" sz="1000" dirty="0"/>
          </a:p>
        </p:txBody>
      </p:sp>
      <p:sp>
        <p:nvSpPr>
          <p:cNvPr id="10" name="Text 8"/>
          <p:cNvSpPr/>
          <p:nvPr/>
        </p:nvSpPr>
        <p:spPr>
          <a:xfrm>
            <a:off x="475488" y="2450592"/>
            <a:ext cx="2331720" cy="310896"/>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GPT-5.4 plus open-weight local/API models</a:t>
            </a:r>
            <a:endParaRPr lang="en-US" sz="800" dirty="0"/>
          </a:p>
        </p:txBody>
      </p:sp>
      <p:sp>
        <p:nvSpPr>
          <p:cNvPr id="11" name="Text 9"/>
          <p:cNvSpPr/>
          <p:nvPr/>
        </p:nvSpPr>
        <p:spPr>
          <a:xfrm>
            <a:off x="3264408" y="1600200"/>
            <a:ext cx="1371600" cy="502920"/>
          </a:xfrm>
          <a:prstGeom prst="rect">
            <a:avLst/>
          </a:prstGeom>
          <a:noFill/>
          <a:ln/>
        </p:spPr>
        <p:txBody>
          <a:bodyPr wrap="square" lIns="0" tIns="0" rIns="0" bIns="0" rtlCol="0" anchor="t"/>
          <a:lstStyle/>
          <a:p>
            <a:pPr marL="0" indent="0" algn="l">
              <a:buNone/>
            </a:pPr>
            <a:r>
              <a:rPr lang="en-US" sz="3600" b="1" dirty="0">
                <a:solidFill>
                  <a:srgbClr val="E0A13A"/>
                </a:solidFill>
                <a:latin typeface="Aptos" pitchFamily="34" charset="0"/>
                <a:ea typeface="Aptos" pitchFamily="34" charset="-122"/>
                <a:cs typeface="Aptos" pitchFamily="34" charset="-120"/>
              </a:rPr>
              <a:t>50</a:t>
            </a:r>
            <a:endParaRPr lang="en-US" sz="2400" dirty="0"/>
          </a:p>
        </p:txBody>
      </p:sp>
      <p:sp>
        <p:nvSpPr>
          <p:cNvPr id="12" name="Text 10"/>
          <p:cNvSpPr/>
          <p:nvPr/>
        </p:nvSpPr>
        <p:spPr>
          <a:xfrm>
            <a:off x="3264408" y="2148840"/>
            <a:ext cx="2331720" cy="201168"/>
          </a:xfrm>
          <a:prstGeom prst="rect">
            <a:avLst/>
          </a:prstGeom>
          <a:noFill/>
          <a:ln/>
        </p:spPr>
        <p:txBody>
          <a:bodyPr wrap="square" lIns="0" tIns="0" rIns="0" bIns="0" rtlCol="0" anchor="t"/>
          <a:lstStyle/>
          <a:p>
            <a:pPr marL="0" indent="0" algn="l">
              <a:buNone/>
            </a:pPr>
            <a:r>
              <a:rPr lang="en-US" sz="1400" b="1" dirty="0">
                <a:solidFill>
                  <a:srgbClr val="25323D"/>
                </a:solidFill>
                <a:latin typeface="Aptos" pitchFamily="34" charset="0"/>
                <a:ea typeface="Aptos" pitchFamily="34" charset="-122"/>
                <a:cs typeface="Aptos" pitchFamily="34" charset="-120"/>
              </a:rPr>
              <a:t>questions/model</a:t>
            </a:r>
            <a:endParaRPr lang="en-US" sz="1000" dirty="0"/>
          </a:p>
        </p:txBody>
      </p:sp>
      <p:sp>
        <p:nvSpPr>
          <p:cNvPr id="13" name="Text 11"/>
          <p:cNvSpPr/>
          <p:nvPr/>
        </p:nvSpPr>
        <p:spPr>
          <a:xfrm>
            <a:off x="3264408" y="2450592"/>
            <a:ext cx="2331720" cy="310896"/>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same pilot scale across both modes</a:t>
            </a:r>
            <a:endParaRPr lang="en-US" sz="800" dirty="0"/>
          </a:p>
        </p:txBody>
      </p:sp>
      <p:sp>
        <p:nvSpPr>
          <p:cNvPr id="14" name="Text 12"/>
          <p:cNvSpPr/>
          <p:nvPr/>
        </p:nvSpPr>
        <p:spPr>
          <a:xfrm>
            <a:off x="6053328" y="1600200"/>
            <a:ext cx="1371600" cy="502920"/>
          </a:xfrm>
          <a:prstGeom prst="rect">
            <a:avLst/>
          </a:prstGeom>
          <a:noFill/>
          <a:ln/>
        </p:spPr>
        <p:txBody>
          <a:bodyPr wrap="square" lIns="0" tIns="0" rIns="0" bIns="0" rtlCol="0" anchor="t"/>
          <a:lstStyle/>
          <a:p>
            <a:pPr marL="0" indent="0" algn="l">
              <a:buNone/>
            </a:pPr>
            <a:r>
              <a:rPr lang="en-US" sz="3600" b="1" dirty="0">
                <a:solidFill>
                  <a:srgbClr val="E0A13A"/>
                </a:solidFill>
                <a:latin typeface="Aptos" pitchFamily="34" charset="0"/>
                <a:ea typeface="Aptos" pitchFamily="34" charset="-122"/>
                <a:cs typeface="Aptos" pitchFamily="34" charset="-120"/>
              </a:rPr>
              <a:t>5</a:t>
            </a:r>
            <a:endParaRPr lang="en-US" sz="2400" dirty="0"/>
          </a:p>
        </p:txBody>
      </p:sp>
      <p:sp>
        <p:nvSpPr>
          <p:cNvPr id="15" name="Text 13"/>
          <p:cNvSpPr/>
          <p:nvPr/>
        </p:nvSpPr>
        <p:spPr>
          <a:xfrm>
            <a:off x="6053328" y="2148840"/>
            <a:ext cx="2331720" cy="201168"/>
          </a:xfrm>
          <a:prstGeom prst="rect">
            <a:avLst/>
          </a:prstGeom>
          <a:noFill/>
          <a:ln/>
        </p:spPr>
        <p:txBody>
          <a:bodyPr wrap="square" lIns="0" tIns="0" rIns="0" bIns="0" rtlCol="0" anchor="t"/>
          <a:lstStyle/>
          <a:p>
            <a:pPr marL="0" indent="0" algn="l">
              <a:buNone/>
            </a:pPr>
            <a:r>
              <a:rPr lang="en-US" sz="1400" b="1" dirty="0">
                <a:solidFill>
                  <a:srgbClr val="25323D"/>
                </a:solidFill>
                <a:latin typeface="Aptos" pitchFamily="34" charset="0"/>
                <a:ea typeface="Aptos" pitchFamily="34" charset="-122"/>
                <a:cs typeface="Aptos" pitchFamily="34" charset="-120"/>
              </a:rPr>
              <a:t>noise types</a:t>
            </a:r>
            <a:endParaRPr lang="en-US" sz="1000" dirty="0"/>
          </a:p>
        </p:txBody>
      </p:sp>
      <p:sp>
        <p:nvSpPr>
          <p:cNvPr id="16" name="Text 14"/>
          <p:cNvSpPr/>
          <p:nvPr/>
        </p:nvSpPr>
        <p:spPr>
          <a:xfrm>
            <a:off x="6053328" y="2450592"/>
            <a:ext cx="2331720" cy="310896"/>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10 examples each per model</a:t>
            </a:r>
            <a:endParaRPr lang="en-US" sz="800" dirty="0"/>
          </a:p>
        </p:txBody>
      </p:sp>
      <p:sp>
        <p:nvSpPr>
          <p:cNvPr id="17" name="Text 15"/>
          <p:cNvSpPr/>
          <p:nvPr/>
        </p:nvSpPr>
        <p:spPr>
          <a:xfrm>
            <a:off x="8842248" y="1600200"/>
            <a:ext cx="1371600" cy="502920"/>
          </a:xfrm>
          <a:prstGeom prst="rect">
            <a:avLst/>
          </a:prstGeom>
          <a:noFill/>
          <a:ln/>
        </p:spPr>
        <p:txBody>
          <a:bodyPr wrap="square" lIns="0" tIns="0" rIns="0" bIns="0" rtlCol="0" anchor="t"/>
          <a:lstStyle/>
          <a:p>
            <a:pPr marL="0" indent="0" algn="l">
              <a:buNone/>
            </a:pPr>
            <a:r>
              <a:rPr lang="en-US" sz="3600" b="1" dirty="0">
                <a:solidFill>
                  <a:srgbClr val="E0A13A"/>
                </a:solidFill>
                <a:latin typeface="Aptos" pitchFamily="34" charset="0"/>
                <a:ea typeface="Aptos" pitchFamily="34" charset="-122"/>
                <a:cs typeface="Aptos" pitchFamily="34" charset="-120"/>
              </a:rPr>
              <a:t>550</a:t>
            </a:r>
            <a:endParaRPr lang="en-US" sz="2400" dirty="0"/>
          </a:p>
        </p:txBody>
      </p:sp>
      <p:sp>
        <p:nvSpPr>
          <p:cNvPr id="18" name="Text 16"/>
          <p:cNvSpPr/>
          <p:nvPr/>
        </p:nvSpPr>
        <p:spPr>
          <a:xfrm>
            <a:off x="8842248" y="2148840"/>
            <a:ext cx="2331720" cy="201168"/>
          </a:xfrm>
          <a:prstGeom prst="rect">
            <a:avLst/>
          </a:prstGeom>
          <a:noFill/>
          <a:ln/>
        </p:spPr>
        <p:txBody>
          <a:bodyPr wrap="square" lIns="0" tIns="0" rIns="0" bIns="0" rtlCol="0" anchor="t"/>
          <a:lstStyle/>
          <a:p>
            <a:pPr marL="0" indent="0" algn="l">
              <a:buNone/>
            </a:pPr>
            <a:r>
              <a:rPr lang="en-US" sz="1400" b="1" dirty="0">
                <a:solidFill>
                  <a:srgbClr val="25323D"/>
                </a:solidFill>
                <a:latin typeface="Aptos" pitchFamily="34" charset="0"/>
                <a:ea typeface="Aptos" pitchFamily="34" charset="-122"/>
                <a:cs typeface="Aptos" pitchFamily="34" charset="-120"/>
              </a:rPr>
              <a:t>rows/mode</a:t>
            </a:r>
            <a:endParaRPr lang="en-US" sz="1000" dirty="0"/>
          </a:p>
        </p:txBody>
      </p:sp>
      <p:sp>
        <p:nvSpPr>
          <p:cNvPr id="19" name="Text 17"/>
          <p:cNvSpPr/>
          <p:nvPr/>
        </p:nvSpPr>
        <p:spPr>
          <a:xfrm>
            <a:off x="8842248" y="2450592"/>
            <a:ext cx="2331720" cy="310896"/>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11 models x 50 questions</a:t>
            </a:r>
            <a:endParaRPr lang="en-US" sz="800" dirty="0"/>
          </a:p>
        </p:txBody>
      </p:sp>
      <p:sp>
        <p:nvSpPr>
          <p:cNvPr id="20" name="Shape 18"/>
          <p:cNvSpPr/>
          <p:nvPr/>
        </p:nvSpPr>
        <p:spPr>
          <a:xfrm>
            <a:off x="475488" y="3337560"/>
            <a:ext cx="6492240" cy="402336"/>
          </a:xfrm>
          <a:prstGeom prst="rect">
            <a:avLst/>
          </a:prstGeom>
          <a:solidFill>
            <a:srgbClr val="25323D"/>
          </a:solidFill>
          <a:ln w="8890">
            <a:solidFill>
              <a:srgbClr val="25323D"/>
            </a:solidFill>
            <a:prstDash val="solid"/>
          </a:ln>
        </p:spPr>
        <p:txBody>
          <a:bodyPr/>
          <a:lstStyle/>
          <a:p>
            <a:endParaRPr lang="en-US"/>
          </a:p>
        </p:txBody>
      </p:sp>
      <p:sp>
        <p:nvSpPr>
          <p:cNvPr id="21" name="Text 19"/>
          <p:cNvSpPr/>
          <p:nvPr/>
        </p:nvSpPr>
        <p:spPr>
          <a:xfrm>
            <a:off x="521208" y="3392424"/>
            <a:ext cx="1828800" cy="329184"/>
          </a:xfrm>
          <a:prstGeom prst="rect">
            <a:avLst/>
          </a:prstGeom>
          <a:noFill/>
          <a:ln/>
        </p:spPr>
        <p:txBody>
          <a:bodyPr wrap="square" lIns="0" tIns="0" rIns="0" bIns="0" rtlCol="0" anchor="t">
            <a:normAutofit/>
          </a:bodyPr>
          <a:lstStyle/>
          <a:p>
            <a:pPr marL="0" indent="0" algn="l">
              <a:buNone/>
            </a:pPr>
            <a:r>
              <a:rPr lang="en-US" sz="1400" b="1" dirty="0">
                <a:solidFill>
                  <a:srgbClr val="FFFFFF"/>
                </a:solidFill>
                <a:latin typeface="Aptos" pitchFamily="34" charset="0"/>
                <a:ea typeface="Aptos" pitchFamily="34" charset="-122"/>
                <a:cs typeface="Aptos" pitchFamily="34" charset="-120"/>
              </a:rPr>
              <a:t>Noise type</a:t>
            </a:r>
            <a:endParaRPr lang="en-US" sz="770" dirty="0"/>
          </a:p>
        </p:txBody>
      </p:sp>
      <p:sp>
        <p:nvSpPr>
          <p:cNvPr id="22" name="Text 20"/>
          <p:cNvSpPr/>
          <p:nvPr/>
        </p:nvSpPr>
        <p:spPr>
          <a:xfrm>
            <a:off x="2441448" y="3392424"/>
            <a:ext cx="4480560" cy="329184"/>
          </a:xfrm>
          <a:prstGeom prst="rect">
            <a:avLst/>
          </a:prstGeom>
          <a:noFill/>
          <a:ln/>
        </p:spPr>
        <p:txBody>
          <a:bodyPr wrap="square" lIns="0" tIns="0" rIns="0" bIns="0" rtlCol="0" anchor="t">
            <a:normAutofit/>
          </a:bodyPr>
          <a:lstStyle/>
          <a:p>
            <a:pPr marL="0" indent="0" algn="l">
              <a:buNone/>
            </a:pPr>
            <a:r>
              <a:rPr lang="en-US" sz="1400" b="1" dirty="0">
                <a:solidFill>
                  <a:srgbClr val="FFFFFF"/>
                </a:solidFill>
                <a:latin typeface="Aptos" pitchFamily="34" charset="0"/>
                <a:ea typeface="Aptos" pitchFamily="34" charset="-122"/>
                <a:cs typeface="Aptos" pitchFamily="34" charset="-120"/>
              </a:rPr>
              <a:t>What it simulates</a:t>
            </a:r>
            <a:endParaRPr lang="en-US" sz="770" dirty="0"/>
          </a:p>
        </p:txBody>
      </p:sp>
      <p:sp>
        <p:nvSpPr>
          <p:cNvPr id="23" name="Shape 21"/>
          <p:cNvSpPr/>
          <p:nvPr/>
        </p:nvSpPr>
        <p:spPr>
          <a:xfrm>
            <a:off x="475488" y="3739896"/>
            <a:ext cx="6492240" cy="402336"/>
          </a:xfrm>
          <a:prstGeom prst="rect">
            <a:avLst/>
          </a:prstGeom>
          <a:solidFill>
            <a:srgbClr val="F2F6F7"/>
          </a:solidFill>
          <a:ln w="8890">
            <a:solidFill>
              <a:srgbClr val="D9E2E8"/>
            </a:solidFill>
            <a:prstDash val="solid"/>
          </a:ln>
        </p:spPr>
        <p:txBody>
          <a:bodyPr/>
          <a:lstStyle/>
          <a:p>
            <a:endParaRPr lang="en-US"/>
          </a:p>
        </p:txBody>
      </p:sp>
      <p:sp>
        <p:nvSpPr>
          <p:cNvPr id="24" name="Text 22"/>
          <p:cNvSpPr/>
          <p:nvPr/>
        </p:nvSpPr>
        <p:spPr>
          <a:xfrm>
            <a:off x="521208" y="3790188"/>
            <a:ext cx="1828800" cy="329184"/>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typos_grammar</a:t>
            </a:r>
            <a:endParaRPr lang="en-US" sz="730" dirty="0"/>
          </a:p>
        </p:txBody>
      </p:sp>
      <p:sp>
        <p:nvSpPr>
          <p:cNvPr id="25" name="Text 23"/>
          <p:cNvSpPr/>
          <p:nvPr/>
        </p:nvSpPr>
        <p:spPr>
          <a:xfrm>
            <a:off x="2441448" y="3790188"/>
            <a:ext cx="4480560" cy="32918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spelling, punctuation, casing, grammar slips</a:t>
            </a:r>
            <a:endParaRPr lang="en-US" sz="730" dirty="0"/>
          </a:p>
        </p:txBody>
      </p:sp>
      <p:sp>
        <p:nvSpPr>
          <p:cNvPr id="26" name="Shape 24"/>
          <p:cNvSpPr/>
          <p:nvPr/>
        </p:nvSpPr>
        <p:spPr>
          <a:xfrm>
            <a:off x="475488" y="4142232"/>
            <a:ext cx="6492240" cy="402336"/>
          </a:xfrm>
          <a:prstGeom prst="rect">
            <a:avLst/>
          </a:prstGeom>
          <a:solidFill>
            <a:srgbClr val="FFFFFF"/>
          </a:solidFill>
          <a:ln w="8890">
            <a:solidFill>
              <a:srgbClr val="D9E2E8"/>
            </a:solidFill>
            <a:prstDash val="solid"/>
          </a:ln>
        </p:spPr>
        <p:txBody>
          <a:bodyPr/>
          <a:lstStyle/>
          <a:p>
            <a:endParaRPr lang="en-US"/>
          </a:p>
        </p:txBody>
      </p:sp>
      <p:sp>
        <p:nvSpPr>
          <p:cNvPr id="27" name="Text 25"/>
          <p:cNvSpPr/>
          <p:nvPr/>
        </p:nvSpPr>
        <p:spPr>
          <a:xfrm>
            <a:off x="521208" y="4192524"/>
            <a:ext cx="1828800" cy="329184"/>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ambiguity</a:t>
            </a:r>
            <a:endParaRPr lang="en-US" sz="730" dirty="0"/>
          </a:p>
        </p:txBody>
      </p:sp>
      <p:sp>
        <p:nvSpPr>
          <p:cNvPr id="28" name="Text 26"/>
          <p:cNvSpPr/>
          <p:nvPr/>
        </p:nvSpPr>
        <p:spPr>
          <a:xfrm>
            <a:off x="2441448" y="4192524"/>
            <a:ext cx="4480560" cy="32918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blurred or underspecified medical detail</a:t>
            </a:r>
            <a:endParaRPr lang="en-US" sz="730" dirty="0"/>
          </a:p>
        </p:txBody>
      </p:sp>
      <p:sp>
        <p:nvSpPr>
          <p:cNvPr id="29" name="Shape 27"/>
          <p:cNvSpPr/>
          <p:nvPr/>
        </p:nvSpPr>
        <p:spPr>
          <a:xfrm>
            <a:off x="475488" y="4544568"/>
            <a:ext cx="6492240" cy="402336"/>
          </a:xfrm>
          <a:prstGeom prst="rect">
            <a:avLst/>
          </a:prstGeom>
          <a:solidFill>
            <a:srgbClr val="F2F6F7"/>
          </a:solidFill>
          <a:ln w="8890">
            <a:solidFill>
              <a:srgbClr val="D9E2E8"/>
            </a:solidFill>
            <a:prstDash val="solid"/>
          </a:ln>
        </p:spPr>
        <p:txBody>
          <a:bodyPr/>
          <a:lstStyle/>
          <a:p>
            <a:endParaRPr lang="en-US"/>
          </a:p>
        </p:txBody>
      </p:sp>
      <p:sp>
        <p:nvSpPr>
          <p:cNvPr id="30" name="Text 28"/>
          <p:cNvSpPr/>
          <p:nvPr/>
        </p:nvSpPr>
        <p:spPr>
          <a:xfrm>
            <a:off x="521208" y="4594860"/>
            <a:ext cx="1828800" cy="329184"/>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layperson</a:t>
            </a:r>
            <a:endParaRPr lang="en-US" sz="730" dirty="0"/>
          </a:p>
        </p:txBody>
      </p:sp>
      <p:sp>
        <p:nvSpPr>
          <p:cNvPr id="31" name="Text 29"/>
          <p:cNvSpPr/>
          <p:nvPr/>
        </p:nvSpPr>
        <p:spPr>
          <a:xfrm>
            <a:off x="2441448" y="4594860"/>
            <a:ext cx="4480560" cy="32918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patient-style wording replacing technical terms</a:t>
            </a:r>
            <a:endParaRPr lang="en-US" sz="730" dirty="0"/>
          </a:p>
        </p:txBody>
      </p:sp>
      <p:sp>
        <p:nvSpPr>
          <p:cNvPr id="32" name="Shape 30"/>
          <p:cNvSpPr/>
          <p:nvPr/>
        </p:nvSpPr>
        <p:spPr>
          <a:xfrm>
            <a:off x="475488" y="4946904"/>
            <a:ext cx="6492240" cy="402336"/>
          </a:xfrm>
          <a:prstGeom prst="rect">
            <a:avLst/>
          </a:prstGeom>
          <a:solidFill>
            <a:srgbClr val="FFFFFF"/>
          </a:solidFill>
          <a:ln w="8890">
            <a:solidFill>
              <a:srgbClr val="D9E2E8"/>
            </a:solidFill>
            <a:prstDash val="solid"/>
          </a:ln>
        </p:spPr>
        <p:txBody>
          <a:bodyPr/>
          <a:lstStyle/>
          <a:p>
            <a:endParaRPr lang="en-US"/>
          </a:p>
        </p:txBody>
      </p:sp>
      <p:sp>
        <p:nvSpPr>
          <p:cNvPr id="33" name="Text 31"/>
          <p:cNvSpPr/>
          <p:nvPr/>
        </p:nvSpPr>
        <p:spPr>
          <a:xfrm>
            <a:off x="521208" y="4997196"/>
            <a:ext cx="1828800" cy="329184"/>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incomplete</a:t>
            </a:r>
            <a:endParaRPr lang="en-US" sz="730" dirty="0"/>
          </a:p>
        </p:txBody>
      </p:sp>
      <p:sp>
        <p:nvSpPr>
          <p:cNvPr id="34" name="Text 32"/>
          <p:cNvSpPr/>
          <p:nvPr/>
        </p:nvSpPr>
        <p:spPr>
          <a:xfrm>
            <a:off x="2441448" y="4997196"/>
            <a:ext cx="4480560" cy="32918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missing condition, body part, timeframe, or qualifier</a:t>
            </a:r>
            <a:endParaRPr lang="en-US" sz="730" dirty="0"/>
          </a:p>
        </p:txBody>
      </p:sp>
      <p:sp>
        <p:nvSpPr>
          <p:cNvPr id="35" name="Shape 33"/>
          <p:cNvSpPr/>
          <p:nvPr/>
        </p:nvSpPr>
        <p:spPr>
          <a:xfrm>
            <a:off x="475488" y="5349240"/>
            <a:ext cx="6492240" cy="402336"/>
          </a:xfrm>
          <a:prstGeom prst="rect">
            <a:avLst/>
          </a:prstGeom>
          <a:solidFill>
            <a:srgbClr val="F2F6F7"/>
          </a:solidFill>
          <a:ln w="8890">
            <a:solidFill>
              <a:srgbClr val="D9E2E8"/>
            </a:solidFill>
            <a:prstDash val="solid"/>
          </a:ln>
        </p:spPr>
        <p:txBody>
          <a:bodyPr/>
          <a:lstStyle/>
          <a:p>
            <a:endParaRPr lang="en-US"/>
          </a:p>
        </p:txBody>
      </p:sp>
      <p:sp>
        <p:nvSpPr>
          <p:cNvPr id="36" name="Text 34"/>
          <p:cNvSpPr/>
          <p:nvPr/>
        </p:nvSpPr>
        <p:spPr>
          <a:xfrm>
            <a:off x="521208" y="5399532"/>
            <a:ext cx="1828800" cy="329184"/>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overgeneralization</a:t>
            </a:r>
            <a:endParaRPr lang="en-US" sz="730" dirty="0"/>
          </a:p>
        </p:txBody>
      </p:sp>
      <p:sp>
        <p:nvSpPr>
          <p:cNvPr id="37" name="Text 35"/>
          <p:cNvSpPr/>
          <p:nvPr/>
        </p:nvSpPr>
        <p:spPr>
          <a:xfrm>
            <a:off x="2441448" y="5399532"/>
            <a:ext cx="4480560" cy="32918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specific query broadened into a generic health question</a:t>
            </a:r>
            <a:endParaRPr lang="en-US" sz="730" dirty="0"/>
          </a:p>
        </p:txBody>
      </p:sp>
      <p:sp>
        <p:nvSpPr>
          <p:cNvPr id="38" name="Shape 36"/>
          <p:cNvSpPr/>
          <p:nvPr/>
        </p:nvSpPr>
        <p:spPr>
          <a:xfrm>
            <a:off x="7360920" y="3337560"/>
            <a:ext cx="4297680" cy="402336"/>
          </a:xfrm>
          <a:prstGeom prst="rect">
            <a:avLst/>
          </a:prstGeom>
          <a:solidFill>
            <a:srgbClr val="25323D"/>
          </a:solidFill>
          <a:ln w="8890">
            <a:solidFill>
              <a:srgbClr val="25323D"/>
            </a:solidFill>
            <a:prstDash val="solid"/>
          </a:ln>
        </p:spPr>
        <p:txBody>
          <a:bodyPr/>
          <a:lstStyle/>
          <a:p>
            <a:endParaRPr lang="en-US"/>
          </a:p>
        </p:txBody>
      </p:sp>
      <p:sp>
        <p:nvSpPr>
          <p:cNvPr id="39" name="Text 37"/>
          <p:cNvSpPr/>
          <p:nvPr/>
        </p:nvSpPr>
        <p:spPr>
          <a:xfrm>
            <a:off x="7406640" y="3392424"/>
            <a:ext cx="1691640" cy="329184"/>
          </a:xfrm>
          <a:prstGeom prst="rect">
            <a:avLst/>
          </a:prstGeom>
          <a:noFill/>
          <a:ln/>
        </p:spPr>
        <p:txBody>
          <a:bodyPr wrap="square" lIns="0" tIns="0" rIns="0" bIns="0" rtlCol="0" anchor="t">
            <a:normAutofit/>
          </a:bodyPr>
          <a:lstStyle/>
          <a:p>
            <a:pPr marL="0" indent="0" algn="l">
              <a:buNone/>
            </a:pPr>
            <a:r>
              <a:rPr lang="en-US" sz="1400" b="1" dirty="0">
                <a:solidFill>
                  <a:srgbClr val="FFFFFF"/>
                </a:solidFill>
                <a:latin typeface="Aptos" pitchFamily="34" charset="0"/>
                <a:ea typeface="Aptos" pitchFamily="34" charset="-122"/>
                <a:cs typeface="Aptos" pitchFamily="34" charset="-120"/>
              </a:rPr>
              <a:t>Model families</a:t>
            </a:r>
            <a:endParaRPr lang="en-US" sz="770" dirty="0"/>
          </a:p>
        </p:txBody>
      </p:sp>
      <p:sp>
        <p:nvSpPr>
          <p:cNvPr id="40" name="Text 38"/>
          <p:cNvSpPr/>
          <p:nvPr/>
        </p:nvSpPr>
        <p:spPr>
          <a:xfrm>
            <a:off x="9189720" y="3392424"/>
            <a:ext cx="2423160" cy="329184"/>
          </a:xfrm>
          <a:prstGeom prst="rect">
            <a:avLst/>
          </a:prstGeom>
          <a:noFill/>
          <a:ln/>
        </p:spPr>
        <p:txBody>
          <a:bodyPr wrap="square" lIns="0" tIns="0" rIns="0" bIns="0" rtlCol="0" anchor="t">
            <a:normAutofit/>
          </a:bodyPr>
          <a:lstStyle/>
          <a:p>
            <a:pPr marL="0" indent="0" algn="l">
              <a:buNone/>
            </a:pPr>
            <a:r>
              <a:rPr lang="en-US" sz="1400" b="1" dirty="0">
                <a:solidFill>
                  <a:srgbClr val="FFFFFF"/>
                </a:solidFill>
                <a:latin typeface="Aptos" pitchFamily="34" charset="0"/>
                <a:ea typeface="Aptos" pitchFamily="34" charset="-122"/>
                <a:cs typeface="Aptos" pitchFamily="34" charset="-120"/>
              </a:rPr>
              <a:t>Examples</a:t>
            </a:r>
            <a:endParaRPr lang="en-US" sz="770" dirty="0"/>
          </a:p>
        </p:txBody>
      </p:sp>
      <p:sp>
        <p:nvSpPr>
          <p:cNvPr id="41" name="Shape 39"/>
          <p:cNvSpPr/>
          <p:nvPr/>
        </p:nvSpPr>
        <p:spPr>
          <a:xfrm>
            <a:off x="7360920" y="3739896"/>
            <a:ext cx="4297680" cy="402336"/>
          </a:xfrm>
          <a:prstGeom prst="rect">
            <a:avLst/>
          </a:prstGeom>
          <a:solidFill>
            <a:srgbClr val="F2F6F7"/>
          </a:solidFill>
          <a:ln w="8890">
            <a:solidFill>
              <a:srgbClr val="D9E2E8"/>
            </a:solidFill>
            <a:prstDash val="solid"/>
          </a:ln>
        </p:spPr>
        <p:txBody>
          <a:bodyPr/>
          <a:lstStyle/>
          <a:p>
            <a:endParaRPr lang="en-US"/>
          </a:p>
        </p:txBody>
      </p:sp>
      <p:sp>
        <p:nvSpPr>
          <p:cNvPr id="42" name="Text 40"/>
          <p:cNvSpPr/>
          <p:nvPr/>
        </p:nvSpPr>
        <p:spPr>
          <a:xfrm>
            <a:off x="7406640" y="3790188"/>
            <a:ext cx="1691640" cy="329184"/>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Closed/API</a:t>
            </a:r>
            <a:endParaRPr lang="en-US" sz="730" dirty="0"/>
          </a:p>
        </p:txBody>
      </p:sp>
      <p:sp>
        <p:nvSpPr>
          <p:cNvPr id="43" name="Text 41"/>
          <p:cNvSpPr/>
          <p:nvPr/>
        </p:nvSpPr>
        <p:spPr>
          <a:xfrm>
            <a:off x="9189720" y="3790188"/>
            <a:ext cx="2423160" cy="32918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GPT-5.4</a:t>
            </a:r>
            <a:endParaRPr lang="en-US" sz="730" dirty="0"/>
          </a:p>
        </p:txBody>
      </p:sp>
      <p:sp>
        <p:nvSpPr>
          <p:cNvPr id="44" name="Shape 42"/>
          <p:cNvSpPr/>
          <p:nvPr/>
        </p:nvSpPr>
        <p:spPr>
          <a:xfrm>
            <a:off x="7360920" y="4142232"/>
            <a:ext cx="4297680" cy="402336"/>
          </a:xfrm>
          <a:prstGeom prst="rect">
            <a:avLst/>
          </a:prstGeom>
          <a:solidFill>
            <a:srgbClr val="FFFFFF"/>
          </a:solidFill>
          <a:ln w="8890">
            <a:solidFill>
              <a:srgbClr val="D9E2E8"/>
            </a:solidFill>
            <a:prstDash val="solid"/>
          </a:ln>
        </p:spPr>
        <p:txBody>
          <a:bodyPr/>
          <a:lstStyle/>
          <a:p>
            <a:endParaRPr lang="en-US"/>
          </a:p>
        </p:txBody>
      </p:sp>
      <p:sp>
        <p:nvSpPr>
          <p:cNvPr id="45" name="Text 43"/>
          <p:cNvSpPr/>
          <p:nvPr/>
        </p:nvSpPr>
        <p:spPr>
          <a:xfrm>
            <a:off x="7406640" y="4192524"/>
            <a:ext cx="1691640" cy="329184"/>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Open instruction</a:t>
            </a:r>
            <a:endParaRPr lang="en-US" sz="730" dirty="0"/>
          </a:p>
        </p:txBody>
      </p:sp>
      <p:sp>
        <p:nvSpPr>
          <p:cNvPr id="46" name="Text 44"/>
          <p:cNvSpPr/>
          <p:nvPr/>
        </p:nvSpPr>
        <p:spPr>
          <a:xfrm>
            <a:off x="9189720" y="4192524"/>
            <a:ext cx="2423160" cy="32918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Llama 3.1, Mistral, Mixtral, Qwen, Gemma, Phi</a:t>
            </a:r>
            <a:endParaRPr lang="en-US" sz="730" dirty="0"/>
          </a:p>
        </p:txBody>
      </p:sp>
      <p:sp>
        <p:nvSpPr>
          <p:cNvPr id="47" name="Shape 45"/>
          <p:cNvSpPr/>
          <p:nvPr/>
        </p:nvSpPr>
        <p:spPr>
          <a:xfrm>
            <a:off x="7360920" y="4544568"/>
            <a:ext cx="4297680" cy="402336"/>
          </a:xfrm>
          <a:prstGeom prst="rect">
            <a:avLst/>
          </a:prstGeom>
          <a:solidFill>
            <a:srgbClr val="F2F6F7"/>
          </a:solidFill>
          <a:ln w="8890">
            <a:solidFill>
              <a:srgbClr val="D9E2E8"/>
            </a:solidFill>
            <a:prstDash val="solid"/>
          </a:ln>
        </p:spPr>
        <p:txBody>
          <a:bodyPr/>
          <a:lstStyle/>
          <a:p>
            <a:endParaRPr lang="en-US"/>
          </a:p>
        </p:txBody>
      </p:sp>
      <p:sp>
        <p:nvSpPr>
          <p:cNvPr id="48" name="Text 46"/>
          <p:cNvSpPr/>
          <p:nvPr/>
        </p:nvSpPr>
        <p:spPr>
          <a:xfrm>
            <a:off x="7406640" y="4594860"/>
            <a:ext cx="1691640" cy="329184"/>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Medical-domain</a:t>
            </a:r>
            <a:endParaRPr lang="en-US" sz="730" dirty="0"/>
          </a:p>
        </p:txBody>
      </p:sp>
      <p:sp>
        <p:nvSpPr>
          <p:cNvPr id="49" name="Text 47"/>
          <p:cNvSpPr/>
          <p:nvPr/>
        </p:nvSpPr>
        <p:spPr>
          <a:xfrm>
            <a:off x="9189720" y="4594860"/>
            <a:ext cx="2423160" cy="32918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BioMistral-7B</a:t>
            </a:r>
            <a:endParaRPr lang="en-US" sz="730" dirty="0"/>
          </a:p>
        </p:txBody>
      </p:sp>
      <p:sp>
        <p:nvSpPr>
          <p:cNvPr id="50" name="Shape 48"/>
          <p:cNvSpPr/>
          <p:nvPr/>
        </p:nvSpPr>
        <p:spPr>
          <a:xfrm>
            <a:off x="7360920" y="4946904"/>
            <a:ext cx="4297680" cy="402336"/>
          </a:xfrm>
          <a:prstGeom prst="rect">
            <a:avLst/>
          </a:prstGeom>
          <a:solidFill>
            <a:srgbClr val="FFFFFF"/>
          </a:solidFill>
          <a:ln w="8890">
            <a:solidFill>
              <a:srgbClr val="D9E2E8"/>
            </a:solidFill>
            <a:prstDash val="solid"/>
          </a:ln>
        </p:spPr>
        <p:txBody>
          <a:bodyPr/>
          <a:lstStyle/>
          <a:p>
            <a:endParaRPr lang="en-US"/>
          </a:p>
        </p:txBody>
      </p:sp>
      <p:sp>
        <p:nvSpPr>
          <p:cNvPr id="51" name="Text 49"/>
          <p:cNvSpPr/>
          <p:nvPr/>
        </p:nvSpPr>
        <p:spPr>
          <a:xfrm>
            <a:off x="7406640" y="4997196"/>
            <a:ext cx="1691640" cy="329184"/>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Quantized local</a:t>
            </a:r>
            <a:endParaRPr lang="en-US" sz="730" dirty="0"/>
          </a:p>
        </p:txBody>
      </p:sp>
      <p:sp>
        <p:nvSpPr>
          <p:cNvPr id="52" name="Text 50"/>
          <p:cNvSpPr/>
          <p:nvPr/>
        </p:nvSpPr>
        <p:spPr>
          <a:xfrm>
            <a:off x="9189720" y="4997196"/>
            <a:ext cx="2423160" cy="32918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4-bit and Q6_K variants</a:t>
            </a:r>
            <a:endParaRPr lang="en-US" sz="730" dirty="0"/>
          </a:p>
        </p:txBody>
      </p:sp>
      <p:sp>
        <p:nvSpPr>
          <p:cNvPr id="53" name="Oval 52"/>
          <p:cNvSpPr/>
          <p:nvPr/>
        </p:nvSpPr>
        <p:spPr>
          <a:xfrm>
            <a:off x="475488" y="274320"/>
            <a:ext cx="384048" cy="384048"/>
          </a:xfrm>
          <a:prstGeom prst="ellipse">
            <a:avLst/>
          </a:prstGeom>
          <a:solidFill>
            <a:srgbClr val="127C7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ptos"/>
              </a:rPr>
              <a:t>04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78408" y="320040"/>
            <a:ext cx="5029200" cy="210312"/>
          </a:xfrm>
          <a:prstGeom prst="rect">
            <a:avLst/>
          </a:prstGeom>
          <a:noFill/>
          <a:ln/>
        </p:spPr>
        <p:txBody>
          <a:bodyPr wrap="square" lIns="635" tIns="635" rIns="635" bIns="635" rtlCol="0" anchor="t"/>
          <a:lstStyle/>
          <a:p>
            <a:pPr marL="0" indent="0" algn="l">
              <a:buNone/>
            </a:pPr>
            <a:r>
              <a:rPr sz="2000" b="1">
                <a:solidFill>
                  <a:srgbClr val="25323D"/>
                </a:solidFill>
                <a:latin typeface="Aptos"/>
              </a:rPr>
              <a:t>Evaluation</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25323D"/>
                </a:solidFill>
                <a:latin typeface="Aptos" pitchFamily="34" charset="0"/>
                <a:ea typeface="Aptos" pitchFamily="34" charset="-122"/>
                <a:cs typeface="Aptos" pitchFamily="34" charset="-120"/>
              </a:rPr>
              <a:t>Metrics used in the project</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The deck reports several metric families because no single metric captures medical QA robustness.</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100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1000" dirty="0">
                <a:solidFill>
                  <a:srgbClr val="52616B"/>
                </a:solidFill>
                <a:latin typeface="Aptos" pitchFamily="34" charset="0"/>
                <a:ea typeface="Aptos" pitchFamily="34" charset="-122"/>
                <a:cs typeface="Aptos" pitchFamily="34" charset="-120"/>
              </a:rPr>
              <a:t>6 / 19</a:t>
            </a:r>
            <a:endParaRPr lang="en-US" sz="680" dirty="0"/>
          </a:p>
        </p:txBody>
      </p:sp>
      <p:sp>
        <p:nvSpPr>
          <p:cNvPr id="8" name="Shape 6"/>
          <p:cNvSpPr/>
          <p:nvPr/>
        </p:nvSpPr>
        <p:spPr>
          <a:xfrm>
            <a:off x="475488" y="1627632"/>
            <a:ext cx="10287000" cy="356616"/>
          </a:xfrm>
          <a:prstGeom prst="rect">
            <a:avLst/>
          </a:prstGeom>
          <a:solidFill>
            <a:srgbClr val="25323D"/>
          </a:solidFill>
          <a:ln w="8890">
            <a:solidFill>
              <a:srgbClr val="25323D"/>
            </a:solidFill>
            <a:prstDash val="solid"/>
          </a:ln>
        </p:spPr>
        <p:txBody>
          <a:bodyPr/>
          <a:lstStyle/>
          <a:p>
            <a:endParaRPr lang="en-US"/>
          </a:p>
        </p:txBody>
      </p:sp>
      <p:sp>
        <p:nvSpPr>
          <p:cNvPr id="9" name="Text 7"/>
          <p:cNvSpPr/>
          <p:nvPr/>
        </p:nvSpPr>
        <p:spPr>
          <a:xfrm>
            <a:off x="521208" y="1682496"/>
            <a:ext cx="1737360" cy="283464"/>
          </a:xfrm>
          <a:prstGeom prst="rect">
            <a:avLst/>
          </a:prstGeom>
          <a:noFill/>
          <a:ln/>
        </p:spPr>
        <p:txBody>
          <a:bodyPr wrap="square" lIns="0" tIns="0" rIns="0" bIns="0" rtlCol="0" anchor="t">
            <a:normAutofit/>
          </a:bodyPr>
          <a:lstStyle/>
          <a:p>
            <a:pPr marL="0" indent="0" algn="l">
              <a:buNone/>
            </a:pPr>
            <a:r>
              <a:rPr lang="en-US" sz="1400" b="1" dirty="0">
                <a:solidFill>
                  <a:srgbClr val="FFFFFF"/>
                </a:solidFill>
                <a:latin typeface="Aptos" pitchFamily="34" charset="0"/>
                <a:ea typeface="Aptos" pitchFamily="34" charset="-122"/>
                <a:cs typeface="Aptos" pitchFamily="34" charset="-120"/>
              </a:rPr>
              <a:t>Family</a:t>
            </a:r>
            <a:endParaRPr lang="en-US" sz="750" dirty="0"/>
          </a:p>
        </p:txBody>
      </p:sp>
      <p:sp>
        <p:nvSpPr>
          <p:cNvPr id="10" name="Text 8"/>
          <p:cNvSpPr/>
          <p:nvPr/>
        </p:nvSpPr>
        <p:spPr>
          <a:xfrm>
            <a:off x="2350008" y="1682496"/>
            <a:ext cx="1737360" cy="283464"/>
          </a:xfrm>
          <a:prstGeom prst="rect">
            <a:avLst/>
          </a:prstGeom>
          <a:noFill/>
          <a:ln/>
        </p:spPr>
        <p:txBody>
          <a:bodyPr wrap="square" lIns="0" tIns="0" rIns="0" bIns="0" rtlCol="0" anchor="t">
            <a:normAutofit/>
          </a:bodyPr>
          <a:lstStyle/>
          <a:p>
            <a:pPr marL="0" indent="0" algn="l">
              <a:buNone/>
            </a:pPr>
            <a:r>
              <a:rPr lang="en-US" sz="1400" b="1" dirty="0">
                <a:solidFill>
                  <a:srgbClr val="FFFFFF"/>
                </a:solidFill>
                <a:latin typeface="Aptos" pitchFamily="34" charset="0"/>
                <a:ea typeface="Aptos" pitchFamily="34" charset="-122"/>
                <a:cs typeface="Aptos" pitchFamily="34" charset="-120"/>
              </a:rPr>
              <a:t>Metric</a:t>
            </a:r>
            <a:endParaRPr lang="en-US" sz="750" dirty="0"/>
          </a:p>
        </p:txBody>
      </p:sp>
      <p:sp>
        <p:nvSpPr>
          <p:cNvPr id="11" name="Text 9"/>
          <p:cNvSpPr/>
          <p:nvPr/>
        </p:nvSpPr>
        <p:spPr>
          <a:xfrm>
            <a:off x="4178808" y="1682496"/>
            <a:ext cx="6537960" cy="283464"/>
          </a:xfrm>
          <a:prstGeom prst="rect">
            <a:avLst/>
          </a:prstGeom>
          <a:noFill/>
          <a:ln/>
        </p:spPr>
        <p:txBody>
          <a:bodyPr wrap="square" lIns="0" tIns="0" rIns="0" bIns="0" rtlCol="0" anchor="t">
            <a:normAutofit/>
          </a:bodyPr>
          <a:lstStyle/>
          <a:p>
            <a:pPr marL="0" indent="0" algn="l">
              <a:buNone/>
            </a:pPr>
            <a:r>
              <a:rPr lang="en-US" sz="1400" b="1" dirty="0">
                <a:solidFill>
                  <a:srgbClr val="FFFFFF"/>
                </a:solidFill>
                <a:latin typeface="Aptos" pitchFamily="34" charset="0"/>
                <a:ea typeface="Aptos" pitchFamily="34" charset="-122"/>
                <a:cs typeface="Aptos" pitchFamily="34" charset="-120"/>
              </a:rPr>
              <a:t>What it measures</a:t>
            </a:r>
            <a:endParaRPr lang="en-US" sz="750" dirty="0"/>
          </a:p>
        </p:txBody>
      </p:sp>
      <p:sp>
        <p:nvSpPr>
          <p:cNvPr id="12" name="Shape 10"/>
          <p:cNvSpPr/>
          <p:nvPr/>
        </p:nvSpPr>
        <p:spPr>
          <a:xfrm>
            <a:off x="475488" y="1984248"/>
            <a:ext cx="10287000" cy="356616"/>
          </a:xfrm>
          <a:prstGeom prst="rect">
            <a:avLst/>
          </a:prstGeom>
          <a:solidFill>
            <a:srgbClr val="F2F6F7"/>
          </a:solidFill>
          <a:ln w="8890">
            <a:solidFill>
              <a:srgbClr val="D9E2E8"/>
            </a:solidFill>
            <a:prstDash val="solid"/>
          </a:ln>
        </p:spPr>
        <p:txBody>
          <a:bodyPr/>
          <a:lstStyle/>
          <a:p>
            <a:endParaRPr lang="en-US"/>
          </a:p>
        </p:txBody>
      </p:sp>
      <p:sp>
        <p:nvSpPr>
          <p:cNvPr id="13" name="Text 11"/>
          <p:cNvSpPr/>
          <p:nvPr/>
        </p:nvSpPr>
        <p:spPr>
          <a:xfrm>
            <a:off x="521208" y="2034540"/>
            <a:ext cx="1737360" cy="283464"/>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Lexical overlap</a:t>
            </a:r>
            <a:endParaRPr lang="en-US" sz="680" dirty="0"/>
          </a:p>
        </p:txBody>
      </p:sp>
      <p:sp>
        <p:nvSpPr>
          <p:cNvPr id="14" name="Text 12"/>
          <p:cNvSpPr/>
          <p:nvPr/>
        </p:nvSpPr>
        <p:spPr>
          <a:xfrm>
            <a:off x="2350008" y="2034540"/>
            <a:ext cx="17373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BLEU</a:t>
            </a:r>
            <a:endParaRPr lang="en-US" sz="680" dirty="0"/>
          </a:p>
        </p:txBody>
      </p:sp>
      <p:sp>
        <p:nvSpPr>
          <p:cNvPr id="15" name="Text 13"/>
          <p:cNvSpPr/>
          <p:nvPr/>
        </p:nvSpPr>
        <p:spPr>
          <a:xfrm>
            <a:off x="4178808" y="2034540"/>
            <a:ext cx="65379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word n-gram overlap with the reference answer</a:t>
            </a:r>
            <a:endParaRPr lang="en-US" sz="680" dirty="0"/>
          </a:p>
        </p:txBody>
      </p:sp>
      <p:sp>
        <p:nvSpPr>
          <p:cNvPr id="16" name="Shape 14"/>
          <p:cNvSpPr/>
          <p:nvPr/>
        </p:nvSpPr>
        <p:spPr>
          <a:xfrm>
            <a:off x="475488" y="2340864"/>
            <a:ext cx="10287000" cy="356616"/>
          </a:xfrm>
          <a:prstGeom prst="rect">
            <a:avLst/>
          </a:prstGeom>
          <a:solidFill>
            <a:srgbClr val="FFFFFF"/>
          </a:solidFill>
          <a:ln w="8890">
            <a:solidFill>
              <a:srgbClr val="D9E2E8"/>
            </a:solidFill>
            <a:prstDash val="solid"/>
          </a:ln>
        </p:spPr>
        <p:txBody>
          <a:bodyPr/>
          <a:lstStyle/>
          <a:p>
            <a:endParaRPr lang="en-US"/>
          </a:p>
        </p:txBody>
      </p:sp>
      <p:sp>
        <p:nvSpPr>
          <p:cNvPr id="17" name="Text 15"/>
          <p:cNvSpPr/>
          <p:nvPr/>
        </p:nvSpPr>
        <p:spPr>
          <a:xfrm>
            <a:off x="521208" y="2391156"/>
            <a:ext cx="1737360" cy="283464"/>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Lexical overlap</a:t>
            </a:r>
            <a:endParaRPr lang="en-US" sz="680" dirty="0"/>
          </a:p>
        </p:txBody>
      </p:sp>
      <p:sp>
        <p:nvSpPr>
          <p:cNvPr id="18" name="Text 16"/>
          <p:cNvSpPr/>
          <p:nvPr/>
        </p:nvSpPr>
        <p:spPr>
          <a:xfrm>
            <a:off x="2350008" y="2391156"/>
            <a:ext cx="17373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chrF</a:t>
            </a:r>
            <a:endParaRPr lang="en-US" sz="680" dirty="0"/>
          </a:p>
        </p:txBody>
      </p:sp>
      <p:sp>
        <p:nvSpPr>
          <p:cNvPr id="19" name="Text 17"/>
          <p:cNvSpPr/>
          <p:nvPr/>
        </p:nvSpPr>
        <p:spPr>
          <a:xfrm>
            <a:off x="4178808" y="2391156"/>
            <a:ext cx="65379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character n-gram F-score, more tolerant of wording/spelling shifts</a:t>
            </a:r>
            <a:endParaRPr lang="en-US" sz="680" dirty="0"/>
          </a:p>
        </p:txBody>
      </p:sp>
      <p:sp>
        <p:nvSpPr>
          <p:cNvPr id="20" name="Shape 18"/>
          <p:cNvSpPr/>
          <p:nvPr/>
        </p:nvSpPr>
        <p:spPr>
          <a:xfrm>
            <a:off x="475488" y="2697480"/>
            <a:ext cx="10287000" cy="356616"/>
          </a:xfrm>
          <a:prstGeom prst="rect">
            <a:avLst/>
          </a:prstGeom>
          <a:solidFill>
            <a:srgbClr val="F2F6F7"/>
          </a:solidFill>
          <a:ln w="8890">
            <a:solidFill>
              <a:srgbClr val="D9E2E8"/>
            </a:solidFill>
            <a:prstDash val="solid"/>
          </a:ln>
        </p:spPr>
        <p:txBody>
          <a:bodyPr/>
          <a:lstStyle/>
          <a:p>
            <a:endParaRPr lang="en-US"/>
          </a:p>
        </p:txBody>
      </p:sp>
      <p:sp>
        <p:nvSpPr>
          <p:cNvPr id="21" name="Text 19"/>
          <p:cNvSpPr/>
          <p:nvPr/>
        </p:nvSpPr>
        <p:spPr>
          <a:xfrm>
            <a:off x="521208" y="2747772"/>
            <a:ext cx="1737360" cy="283464"/>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Lexical overlap</a:t>
            </a:r>
            <a:endParaRPr lang="en-US" sz="680" dirty="0"/>
          </a:p>
        </p:txBody>
      </p:sp>
      <p:sp>
        <p:nvSpPr>
          <p:cNvPr id="22" name="Text 20"/>
          <p:cNvSpPr/>
          <p:nvPr/>
        </p:nvSpPr>
        <p:spPr>
          <a:xfrm>
            <a:off x="2350008" y="2747772"/>
            <a:ext cx="17373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ROUGE-L</a:t>
            </a:r>
            <a:endParaRPr lang="en-US" sz="680" dirty="0"/>
          </a:p>
        </p:txBody>
      </p:sp>
      <p:sp>
        <p:nvSpPr>
          <p:cNvPr id="23" name="Text 21"/>
          <p:cNvSpPr/>
          <p:nvPr/>
        </p:nvSpPr>
        <p:spPr>
          <a:xfrm>
            <a:off x="4178808" y="2747772"/>
            <a:ext cx="65379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longest common subsequence overlap</a:t>
            </a:r>
            <a:endParaRPr lang="en-US" sz="680" dirty="0"/>
          </a:p>
        </p:txBody>
      </p:sp>
      <p:sp>
        <p:nvSpPr>
          <p:cNvPr id="24" name="Shape 22"/>
          <p:cNvSpPr/>
          <p:nvPr/>
        </p:nvSpPr>
        <p:spPr>
          <a:xfrm>
            <a:off x="475488" y="3054096"/>
            <a:ext cx="10287000" cy="356616"/>
          </a:xfrm>
          <a:prstGeom prst="rect">
            <a:avLst/>
          </a:prstGeom>
          <a:solidFill>
            <a:srgbClr val="FFFFFF"/>
          </a:solidFill>
          <a:ln w="8890">
            <a:solidFill>
              <a:srgbClr val="D9E2E8"/>
            </a:solidFill>
            <a:prstDash val="solid"/>
          </a:ln>
        </p:spPr>
        <p:txBody>
          <a:bodyPr/>
          <a:lstStyle/>
          <a:p>
            <a:endParaRPr lang="en-US"/>
          </a:p>
        </p:txBody>
      </p:sp>
      <p:sp>
        <p:nvSpPr>
          <p:cNvPr id="25" name="Text 23"/>
          <p:cNvSpPr/>
          <p:nvPr/>
        </p:nvSpPr>
        <p:spPr>
          <a:xfrm>
            <a:off x="521208" y="3104388"/>
            <a:ext cx="1737360" cy="283464"/>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Lexical overlap</a:t>
            </a:r>
            <a:endParaRPr lang="en-US" sz="680" dirty="0"/>
          </a:p>
        </p:txBody>
      </p:sp>
      <p:sp>
        <p:nvSpPr>
          <p:cNvPr id="26" name="Text 24"/>
          <p:cNvSpPr/>
          <p:nvPr/>
        </p:nvSpPr>
        <p:spPr>
          <a:xfrm>
            <a:off x="2350008" y="3104388"/>
            <a:ext cx="17373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Token F1</a:t>
            </a:r>
            <a:endParaRPr lang="en-US" sz="680" dirty="0"/>
          </a:p>
        </p:txBody>
      </p:sp>
      <p:sp>
        <p:nvSpPr>
          <p:cNvPr id="27" name="Text 25"/>
          <p:cNvSpPr/>
          <p:nvPr/>
        </p:nvSpPr>
        <p:spPr>
          <a:xfrm>
            <a:off x="4178808" y="3104388"/>
            <a:ext cx="65379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normalized token precision/recall overlap</a:t>
            </a:r>
            <a:endParaRPr lang="en-US" sz="680" dirty="0"/>
          </a:p>
        </p:txBody>
      </p:sp>
      <p:sp>
        <p:nvSpPr>
          <p:cNvPr id="28" name="Shape 26"/>
          <p:cNvSpPr/>
          <p:nvPr/>
        </p:nvSpPr>
        <p:spPr>
          <a:xfrm>
            <a:off x="475488" y="3410712"/>
            <a:ext cx="10287000" cy="356616"/>
          </a:xfrm>
          <a:prstGeom prst="rect">
            <a:avLst/>
          </a:prstGeom>
          <a:solidFill>
            <a:srgbClr val="F2F6F7"/>
          </a:solidFill>
          <a:ln w="8890">
            <a:solidFill>
              <a:srgbClr val="D9E2E8"/>
            </a:solidFill>
            <a:prstDash val="solid"/>
          </a:ln>
        </p:spPr>
        <p:txBody>
          <a:bodyPr/>
          <a:lstStyle/>
          <a:p>
            <a:endParaRPr lang="en-US"/>
          </a:p>
        </p:txBody>
      </p:sp>
      <p:sp>
        <p:nvSpPr>
          <p:cNvPr id="29" name="Text 27"/>
          <p:cNvSpPr/>
          <p:nvPr/>
        </p:nvSpPr>
        <p:spPr>
          <a:xfrm>
            <a:off x="521208" y="3461004"/>
            <a:ext cx="1737360" cy="283464"/>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Lexical overlap</a:t>
            </a:r>
            <a:endParaRPr lang="en-US" sz="680" dirty="0"/>
          </a:p>
        </p:txBody>
      </p:sp>
      <p:sp>
        <p:nvSpPr>
          <p:cNvPr id="30" name="Text 28"/>
          <p:cNvSpPr/>
          <p:nvPr/>
        </p:nvSpPr>
        <p:spPr>
          <a:xfrm>
            <a:off x="2350008" y="3461004"/>
            <a:ext cx="17373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Exact Match</a:t>
            </a:r>
            <a:endParaRPr lang="en-US" sz="680" dirty="0"/>
          </a:p>
        </p:txBody>
      </p:sp>
      <p:sp>
        <p:nvSpPr>
          <p:cNvPr id="31" name="Text 29"/>
          <p:cNvSpPr/>
          <p:nvPr/>
        </p:nvSpPr>
        <p:spPr>
          <a:xfrm>
            <a:off x="4178808" y="3461004"/>
            <a:ext cx="65379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strict normalized full-answer match; mostly zero for free-form QA</a:t>
            </a:r>
            <a:endParaRPr lang="en-US" sz="680" dirty="0"/>
          </a:p>
        </p:txBody>
      </p:sp>
      <p:sp>
        <p:nvSpPr>
          <p:cNvPr id="32" name="Shape 30"/>
          <p:cNvSpPr/>
          <p:nvPr/>
        </p:nvSpPr>
        <p:spPr>
          <a:xfrm>
            <a:off x="475488" y="3767328"/>
            <a:ext cx="10287000" cy="356616"/>
          </a:xfrm>
          <a:prstGeom prst="rect">
            <a:avLst/>
          </a:prstGeom>
          <a:solidFill>
            <a:srgbClr val="FFFFFF"/>
          </a:solidFill>
          <a:ln w="8890">
            <a:solidFill>
              <a:srgbClr val="D9E2E8"/>
            </a:solidFill>
            <a:prstDash val="solid"/>
          </a:ln>
        </p:spPr>
        <p:txBody>
          <a:bodyPr/>
          <a:lstStyle/>
          <a:p>
            <a:endParaRPr lang="en-US"/>
          </a:p>
        </p:txBody>
      </p:sp>
      <p:sp>
        <p:nvSpPr>
          <p:cNvPr id="33" name="Text 31"/>
          <p:cNvSpPr/>
          <p:nvPr/>
        </p:nvSpPr>
        <p:spPr>
          <a:xfrm>
            <a:off x="521208" y="3817620"/>
            <a:ext cx="1737360" cy="283464"/>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Semantic answer</a:t>
            </a:r>
            <a:endParaRPr lang="en-US" sz="680" dirty="0"/>
          </a:p>
        </p:txBody>
      </p:sp>
      <p:sp>
        <p:nvSpPr>
          <p:cNvPr id="34" name="Text 32"/>
          <p:cNvSpPr/>
          <p:nvPr/>
        </p:nvSpPr>
        <p:spPr>
          <a:xfrm>
            <a:off x="2350008" y="3817620"/>
            <a:ext cx="17373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BERTScore</a:t>
            </a:r>
            <a:endParaRPr lang="en-US" sz="680" dirty="0"/>
          </a:p>
        </p:txBody>
      </p:sp>
      <p:sp>
        <p:nvSpPr>
          <p:cNvPr id="35" name="Text 33"/>
          <p:cNvSpPr/>
          <p:nvPr/>
        </p:nvSpPr>
        <p:spPr>
          <a:xfrm>
            <a:off x="4178808" y="3817620"/>
            <a:ext cx="65379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embedding-based similarity between answer and reference</a:t>
            </a:r>
            <a:endParaRPr lang="en-US" sz="680" dirty="0"/>
          </a:p>
        </p:txBody>
      </p:sp>
      <p:sp>
        <p:nvSpPr>
          <p:cNvPr id="36" name="Shape 34"/>
          <p:cNvSpPr/>
          <p:nvPr/>
        </p:nvSpPr>
        <p:spPr>
          <a:xfrm>
            <a:off x="475488" y="4123944"/>
            <a:ext cx="10287000" cy="356616"/>
          </a:xfrm>
          <a:prstGeom prst="rect">
            <a:avLst/>
          </a:prstGeom>
          <a:solidFill>
            <a:srgbClr val="F2F6F7"/>
          </a:solidFill>
          <a:ln w="8890">
            <a:solidFill>
              <a:srgbClr val="D9E2E8"/>
            </a:solidFill>
            <a:prstDash val="solid"/>
          </a:ln>
        </p:spPr>
        <p:txBody>
          <a:bodyPr/>
          <a:lstStyle/>
          <a:p>
            <a:endParaRPr lang="en-US"/>
          </a:p>
        </p:txBody>
      </p:sp>
      <p:sp>
        <p:nvSpPr>
          <p:cNvPr id="37" name="Text 35"/>
          <p:cNvSpPr/>
          <p:nvPr/>
        </p:nvSpPr>
        <p:spPr>
          <a:xfrm>
            <a:off x="521208" y="4174236"/>
            <a:ext cx="1737360" cy="283464"/>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Question intent</a:t>
            </a:r>
            <a:endParaRPr lang="en-US" sz="680" dirty="0"/>
          </a:p>
        </p:txBody>
      </p:sp>
      <p:sp>
        <p:nvSpPr>
          <p:cNvPr id="38" name="Text 36"/>
          <p:cNvSpPr/>
          <p:nvPr/>
        </p:nvSpPr>
        <p:spPr>
          <a:xfrm>
            <a:off x="2350008" y="4174236"/>
            <a:ext cx="17373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Intent Preservation</a:t>
            </a:r>
            <a:endParaRPr lang="en-US" sz="680" dirty="0"/>
          </a:p>
        </p:txBody>
      </p:sp>
      <p:sp>
        <p:nvSpPr>
          <p:cNvPr id="39" name="Text 37"/>
          <p:cNvSpPr/>
          <p:nvPr/>
        </p:nvSpPr>
        <p:spPr>
          <a:xfrm>
            <a:off x="4178808" y="4174236"/>
            <a:ext cx="65379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embedding similarity between clean question and noisy/repaired question</a:t>
            </a:r>
            <a:endParaRPr lang="en-US" sz="680" dirty="0"/>
          </a:p>
        </p:txBody>
      </p:sp>
      <p:sp>
        <p:nvSpPr>
          <p:cNvPr id="40" name="Shape 38"/>
          <p:cNvSpPr/>
          <p:nvPr/>
        </p:nvSpPr>
        <p:spPr>
          <a:xfrm>
            <a:off x="475488" y="4480560"/>
            <a:ext cx="10287000" cy="356616"/>
          </a:xfrm>
          <a:prstGeom prst="rect">
            <a:avLst/>
          </a:prstGeom>
          <a:solidFill>
            <a:srgbClr val="FFFFFF"/>
          </a:solidFill>
          <a:ln w="8890">
            <a:solidFill>
              <a:srgbClr val="D9E2E8"/>
            </a:solidFill>
            <a:prstDash val="solid"/>
          </a:ln>
        </p:spPr>
        <p:txBody>
          <a:bodyPr/>
          <a:lstStyle/>
          <a:p>
            <a:endParaRPr lang="en-US"/>
          </a:p>
        </p:txBody>
      </p:sp>
      <p:sp>
        <p:nvSpPr>
          <p:cNvPr id="41" name="Text 39"/>
          <p:cNvSpPr/>
          <p:nvPr/>
        </p:nvSpPr>
        <p:spPr>
          <a:xfrm>
            <a:off x="521208" y="4530852"/>
            <a:ext cx="1737360" cy="283464"/>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Judge score</a:t>
            </a:r>
            <a:endParaRPr lang="en-US" sz="680" dirty="0"/>
          </a:p>
        </p:txBody>
      </p:sp>
      <p:sp>
        <p:nvSpPr>
          <p:cNvPr id="42" name="Text 40"/>
          <p:cNvSpPr/>
          <p:nvPr/>
        </p:nvSpPr>
        <p:spPr>
          <a:xfrm>
            <a:off x="2350008" y="4530852"/>
            <a:ext cx="17373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G-Eval</a:t>
            </a:r>
            <a:endParaRPr lang="en-US" sz="680" dirty="0"/>
          </a:p>
        </p:txBody>
      </p:sp>
      <p:sp>
        <p:nvSpPr>
          <p:cNvPr id="43" name="Text 41"/>
          <p:cNvSpPr/>
          <p:nvPr/>
        </p:nvSpPr>
        <p:spPr>
          <a:xfrm>
            <a:off x="4178808" y="4530852"/>
            <a:ext cx="65379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GPT-5.4-mini score from 1-5 for answer quality</a:t>
            </a:r>
            <a:endParaRPr lang="en-US" sz="680" dirty="0"/>
          </a:p>
        </p:txBody>
      </p:sp>
      <p:sp>
        <p:nvSpPr>
          <p:cNvPr id="44" name="Shape 42"/>
          <p:cNvSpPr/>
          <p:nvPr/>
        </p:nvSpPr>
        <p:spPr>
          <a:xfrm>
            <a:off x="475488" y="4837176"/>
            <a:ext cx="10287000" cy="356616"/>
          </a:xfrm>
          <a:prstGeom prst="rect">
            <a:avLst/>
          </a:prstGeom>
          <a:solidFill>
            <a:srgbClr val="F2F6F7"/>
          </a:solidFill>
          <a:ln w="8890">
            <a:solidFill>
              <a:srgbClr val="D9E2E8"/>
            </a:solidFill>
            <a:prstDash val="solid"/>
          </a:ln>
        </p:spPr>
        <p:txBody>
          <a:bodyPr/>
          <a:lstStyle/>
          <a:p>
            <a:endParaRPr lang="en-US"/>
          </a:p>
        </p:txBody>
      </p:sp>
      <p:sp>
        <p:nvSpPr>
          <p:cNvPr id="45" name="Text 43"/>
          <p:cNvSpPr/>
          <p:nvPr/>
        </p:nvSpPr>
        <p:spPr>
          <a:xfrm>
            <a:off x="521208" y="4887468"/>
            <a:ext cx="1737360" cy="283464"/>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Medical content</a:t>
            </a:r>
            <a:endParaRPr lang="en-US" sz="680" dirty="0"/>
          </a:p>
        </p:txBody>
      </p:sp>
      <p:sp>
        <p:nvSpPr>
          <p:cNvPr id="46" name="Text 44"/>
          <p:cNvSpPr/>
          <p:nvPr/>
        </p:nvSpPr>
        <p:spPr>
          <a:xfrm>
            <a:off x="2350008" y="4887468"/>
            <a:ext cx="17373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med_coverage</a:t>
            </a:r>
            <a:endParaRPr lang="en-US" sz="680" dirty="0"/>
          </a:p>
        </p:txBody>
      </p:sp>
      <p:sp>
        <p:nvSpPr>
          <p:cNvPr id="47" name="Text 45"/>
          <p:cNvSpPr/>
          <p:nvPr/>
        </p:nvSpPr>
        <p:spPr>
          <a:xfrm>
            <a:off x="4178808" y="4887468"/>
            <a:ext cx="65379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medical-term recall vs the reference answer</a:t>
            </a:r>
            <a:endParaRPr lang="en-US" sz="680" dirty="0"/>
          </a:p>
        </p:txBody>
      </p:sp>
      <p:sp>
        <p:nvSpPr>
          <p:cNvPr id="48" name="Shape 46"/>
          <p:cNvSpPr/>
          <p:nvPr/>
        </p:nvSpPr>
        <p:spPr>
          <a:xfrm>
            <a:off x="475488" y="5193792"/>
            <a:ext cx="10287000" cy="356616"/>
          </a:xfrm>
          <a:prstGeom prst="rect">
            <a:avLst/>
          </a:prstGeom>
          <a:solidFill>
            <a:srgbClr val="FFFFFF"/>
          </a:solidFill>
          <a:ln w="8890">
            <a:solidFill>
              <a:srgbClr val="D9E2E8"/>
            </a:solidFill>
            <a:prstDash val="solid"/>
          </a:ln>
        </p:spPr>
        <p:txBody>
          <a:bodyPr/>
          <a:lstStyle/>
          <a:p>
            <a:endParaRPr lang="en-US"/>
          </a:p>
        </p:txBody>
      </p:sp>
      <p:sp>
        <p:nvSpPr>
          <p:cNvPr id="49" name="Text 47"/>
          <p:cNvSpPr/>
          <p:nvPr/>
        </p:nvSpPr>
        <p:spPr>
          <a:xfrm>
            <a:off x="521208" y="5244084"/>
            <a:ext cx="1737360" cy="283464"/>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Medical content</a:t>
            </a:r>
            <a:endParaRPr lang="en-US" sz="680" dirty="0"/>
          </a:p>
        </p:txBody>
      </p:sp>
      <p:sp>
        <p:nvSpPr>
          <p:cNvPr id="50" name="Text 48"/>
          <p:cNvSpPr/>
          <p:nvPr/>
        </p:nvSpPr>
        <p:spPr>
          <a:xfrm>
            <a:off x="2350008" y="5244084"/>
            <a:ext cx="17373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med_precision</a:t>
            </a:r>
            <a:endParaRPr lang="en-US" sz="680" dirty="0"/>
          </a:p>
        </p:txBody>
      </p:sp>
      <p:sp>
        <p:nvSpPr>
          <p:cNvPr id="51" name="Text 49"/>
          <p:cNvSpPr/>
          <p:nvPr/>
        </p:nvSpPr>
        <p:spPr>
          <a:xfrm>
            <a:off x="4178808" y="5244084"/>
            <a:ext cx="65379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medical-term precision in the model answer</a:t>
            </a:r>
            <a:endParaRPr lang="en-US" sz="680" dirty="0"/>
          </a:p>
        </p:txBody>
      </p:sp>
      <p:sp>
        <p:nvSpPr>
          <p:cNvPr id="52" name="Shape 50"/>
          <p:cNvSpPr/>
          <p:nvPr/>
        </p:nvSpPr>
        <p:spPr>
          <a:xfrm>
            <a:off x="475488" y="5550408"/>
            <a:ext cx="10287000" cy="356616"/>
          </a:xfrm>
          <a:prstGeom prst="rect">
            <a:avLst/>
          </a:prstGeom>
          <a:solidFill>
            <a:srgbClr val="F2F6F7"/>
          </a:solidFill>
          <a:ln w="8890">
            <a:solidFill>
              <a:srgbClr val="D9E2E8"/>
            </a:solidFill>
            <a:prstDash val="solid"/>
          </a:ln>
        </p:spPr>
        <p:txBody>
          <a:bodyPr/>
          <a:lstStyle/>
          <a:p>
            <a:endParaRPr lang="en-US"/>
          </a:p>
        </p:txBody>
      </p:sp>
      <p:sp>
        <p:nvSpPr>
          <p:cNvPr id="53" name="Text 51"/>
          <p:cNvSpPr/>
          <p:nvPr/>
        </p:nvSpPr>
        <p:spPr>
          <a:xfrm>
            <a:off x="521208" y="5600700"/>
            <a:ext cx="1737360" cy="283464"/>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Medical content</a:t>
            </a:r>
            <a:endParaRPr lang="en-US" sz="680" dirty="0"/>
          </a:p>
        </p:txBody>
      </p:sp>
      <p:sp>
        <p:nvSpPr>
          <p:cNvPr id="54" name="Text 52"/>
          <p:cNvSpPr/>
          <p:nvPr/>
        </p:nvSpPr>
        <p:spPr>
          <a:xfrm>
            <a:off x="2350008" y="5600700"/>
            <a:ext cx="17373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med_f1</a:t>
            </a:r>
            <a:endParaRPr lang="en-US" sz="680" dirty="0"/>
          </a:p>
        </p:txBody>
      </p:sp>
      <p:sp>
        <p:nvSpPr>
          <p:cNvPr id="55" name="Text 53"/>
          <p:cNvSpPr/>
          <p:nvPr/>
        </p:nvSpPr>
        <p:spPr>
          <a:xfrm>
            <a:off x="4178808" y="5600700"/>
            <a:ext cx="6537960" cy="28346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balance of medical-term precision and coverage</a:t>
            </a:r>
            <a:endParaRPr lang="en-US" sz="680" dirty="0"/>
          </a:p>
        </p:txBody>
      </p:sp>
      <p:sp>
        <p:nvSpPr>
          <p:cNvPr id="56" name="Oval 55"/>
          <p:cNvSpPr/>
          <p:nvPr/>
        </p:nvSpPr>
        <p:spPr>
          <a:xfrm>
            <a:off x="475488" y="274320"/>
            <a:ext cx="384048" cy="384048"/>
          </a:xfrm>
          <a:prstGeom prst="ellipse">
            <a:avLst/>
          </a:prstGeom>
          <a:solidFill>
            <a:srgbClr val="127C7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ptos"/>
              </a:rPr>
              <a:t>05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978408" y="320040"/>
            <a:ext cx="5029200" cy="210312"/>
          </a:xfrm>
          <a:prstGeom prst="rect">
            <a:avLst/>
          </a:prstGeom>
          <a:noFill/>
          <a:ln/>
        </p:spPr>
        <p:txBody>
          <a:bodyPr wrap="square" lIns="635" tIns="635" rIns="635" bIns="635" rtlCol="0" anchor="t"/>
          <a:lstStyle/>
          <a:p>
            <a:pPr marL="0" indent="0" algn="l">
              <a:buNone/>
            </a:pPr>
            <a:r>
              <a:rPr sz="2000" b="1">
                <a:solidFill>
                  <a:srgbClr val="25323D"/>
                </a:solidFill>
                <a:latin typeface="Aptos"/>
              </a:rPr>
              <a:t>Evaluation</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25323D"/>
                </a:solidFill>
                <a:latin typeface="Aptos" pitchFamily="34" charset="0"/>
                <a:ea typeface="Aptos" pitchFamily="34" charset="-122"/>
                <a:cs typeface="Aptos" pitchFamily="34" charset="-120"/>
              </a:rPr>
              <a:t>How to read the metrics</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A metric can improve because the question rewrite is cleaner, even if the final answer loses medical substance.</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100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1000" dirty="0">
                <a:solidFill>
                  <a:srgbClr val="52616B"/>
                </a:solidFill>
                <a:latin typeface="Aptos" pitchFamily="34" charset="0"/>
                <a:ea typeface="Aptos" pitchFamily="34" charset="-122"/>
                <a:cs typeface="Aptos" pitchFamily="34" charset="-120"/>
              </a:rPr>
              <a:t>7 / 19</a:t>
            </a:r>
            <a:endParaRPr lang="en-US" sz="680" dirty="0"/>
          </a:p>
        </p:txBody>
      </p:sp>
      <p:sp>
        <p:nvSpPr>
          <p:cNvPr id="8" name="Shape 6"/>
          <p:cNvSpPr/>
          <p:nvPr/>
        </p:nvSpPr>
        <p:spPr>
          <a:xfrm>
            <a:off x="475488" y="1664208"/>
            <a:ext cx="11064240" cy="512064"/>
          </a:xfrm>
          <a:prstGeom prst="roundRect">
            <a:avLst>
              <a:gd name="adj" fmla="val 10714"/>
            </a:avLst>
          </a:prstGeom>
          <a:solidFill>
            <a:srgbClr val="F2F6F7"/>
          </a:solidFill>
          <a:ln w="8890">
            <a:solidFill>
              <a:srgbClr val="3867D6"/>
            </a:solidFill>
            <a:prstDash val="solid"/>
          </a:ln>
        </p:spPr>
        <p:txBody>
          <a:bodyPr/>
          <a:lstStyle/>
          <a:p>
            <a:endParaRPr lang="en-US"/>
          </a:p>
        </p:txBody>
      </p:sp>
      <p:sp>
        <p:nvSpPr>
          <p:cNvPr id="9" name="Text 7"/>
          <p:cNvSpPr/>
          <p:nvPr/>
        </p:nvSpPr>
        <p:spPr>
          <a:xfrm>
            <a:off x="640080" y="1783080"/>
            <a:ext cx="1965960" cy="164592"/>
          </a:xfrm>
          <a:prstGeom prst="rect">
            <a:avLst/>
          </a:prstGeom>
          <a:noFill/>
          <a:ln/>
        </p:spPr>
        <p:txBody>
          <a:bodyPr wrap="square" lIns="0" tIns="0" rIns="0" bIns="0" rtlCol="0" anchor="t"/>
          <a:lstStyle/>
          <a:p>
            <a:pPr marL="0" indent="0" algn="l">
              <a:buNone/>
            </a:pPr>
            <a:r>
              <a:rPr lang="en-US" sz="1400" b="1" dirty="0">
                <a:solidFill>
                  <a:srgbClr val="127C7A"/>
                </a:solidFill>
                <a:latin typeface="Aptos" pitchFamily="34" charset="0"/>
                <a:ea typeface="Aptos" pitchFamily="34" charset="-122"/>
                <a:cs typeface="Aptos" pitchFamily="34" charset="-120"/>
              </a:rPr>
              <a:t>Lexical metrics</a:t>
            </a:r>
            <a:endParaRPr lang="en-US" sz="950" dirty="0"/>
          </a:p>
        </p:txBody>
      </p:sp>
      <p:sp>
        <p:nvSpPr>
          <p:cNvPr id="10" name="Text 8"/>
          <p:cNvSpPr/>
          <p:nvPr/>
        </p:nvSpPr>
        <p:spPr>
          <a:xfrm>
            <a:off x="2807208" y="1783080"/>
            <a:ext cx="2057400" cy="164592"/>
          </a:xfrm>
          <a:prstGeom prst="rect">
            <a:avLst/>
          </a:prstGeom>
          <a:noFill/>
          <a:ln/>
        </p:spPr>
        <p:txBody>
          <a:bodyPr wrap="square" lIns="0" tIns="0" rIns="0" bIns="0" rtlCol="0" anchor="t"/>
          <a:lstStyle/>
          <a:p>
            <a:pPr marL="0" indent="0" algn="l">
              <a:buNone/>
            </a:pPr>
            <a:r>
              <a:rPr lang="en-US" sz="1400" b="1" dirty="0">
                <a:solidFill>
                  <a:srgbClr val="25323D"/>
                </a:solidFill>
                <a:latin typeface="Aptos" pitchFamily="34" charset="0"/>
                <a:ea typeface="Aptos" pitchFamily="34" charset="-122"/>
                <a:cs typeface="Aptos" pitchFamily="34" charset="-120"/>
              </a:rPr>
              <a:t>similar words</a:t>
            </a:r>
            <a:endParaRPr lang="en-US" sz="950" dirty="0"/>
          </a:p>
        </p:txBody>
      </p:sp>
      <p:sp>
        <p:nvSpPr>
          <p:cNvPr id="11" name="Text 9"/>
          <p:cNvSpPr/>
          <p:nvPr/>
        </p:nvSpPr>
        <p:spPr>
          <a:xfrm>
            <a:off x="5001768" y="1783080"/>
            <a:ext cx="6263640" cy="164592"/>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BLEU, chrF, ROUGE-L, Token F1, Exact Match</a:t>
            </a:r>
            <a:endParaRPr lang="en-US" sz="820" dirty="0"/>
          </a:p>
        </p:txBody>
      </p:sp>
      <p:sp>
        <p:nvSpPr>
          <p:cNvPr id="12" name="Shape 10"/>
          <p:cNvSpPr/>
          <p:nvPr/>
        </p:nvSpPr>
        <p:spPr>
          <a:xfrm>
            <a:off x="475488" y="2377440"/>
            <a:ext cx="11064240" cy="512064"/>
          </a:xfrm>
          <a:prstGeom prst="roundRect">
            <a:avLst>
              <a:gd name="adj" fmla="val 10714"/>
            </a:avLst>
          </a:prstGeom>
          <a:solidFill>
            <a:srgbClr val="F2F6F7"/>
          </a:solidFill>
          <a:ln w="8890">
            <a:solidFill>
              <a:srgbClr val="127C7A"/>
            </a:solidFill>
            <a:prstDash val="solid"/>
          </a:ln>
        </p:spPr>
        <p:txBody>
          <a:bodyPr/>
          <a:lstStyle/>
          <a:p>
            <a:endParaRPr lang="en-US"/>
          </a:p>
        </p:txBody>
      </p:sp>
      <p:sp>
        <p:nvSpPr>
          <p:cNvPr id="13" name="Text 11"/>
          <p:cNvSpPr/>
          <p:nvPr/>
        </p:nvSpPr>
        <p:spPr>
          <a:xfrm>
            <a:off x="640080" y="2496312"/>
            <a:ext cx="1965960" cy="164592"/>
          </a:xfrm>
          <a:prstGeom prst="rect">
            <a:avLst/>
          </a:prstGeom>
          <a:noFill/>
          <a:ln/>
        </p:spPr>
        <p:txBody>
          <a:bodyPr wrap="square" lIns="0" tIns="0" rIns="0" bIns="0" rtlCol="0" anchor="t"/>
          <a:lstStyle/>
          <a:p>
            <a:pPr marL="0" indent="0" algn="l">
              <a:buNone/>
            </a:pPr>
            <a:r>
              <a:rPr lang="en-US" sz="1400" b="1" dirty="0">
                <a:solidFill>
                  <a:srgbClr val="127C7A"/>
                </a:solidFill>
                <a:latin typeface="Aptos" pitchFamily="34" charset="0"/>
                <a:ea typeface="Aptos" pitchFamily="34" charset="-122"/>
                <a:cs typeface="Aptos" pitchFamily="34" charset="-120"/>
              </a:rPr>
              <a:t>Semantic metrics</a:t>
            </a:r>
            <a:endParaRPr lang="en-US" sz="950" dirty="0"/>
          </a:p>
        </p:txBody>
      </p:sp>
      <p:sp>
        <p:nvSpPr>
          <p:cNvPr id="14" name="Text 12"/>
          <p:cNvSpPr/>
          <p:nvPr/>
        </p:nvSpPr>
        <p:spPr>
          <a:xfrm>
            <a:off x="2807208" y="2496312"/>
            <a:ext cx="2057400" cy="164592"/>
          </a:xfrm>
          <a:prstGeom prst="rect">
            <a:avLst/>
          </a:prstGeom>
          <a:noFill/>
          <a:ln/>
        </p:spPr>
        <p:txBody>
          <a:bodyPr wrap="square" lIns="0" tIns="0" rIns="0" bIns="0" rtlCol="0" anchor="t"/>
          <a:lstStyle/>
          <a:p>
            <a:pPr marL="0" indent="0" algn="l">
              <a:buNone/>
            </a:pPr>
            <a:r>
              <a:rPr lang="en-US" sz="1400" b="1" dirty="0">
                <a:solidFill>
                  <a:srgbClr val="25323D"/>
                </a:solidFill>
                <a:latin typeface="Aptos" pitchFamily="34" charset="0"/>
                <a:ea typeface="Aptos" pitchFamily="34" charset="-122"/>
                <a:cs typeface="Aptos" pitchFamily="34" charset="-120"/>
              </a:rPr>
              <a:t>similar meaning</a:t>
            </a:r>
            <a:endParaRPr lang="en-US" sz="950" dirty="0"/>
          </a:p>
        </p:txBody>
      </p:sp>
      <p:sp>
        <p:nvSpPr>
          <p:cNvPr id="15" name="Text 13"/>
          <p:cNvSpPr/>
          <p:nvPr/>
        </p:nvSpPr>
        <p:spPr>
          <a:xfrm>
            <a:off x="5001768" y="2496312"/>
            <a:ext cx="6263640" cy="164592"/>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BERTScore and judge-style semantic similarity</a:t>
            </a:r>
            <a:endParaRPr lang="en-US" sz="820" dirty="0"/>
          </a:p>
        </p:txBody>
      </p:sp>
      <p:sp>
        <p:nvSpPr>
          <p:cNvPr id="16" name="Shape 14"/>
          <p:cNvSpPr/>
          <p:nvPr/>
        </p:nvSpPr>
        <p:spPr>
          <a:xfrm>
            <a:off x="475488" y="3090672"/>
            <a:ext cx="11064240" cy="512064"/>
          </a:xfrm>
          <a:prstGeom prst="roundRect">
            <a:avLst>
              <a:gd name="adj" fmla="val 10714"/>
            </a:avLst>
          </a:prstGeom>
          <a:solidFill>
            <a:srgbClr val="F2F6F7"/>
          </a:solidFill>
          <a:ln w="8890">
            <a:solidFill>
              <a:srgbClr val="E0A13A"/>
            </a:solidFill>
            <a:prstDash val="solid"/>
          </a:ln>
        </p:spPr>
        <p:txBody>
          <a:bodyPr/>
          <a:lstStyle/>
          <a:p>
            <a:endParaRPr lang="en-US"/>
          </a:p>
        </p:txBody>
      </p:sp>
      <p:sp>
        <p:nvSpPr>
          <p:cNvPr id="17" name="Text 15"/>
          <p:cNvSpPr/>
          <p:nvPr/>
        </p:nvSpPr>
        <p:spPr>
          <a:xfrm>
            <a:off x="640080" y="3209544"/>
            <a:ext cx="1965960" cy="164592"/>
          </a:xfrm>
          <a:prstGeom prst="rect">
            <a:avLst/>
          </a:prstGeom>
          <a:noFill/>
          <a:ln/>
        </p:spPr>
        <p:txBody>
          <a:bodyPr wrap="square" lIns="0" tIns="0" rIns="0" bIns="0" rtlCol="0" anchor="t"/>
          <a:lstStyle/>
          <a:p>
            <a:pPr marL="0" indent="0" algn="l">
              <a:buNone/>
            </a:pPr>
            <a:r>
              <a:rPr lang="en-US" sz="1400" b="1" dirty="0">
                <a:solidFill>
                  <a:srgbClr val="E0A13A"/>
                </a:solidFill>
                <a:latin typeface="Aptos" pitchFamily="34" charset="0"/>
                <a:ea typeface="Aptos" pitchFamily="34" charset="-122"/>
                <a:cs typeface="Aptos" pitchFamily="34" charset="-120"/>
              </a:rPr>
              <a:t>Intent preservation</a:t>
            </a:r>
            <a:endParaRPr lang="en-US" sz="950" dirty="0"/>
          </a:p>
        </p:txBody>
      </p:sp>
      <p:sp>
        <p:nvSpPr>
          <p:cNvPr id="18" name="Text 16"/>
          <p:cNvSpPr/>
          <p:nvPr/>
        </p:nvSpPr>
        <p:spPr>
          <a:xfrm>
            <a:off x="2807208" y="3209544"/>
            <a:ext cx="2057400" cy="164592"/>
          </a:xfrm>
          <a:prstGeom prst="rect">
            <a:avLst/>
          </a:prstGeom>
          <a:noFill/>
          <a:ln/>
        </p:spPr>
        <p:txBody>
          <a:bodyPr wrap="square" lIns="0" tIns="0" rIns="0" bIns="0" rtlCol="0" anchor="t"/>
          <a:lstStyle/>
          <a:p>
            <a:pPr marL="0" indent="0" algn="l">
              <a:buNone/>
            </a:pPr>
            <a:r>
              <a:rPr lang="en-US" sz="1400" b="1" dirty="0">
                <a:solidFill>
                  <a:srgbClr val="25323D"/>
                </a:solidFill>
                <a:latin typeface="Aptos" pitchFamily="34" charset="0"/>
                <a:ea typeface="Aptos" pitchFamily="34" charset="-122"/>
                <a:cs typeface="Aptos" pitchFamily="34" charset="-120"/>
              </a:rPr>
              <a:t>same question intent</a:t>
            </a:r>
            <a:endParaRPr lang="en-US" sz="950" dirty="0"/>
          </a:p>
        </p:txBody>
      </p:sp>
      <p:sp>
        <p:nvSpPr>
          <p:cNvPr id="19" name="Text 17"/>
          <p:cNvSpPr/>
          <p:nvPr/>
        </p:nvSpPr>
        <p:spPr>
          <a:xfrm>
            <a:off x="5001768" y="3209544"/>
            <a:ext cx="6263640" cy="164592"/>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Does the noisy or repaired question still point to the clean one?</a:t>
            </a:r>
            <a:endParaRPr lang="en-US" sz="820" dirty="0"/>
          </a:p>
        </p:txBody>
      </p:sp>
      <p:sp>
        <p:nvSpPr>
          <p:cNvPr id="20" name="Shape 18"/>
          <p:cNvSpPr/>
          <p:nvPr/>
        </p:nvSpPr>
        <p:spPr>
          <a:xfrm>
            <a:off x="475488" y="3803904"/>
            <a:ext cx="11064240" cy="512064"/>
          </a:xfrm>
          <a:prstGeom prst="roundRect">
            <a:avLst>
              <a:gd name="adj" fmla="val 10714"/>
            </a:avLst>
          </a:prstGeom>
          <a:solidFill>
            <a:srgbClr val="F2F6F7"/>
          </a:solidFill>
          <a:ln w="8890">
            <a:solidFill>
              <a:srgbClr val="C94C4C"/>
            </a:solidFill>
            <a:prstDash val="solid"/>
          </a:ln>
        </p:spPr>
        <p:txBody>
          <a:bodyPr/>
          <a:lstStyle/>
          <a:p>
            <a:endParaRPr lang="en-US"/>
          </a:p>
        </p:txBody>
      </p:sp>
      <p:sp>
        <p:nvSpPr>
          <p:cNvPr id="21" name="Text 19"/>
          <p:cNvSpPr/>
          <p:nvPr/>
        </p:nvSpPr>
        <p:spPr>
          <a:xfrm>
            <a:off x="640080" y="3922776"/>
            <a:ext cx="1965960" cy="164592"/>
          </a:xfrm>
          <a:prstGeom prst="rect">
            <a:avLst/>
          </a:prstGeom>
          <a:noFill/>
          <a:ln/>
        </p:spPr>
        <p:txBody>
          <a:bodyPr wrap="square" lIns="0" tIns="0" rIns="0" bIns="0" rtlCol="0" anchor="t"/>
          <a:lstStyle/>
          <a:p>
            <a:pPr marL="0" indent="0" algn="l">
              <a:buNone/>
            </a:pPr>
            <a:r>
              <a:rPr lang="en-US" sz="1400" b="1" dirty="0">
                <a:solidFill>
                  <a:srgbClr val="C94C4C"/>
                </a:solidFill>
                <a:latin typeface="Aptos" pitchFamily="34" charset="0"/>
                <a:ea typeface="Aptos" pitchFamily="34" charset="-122"/>
                <a:cs typeface="Aptos" pitchFamily="34" charset="-120"/>
              </a:rPr>
              <a:t>Domain metrics</a:t>
            </a:r>
            <a:endParaRPr lang="en-US" sz="950" dirty="0"/>
          </a:p>
        </p:txBody>
      </p:sp>
      <p:sp>
        <p:nvSpPr>
          <p:cNvPr id="22" name="Text 20"/>
          <p:cNvSpPr/>
          <p:nvPr/>
        </p:nvSpPr>
        <p:spPr>
          <a:xfrm>
            <a:off x="2807208" y="3922776"/>
            <a:ext cx="2057400" cy="164592"/>
          </a:xfrm>
          <a:prstGeom prst="rect">
            <a:avLst/>
          </a:prstGeom>
          <a:noFill/>
          <a:ln/>
        </p:spPr>
        <p:txBody>
          <a:bodyPr wrap="square" lIns="0" tIns="0" rIns="0" bIns="0" rtlCol="0" anchor="t"/>
          <a:lstStyle/>
          <a:p>
            <a:pPr marL="0" indent="0" algn="l">
              <a:buNone/>
            </a:pPr>
            <a:r>
              <a:rPr lang="en-US" sz="1400" b="1" dirty="0">
                <a:solidFill>
                  <a:srgbClr val="25323D"/>
                </a:solidFill>
                <a:latin typeface="Aptos" pitchFamily="34" charset="0"/>
                <a:ea typeface="Aptos" pitchFamily="34" charset="-122"/>
                <a:cs typeface="Aptos" pitchFamily="34" charset="-120"/>
              </a:rPr>
              <a:t>medical content retained</a:t>
            </a:r>
            <a:endParaRPr lang="en-US" sz="950" dirty="0"/>
          </a:p>
        </p:txBody>
      </p:sp>
      <p:sp>
        <p:nvSpPr>
          <p:cNvPr id="23" name="Text 21"/>
          <p:cNvSpPr/>
          <p:nvPr/>
        </p:nvSpPr>
        <p:spPr>
          <a:xfrm>
            <a:off x="5001768" y="3922776"/>
            <a:ext cx="6263640" cy="164592"/>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med_coverage, med_precision, med_f1 from a MedQuAD-derived lexicon</a:t>
            </a:r>
            <a:endParaRPr lang="en-US" sz="820" dirty="0"/>
          </a:p>
        </p:txBody>
      </p:sp>
      <p:sp>
        <p:nvSpPr>
          <p:cNvPr id="24" name="Shape 22"/>
          <p:cNvSpPr/>
          <p:nvPr/>
        </p:nvSpPr>
        <p:spPr>
          <a:xfrm>
            <a:off x="475488" y="4517136"/>
            <a:ext cx="11064240" cy="512064"/>
          </a:xfrm>
          <a:prstGeom prst="roundRect">
            <a:avLst>
              <a:gd name="adj" fmla="val 10714"/>
            </a:avLst>
          </a:prstGeom>
          <a:solidFill>
            <a:srgbClr val="F2F6F7"/>
          </a:solidFill>
          <a:ln w="8890">
            <a:solidFill>
              <a:srgbClr val="2D9D78"/>
            </a:solidFill>
            <a:prstDash val="solid"/>
          </a:ln>
        </p:spPr>
        <p:txBody>
          <a:bodyPr/>
          <a:lstStyle/>
          <a:p>
            <a:endParaRPr lang="en-US"/>
          </a:p>
        </p:txBody>
      </p:sp>
      <p:sp>
        <p:nvSpPr>
          <p:cNvPr id="25" name="Text 23"/>
          <p:cNvSpPr/>
          <p:nvPr/>
        </p:nvSpPr>
        <p:spPr>
          <a:xfrm>
            <a:off x="640080" y="4636008"/>
            <a:ext cx="1965960" cy="164592"/>
          </a:xfrm>
          <a:prstGeom prst="rect">
            <a:avLst/>
          </a:prstGeom>
          <a:noFill/>
          <a:ln/>
        </p:spPr>
        <p:txBody>
          <a:bodyPr wrap="square" lIns="0" tIns="0" rIns="0" bIns="0" rtlCol="0" anchor="t"/>
          <a:lstStyle/>
          <a:p>
            <a:pPr marL="0" indent="0" algn="l">
              <a:buNone/>
            </a:pPr>
            <a:r>
              <a:rPr lang="en-US" sz="1400" b="1" dirty="0">
                <a:solidFill>
                  <a:srgbClr val="2D9D78"/>
                </a:solidFill>
                <a:latin typeface="Aptos" pitchFamily="34" charset="0"/>
                <a:ea typeface="Aptos" pitchFamily="34" charset="-122"/>
                <a:cs typeface="Aptos" pitchFamily="34" charset="-120"/>
              </a:rPr>
              <a:t>G-Eval</a:t>
            </a:r>
            <a:endParaRPr lang="en-US" sz="950" dirty="0"/>
          </a:p>
        </p:txBody>
      </p:sp>
      <p:sp>
        <p:nvSpPr>
          <p:cNvPr id="26" name="Text 24"/>
          <p:cNvSpPr/>
          <p:nvPr/>
        </p:nvSpPr>
        <p:spPr>
          <a:xfrm>
            <a:off x="2807208" y="4636008"/>
            <a:ext cx="2057400" cy="164592"/>
          </a:xfrm>
          <a:prstGeom prst="rect">
            <a:avLst/>
          </a:prstGeom>
          <a:noFill/>
          <a:ln/>
        </p:spPr>
        <p:txBody>
          <a:bodyPr wrap="square" lIns="0" tIns="0" rIns="0" bIns="0" rtlCol="0" anchor="t"/>
          <a:lstStyle/>
          <a:p>
            <a:pPr marL="0" indent="0" algn="l">
              <a:buNone/>
            </a:pPr>
            <a:r>
              <a:rPr lang="en-US" sz="1400" b="1" dirty="0">
                <a:solidFill>
                  <a:srgbClr val="25323D"/>
                </a:solidFill>
                <a:latin typeface="Aptos" pitchFamily="34" charset="0"/>
                <a:ea typeface="Aptos" pitchFamily="34" charset="-122"/>
                <a:cs typeface="Aptos" pitchFamily="34" charset="-120"/>
              </a:rPr>
              <a:t>judged answer quality</a:t>
            </a:r>
            <a:endParaRPr lang="en-US" sz="950" dirty="0"/>
          </a:p>
        </p:txBody>
      </p:sp>
      <p:sp>
        <p:nvSpPr>
          <p:cNvPr id="27" name="Text 25"/>
          <p:cNvSpPr/>
          <p:nvPr/>
        </p:nvSpPr>
        <p:spPr>
          <a:xfrm>
            <a:off x="5001768" y="4663440"/>
            <a:ext cx="6428232" cy="192024"/>
          </a:xfrm>
          <a:prstGeom prst="rect">
            <a:avLst/>
          </a:prstGeom>
          <a:noFill/>
          <a:ln/>
        </p:spPr>
        <p:txBody>
          <a:bodyPr wrap="square" lIns="0" tIns="0" rIns="0" bIns="0" rtlCol="0" anchor="t">
            <a:normAutofit fontScale="92500" lnSpcReduction="10000"/>
          </a:bodyPr>
          <a:lstStyle/>
          <a:p>
            <a:pPr marL="0" indent="0" algn="l">
              <a:buNone/>
            </a:pPr>
            <a:r>
              <a:rPr lang="en-US" sz="1400" dirty="0">
                <a:solidFill>
                  <a:srgbClr val="52616B"/>
                </a:solidFill>
                <a:latin typeface="Aptos" pitchFamily="34" charset="0"/>
                <a:ea typeface="Aptos" pitchFamily="34" charset="-122"/>
                <a:cs typeface="Aptos" pitchFamily="34" charset="-120"/>
              </a:rPr>
              <a:t>GPT-5.4-mini sees question, reference answer, and model answer, then scores 1-5</a:t>
            </a:r>
            <a:endParaRPr lang="en-US" sz="820" dirty="0"/>
          </a:p>
        </p:txBody>
      </p:sp>
      <p:sp>
        <p:nvSpPr>
          <p:cNvPr id="28" name="Text 26"/>
          <p:cNvSpPr/>
          <p:nvPr/>
        </p:nvSpPr>
        <p:spPr>
          <a:xfrm>
            <a:off x="475488" y="5532120"/>
            <a:ext cx="10607040" cy="402336"/>
          </a:xfrm>
          <a:prstGeom prst="rect">
            <a:avLst/>
          </a:prstGeom>
          <a:noFill/>
          <a:ln/>
        </p:spPr>
        <p:txBody>
          <a:bodyPr wrap="square" lIns="635" tIns="635" rIns="635" bIns="635"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Key reading rule: repair can clean up the question while still hurting the answer. That is why the deck pairs intent metrics with answer-quality and medical-content metrics.</a:t>
            </a:r>
            <a:endParaRPr lang="en-US" sz="1300" dirty="0"/>
          </a:p>
        </p:txBody>
      </p:sp>
      <p:sp>
        <p:nvSpPr>
          <p:cNvPr id="29" name="Oval 28"/>
          <p:cNvSpPr/>
          <p:nvPr/>
        </p:nvSpPr>
        <p:spPr>
          <a:xfrm>
            <a:off x="475488" y="274320"/>
            <a:ext cx="384048" cy="384048"/>
          </a:xfrm>
          <a:prstGeom prst="ellipse">
            <a:avLst/>
          </a:prstGeom>
          <a:solidFill>
            <a:srgbClr val="127C7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ptos"/>
              </a:rPr>
              <a:t>06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978408" y="320040"/>
            <a:ext cx="5029200" cy="210312"/>
          </a:xfrm>
          <a:prstGeom prst="rect">
            <a:avLst/>
          </a:prstGeom>
          <a:noFill/>
          <a:ln/>
        </p:spPr>
        <p:txBody>
          <a:bodyPr wrap="square" lIns="635" tIns="635" rIns="635" bIns="635" rtlCol="0" anchor="t"/>
          <a:lstStyle/>
          <a:p>
            <a:pPr marL="0" indent="0" algn="l">
              <a:buNone/>
            </a:pPr>
            <a:r>
              <a:rPr sz="2000" b="1">
                <a:solidFill>
                  <a:srgbClr val="25323D"/>
                </a:solidFill>
                <a:latin typeface="Aptos"/>
              </a:rPr>
              <a:t>Headline result</a:t>
            </a:r>
            <a:endParaRPr lang="en-US" sz="780" dirty="0"/>
          </a:p>
        </p:txBody>
      </p:sp>
      <p:sp>
        <p:nvSpPr>
          <p:cNvPr id="3" name="Text 1"/>
          <p:cNvSpPr/>
          <p:nvPr/>
        </p:nvSpPr>
        <p:spPr>
          <a:xfrm>
            <a:off x="475488" y="621792"/>
            <a:ext cx="11247120" cy="566928"/>
          </a:xfrm>
          <a:prstGeom prst="rect">
            <a:avLst/>
          </a:prstGeom>
          <a:noFill/>
          <a:ln/>
        </p:spPr>
        <p:txBody>
          <a:bodyPr wrap="square" lIns="635" tIns="635" rIns="635" bIns="635" rtlCol="0" anchor="t">
            <a:normAutofit/>
          </a:bodyPr>
          <a:lstStyle/>
          <a:p>
            <a:pPr marL="0" indent="0" algn="l">
              <a:buNone/>
            </a:pPr>
            <a:r>
              <a:rPr lang="en-US" sz="2600" b="1" dirty="0">
                <a:solidFill>
                  <a:srgbClr val="25323D"/>
                </a:solidFill>
                <a:latin typeface="Aptos" pitchFamily="34" charset="0"/>
                <a:ea typeface="Aptos" pitchFamily="34" charset="-122"/>
                <a:cs typeface="Aptos" pitchFamily="34" charset="-120"/>
              </a:rPr>
              <a:t>The n=50 pilot does not show systematic repair improvement.</a:t>
            </a:r>
            <a:endParaRPr lang="en-US" sz="2400" dirty="0"/>
          </a:p>
        </p:txBody>
      </p:sp>
      <p:sp>
        <p:nvSpPr>
          <p:cNvPr id="4" name="Text 2"/>
          <p:cNvSpPr/>
          <p:nvPr/>
        </p:nvSpPr>
        <p:spPr>
          <a:xfrm>
            <a:off x="502920" y="1508760"/>
            <a:ext cx="9875520" cy="310896"/>
          </a:xfrm>
          <a:prstGeom prst="rect">
            <a:avLst/>
          </a:prstGeom>
          <a:noFill/>
          <a:ln/>
        </p:spPr>
        <p:txBody>
          <a:bodyPr wrap="square" lIns="635" tIns="635" rIns="635" bIns="635"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Average G-Eval falls after noise; repair does not consistently recover it.</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100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1000" dirty="0">
                <a:solidFill>
                  <a:srgbClr val="52616B"/>
                </a:solidFill>
                <a:latin typeface="Aptos" pitchFamily="34" charset="0"/>
                <a:ea typeface="Aptos" pitchFamily="34" charset="-122"/>
                <a:cs typeface="Aptos" pitchFamily="34" charset="-120"/>
              </a:rPr>
              <a:t>8 / 19</a:t>
            </a:r>
            <a:endParaRPr lang="en-US" sz="680" dirty="0"/>
          </a:p>
        </p:txBody>
      </p:sp>
      <p:graphicFrame>
        <p:nvGraphicFramePr>
          <p:cNvPr id="8" name="Chart 0"/>
          <p:cNvGraphicFramePr/>
          <p:nvPr/>
        </p:nvGraphicFramePr>
        <p:xfrm>
          <a:off x="457200" y="1874519"/>
          <a:ext cx="786384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 10"/>
          <p:cNvSpPr/>
          <p:nvPr/>
        </p:nvSpPr>
        <p:spPr>
          <a:xfrm>
            <a:off x="548640" y="5989320"/>
            <a:ext cx="10515600" cy="411480"/>
          </a:xfrm>
          <a:prstGeom prst="rect">
            <a:avLst/>
          </a:prstGeom>
          <a:noFill/>
          <a:ln/>
        </p:spPr>
        <p:txBody>
          <a:bodyPr wrap="square" lIns="635" tIns="635" rIns="635" bIns="635" rtlCol="0" anchor="t">
            <a:normAutofit/>
          </a:bodyPr>
          <a:lstStyle/>
          <a:p>
            <a:pPr marL="0" indent="0" algn="l">
              <a:buNone/>
            </a:pPr>
            <a:r>
              <a:rPr lang="en-US" sz="1200" i="1" dirty="0">
                <a:solidFill>
                  <a:srgbClr val="52616B"/>
                </a:solidFill>
                <a:latin typeface="Aptos" pitchFamily="34" charset="0"/>
                <a:ea typeface="Aptos" pitchFamily="34" charset="-122"/>
                <a:cs typeface="Aptos" pitchFamily="34" charset="-120"/>
              </a:rPr>
              <a:t>Interpretation: repair is not a blanket safety layer. It sometimes helps, but the average n=50 answer-quality signal stays mixed.</a:t>
            </a:r>
            <a:endParaRPr lang="en-US" sz="920" dirty="0"/>
          </a:p>
        </p:txBody>
      </p:sp>
      <p:sp>
        <p:nvSpPr>
          <p:cNvPr id="14" name="Oval 13"/>
          <p:cNvSpPr/>
          <p:nvPr/>
        </p:nvSpPr>
        <p:spPr>
          <a:xfrm>
            <a:off x="475488" y="274320"/>
            <a:ext cx="384048" cy="384048"/>
          </a:xfrm>
          <a:prstGeom prst="ellipse">
            <a:avLst/>
          </a:prstGeom>
          <a:solidFill>
            <a:srgbClr val="127C7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ptos"/>
              </a:rPr>
              <a:t>07</a:t>
            </a:r>
          </a:p>
        </p:txBody>
      </p:sp>
      <p:sp>
        <p:nvSpPr>
          <p:cNvPr id="15" name="Rounded Rectangle 14"/>
          <p:cNvSpPr/>
          <p:nvPr/>
        </p:nvSpPr>
        <p:spPr>
          <a:xfrm>
            <a:off x="8549640" y="1920240"/>
            <a:ext cx="3246120" cy="2194560"/>
          </a:xfrm>
          <a:prstGeom prst="roundRect">
            <a:avLst/>
          </a:prstGeom>
          <a:solidFill>
            <a:srgbClr val="FDF6E7"/>
          </a:solidFill>
          <a:ln w="19050">
            <a:solidFill>
              <a:srgbClr val="E0A13A"/>
            </a:solidFill>
          </a:ln>
        </p:spPr>
        <p:style>
          <a:lnRef idx="1">
            <a:schemeClr val="accent1"/>
          </a:lnRef>
          <a:fillRef idx="3">
            <a:schemeClr val="accent1"/>
          </a:fillRef>
          <a:effectRef idx="2">
            <a:schemeClr val="accent1"/>
          </a:effectRef>
          <a:fontRef idx="minor">
            <a:schemeClr val="lt1"/>
          </a:fontRef>
        </p:style>
        <p:txBody>
          <a:bodyPr wrap="square" lIns="164592" tIns="137160" rIns="164592" bIns="137160" rtlCol="0" anchor="ctr"/>
          <a:lstStyle/>
          <a:p>
            <a:pPr algn="ctr"/>
            <a:r>
              <a:rPr sz="1400" b="1" i="0" dirty="0">
                <a:solidFill>
                  <a:srgbClr val="E0A13A"/>
                </a:solidFill>
                <a:latin typeface="Aptos"/>
              </a:rPr>
              <a:t>Mode averages</a:t>
            </a:r>
          </a:p>
          <a:p>
            <a:r>
              <a:rPr sz="1200" b="1" i="0" dirty="0" err="1">
                <a:solidFill>
                  <a:srgbClr val="25323D"/>
                </a:solidFill>
                <a:latin typeface="Aptos"/>
              </a:rPr>
              <a:t>fixed_repair</a:t>
            </a:r>
            <a:endParaRPr sz="1200" b="1" i="0" dirty="0">
              <a:solidFill>
                <a:srgbClr val="25323D"/>
              </a:solidFill>
              <a:latin typeface="Aptos"/>
            </a:endParaRPr>
          </a:p>
          <a:p>
            <a:r>
              <a:rPr sz="1200" b="0" i="0" dirty="0">
                <a:solidFill>
                  <a:srgbClr val="52616B"/>
                </a:solidFill>
                <a:latin typeface="Aptos"/>
              </a:rPr>
              <a:t>3.73 → 3.47 → 3.35</a:t>
            </a:r>
          </a:p>
          <a:p>
            <a:r>
              <a:rPr sz="1200" b="1" i="0" dirty="0" err="1">
                <a:solidFill>
                  <a:srgbClr val="25323D"/>
                </a:solidFill>
                <a:latin typeface="Aptos"/>
              </a:rPr>
              <a:t>self_repair</a:t>
            </a:r>
            <a:endParaRPr sz="1200" b="1" i="0" dirty="0">
              <a:solidFill>
                <a:srgbClr val="25323D"/>
              </a:solidFill>
              <a:latin typeface="Aptos"/>
            </a:endParaRPr>
          </a:p>
          <a:p>
            <a:r>
              <a:rPr sz="1200" b="0" i="0" dirty="0">
                <a:solidFill>
                  <a:srgbClr val="52616B"/>
                </a:solidFill>
                <a:latin typeface="Aptos"/>
              </a:rPr>
              <a:t>3.73 → 3.47 → 3.41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78408" y="320040"/>
            <a:ext cx="5029200" cy="210312"/>
          </a:xfrm>
          <a:prstGeom prst="rect">
            <a:avLst/>
          </a:prstGeom>
          <a:noFill/>
          <a:ln/>
        </p:spPr>
        <p:txBody>
          <a:bodyPr wrap="square" lIns="635" tIns="635" rIns="635" bIns="635" rtlCol="0" anchor="t"/>
          <a:lstStyle/>
          <a:p>
            <a:pPr marL="0" indent="0" algn="l">
              <a:buNone/>
            </a:pPr>
            <a:r>
              <a:rPr sz="2000" b="1">
                <a:solidFill>
                  <a:srgbClr val="25323D"/>
                </a:solidFill>
                <a:latin typeface="Aptos"/>
              </a:rPr>
              <a:t>Model comparison</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25323D"/>
                </a:solidFill>
                <a:latin typeface="Aptos" pitchFamily="34" charset="0"/>
                <a:ea typeface="Aptos" pitchFamily="34" charset="-122"/>
                <a:cs typeface="Aptos" pitchFamily="34" charset="-120"/>
              </a:rPr>
              <a:t>Which models recover G-Eval after repair?</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Repaired-minus-noisy G-Eval varies sharply by model and by repair mode.</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100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1000" dirty="0">
                <a:solidFill>
                  <a:srgbClr val="52616B"/>
                </a:solidFill>
                <a:latin typeface="Aptos" pitchFamily="34" charset="0"/>
                <a:ea typeface="Aptos" pitchFamily="34" charset="-122"/>
                <a:cs typeface="Aptos" pitchFamily="34" charset="-120"/>
              </a:rPr>
              <a:t>9 / 19</a:t>
            </a:r>
            <a:endParaRPr lang="en-US" sz="680" dirty="0"/>
          </a:p>
        </p:txBody>
      </p:sp>
      <p:sp>
        <p:nvSpPr>
          <p:cNvPr id="9" name="Shape 6"/>
          <p:cNvSpPr/>
          <p:nvPr/>
        </p:nvSpPr>
        <p:spPr>
          <a:xfrm>
            <a:off x="8275320" y="1828800"/>
            <a:ext cx="3063240" cy="2880360"/>
          </a:xfrm>
          <a:prstGeom prst="roundRect">
            <a:avLst>
              <a:gd name="adj" fmla="val 1905"/>
            </a:avLst>
          </a:prstGeom>
          <a:solidFill>
            <a:srgbClr val="F2F6F7"/>
          </a:solidFill>
          <a:ln w="8890">
            <a:solidFill>
              <a:srgbClr val="D9E2E8"/>
            </a:solidFill>
            <a:prstDash val="solid"/>
          </a:ln>
        </p:spPr>
        <p:txBody>
          <a:bodyPr/>
          <a:lstStyle/>
          <a:p>
            <a:endParaRPr lang="en-US"/>
          </a:p>
        </p:txBody>
      </p:sp>
      <p:sp>
        <p:nvSpPr>
          <p:cNvPr id="10" name="Text 7"/>
          <p:cNvSpPr/>
          <p:nvPr/>
        </p:nvSpPr>
        <p:spPr>
          <a:xfrm>
            <a:off x="8485632" y="2057400"/>
            <a:ext cx="1920240" cy="219456"/>
          </a:xfrm>
          <a:prstGeom prst="rect">
            <a:avLst/>
          </a:prstGeom>
          <a:noFill/>
          <a:ln/>
        </p:spPr>
        <p:txBody>
          <a:bodyPr wrap="square" lIns="0" tIns="0" rIns="0" bIns="0" rtlCol="0" anchor="t"/>
          <a:lstStyle/>
          <a:p>
            <a:pPr marL="0" indent="0" algn="l">
              <a:buNone/>
            </a:pPr>
            <a:r>
              <a:rPr lang="en-US" sz="1400" b="1" dirty="0">
                <a:solidFill>
                  <a:srgbClr val="25323D"/>
                </a:solidFill>
                <a:latin typeface="Aptos" pitchFamily="34" charset="0"/>
                <a:ea typeface="Aptos" pitchFamily="34" charset="-122"/>
                <a:cs typeface="Aptos" pitchFamily="34" charset="-120"/>
              </a:rPr>
              <a:t>What stands out</a:t>
            </a:r>
            <a:endParaRPr lang="en-US" sz="1300" dirty="0"/>
          </a:p>
        </p:txBody>
      </p:sp>
      <p:sp>
        <p:nvSpPr>
          <p:cNvPr id="11" name="Text 8"/>
          <p:cNvSpPr/>
          <p:nvPr/>
        </p:nvSpPr>
        <p:spPr>
          <a:xfrm>
            <a:off x="8485632" y="2487168"/>
            <a:ext cx="2560320" cy="1572768"/>
          </a:xfrm>
          <a:prstGeom prst="rect">
            <a:avLst/>
          </a:prstGeom>
          <a:noFill/>
          <a:ln/>
        </p:spPr>
        <p:txBody>
          <a:bodyPr wrap="square" lIns="635" tIns="635" rIns="635" bIns="635"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Self-repair has two large positive outliers: Qwen3 (+1.32) and Mixtral (+0.66).</a:t>
            </a:r>
            <a:endParaRPr lang="en-US" sz="880" dirty="0"/>
          </a:p>
          <a:p>
            <a:pPr marL="0" indent="0" algn="l">
              <a:buNone/>
            </a:pPr>
            <a:endParaRPr lang="en-US" sz="880" dirty="0"/>
          </a:p>
          <a:p>
            <a:pPr marL="0" indent="0" algn="l">
              <a:buNone/>
            </a:pPr>
            <a:r>
              <a:rPr lang="en-US" sz="1400" dirty="0">
                <a:solidFill>
                  <a:srgbClr val="52616B"/>
                </a:solidFill>
                <a:latin typeface="Aptos" pitchFamily="34" charset="0"/>
                <a:ea typeface="Aptos" pitchFamily="34" charset="-122"/>
                <a:cs typeface="Aptos" pitchFamily="34" charset="-120"/>
              </a:rPr>
              <a:t>Most other models are flat or worse after repair.</a:t>
            </a:r>
            <a:endParaRPr lang="en-US" sz="880" dirty="0"/>
          </a:p>
          <a:p>
            <a:pPr marL="0" indent="0" algn="l">
              <a:buNone/>
            </a:pPr>
            <a:endParaRPr lang="en-US" sz="880" dirty="0"/>
          </a:p>
          <a:p>
            <a:pPr marL="0" indent="0" algn="l">
              <a:buNone/>
            </a:pPr>
            <a:r>
              <a:rPr lang="en-US" sz="1400" dirty="0">
                <a:solidFill>
                  <a:srgbClr val="52616B"/>
                </a:solidFill>
                <a:latin typeface="Aptos" pitchFamily="34" charset="0"/>
                <a:ea typeface="Aptos" pitchFamily="34" charset="-122"/>
                <a:cs typeface="Aptos" pitchFamily="34" charset="-120"/>
              </a:rPr>
              <a:t>Fixed repair is more controlled but has smaller gains: only Qwen3 and BioMistral improve G-Eval.</a:t>
            </a:r>
            <a:endParaRPr lang="en-US" sz="880" dirty="0"/>
          </a:p>
        </p:txBody>
      </p:sp>
      <p:sp>
        <p:nvSpPr>
          <p:cNvPr id="12" name="Oval 11"/>
          <p:cNvSpPr/>
          <p:nvPr/>
        </p:nvSpPr>
        <p:spPr>
          <a:xfrm>
            <a:off x="475488" y="274320"/>
            <a:ext cx="384048" cy="384048"/>
          </a:xfrm>
          <a:prstGeom prst="ellipse">
            <a:avLst/>
          </a:prstGeom>
          <a:solidFill>
            <a:srgbClr val="127C7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ptos"/>
              </a:rPr>
              <a:t>08</a:t>
            </a:r>
          </a:p>
        </p:txBody>
      </p:sp>
      <p:graphicFrame>
        <p:nvGraphicFramePr>
          <p:cNvPr id="13" name="Chart 12"/>
          <p:cNvGraphicFramePr>
            <a:graphicFrameLocks noGrp="1"/>
          </p:cNvGraphicFramePr>
          <p:nvPr/>
        </p:nvGraphicFramePr>
        <p:xfrm>
          <a:off x="475488" y="1600200"/>
          <a:ext cx="7543800" cy="443484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978408" y="320040"/>
            <a:ext cx="5029200" cy="210312"/>
          </a:xfrm>
          <a:prstGeom prst="rect">
            <a:avLst/>
          </a:prstGeom>
          <a:noFill/>
          <a:ln/>
        </p:spPr>
        <p:txBody>
          <a:bodyPr wrap="square" lIns="635" tIns="635" rIns="635" bIns="635" rtlCol="0" anchor="t"/>
          <a:lstStyle/>
          <a:p>
            <a:pPr marL="0" indent="0" algn="l">
              <a:buNone/>
            </a:pPr>
            <a:r>
              <a:rPr sz="2000" b="1">
                <a:solidFill>
                  <a:srgbClr val="25323D"/>
                </a:solidFill>
                <a:latin typeface="Aptos"/>
              </a:rPr>
              <a:t>Noise breakdown</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25323D"/>
                </a:solidFill>
                <a:latin typeface="Aptos" pitchFamily="34" charset="0"/>
                <a:ea typeface="Aptos" pitchFamily="34" charset="-122"/>
                <a:cs typeface="Aptos" pitchFamily="34" charset="-120"/>
              </a:rPr>
              <a:t>Repair behaves differently by noise type.</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Bars show repaired-minus-noisy G-Eval. Values above zero mean repair helped answer quality.</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100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1000" dirty="0">
                <a:solidFill>
                  <a:srgbClr val="52616B"/>
                </a:solidFill>
                <a:latin typeface="Aptos" pitchFamily="34" charset="0"/>
                <a:ea typeface="Aptos" pitchFamily="34" charset="-122"/>
                <a:cs typeface="Aptos" pitchFamily="34" charset="-120"/>
              </a:rPr>
              <a:t>10 / 19</a:t>
            </a:r>
            <a:endParaRPr lang="en-US" sz="680" dirty="0"/>
          </a:p>
        </p:txBody>
      </p:sp>
      <p:sp>
        <p:nvSpPr>
          <p:cNvPr id="9" name="Text 6"/>
          <p:cNvSpPr/>
          <p:nvPr/>
        </p:nvSpPr>
        <p:spPr>
          <a:xfrm>
            <a:off x="8366760" y="1874520"/>
            <a:ext cx="1097280" cy="219456"/>
          </a:xfrm>
          <a:prstGeom prst="rect">
            <a:avLst/>
          </a:prstGeom>
          <a:noFill/>
          <a:ln/>
        </p:spPr>
        <p:txBody>
          <a:bodyPr wrap="square" lIns="0" tIns="0" rIns="0" bIns="0" rtlCol="0" anchor="t"/>
          <a:lstStyle/>
          <a:p>
            <a:pPr marL="0" indent="0" algn="l">
              <a:buNone/>
            </a:pPr>
            <a:r>
              <a:rPr lang="en-US" sz="1400" b="1" dirty="0">
                <a:solidFill>
                  <a:srgbClr val="25323D"/>
                </a:solidFill>
                <a:latin typeface="Aptos" pitchFamily="34" charset="0"/>
                <a:ea typeface="Aptos" pitchFamily="34" charset="-122"/>
                <a:cs typeface="Aptos" pitchFamily="34" charset="-120"/>
              </a:rPr>
              <a:t>Reading</a:t>
            </a:r>
            <a:endParaRPr lang="en-US" sz="1300" dirty="0"/>
          </a:p>
        </p:txBody>
      </p:sp>
      <p:sp>
        <p:nvSpPr>
          <p:cNvPr id="10" name="Text 7"/>
          <p:cNvSpPr/>
          <p:nvPr/>
        </p:nvSpPr>
        <p:spPr>
          <a:xfrm>
            <a:off x="8366760" y="2267712"/>
            <a:ext cx="2743200" cy="1828800"/>
          </a:xfrm>
          <a:prstGeom prst="rect">
            <a:avLst/>
          </a:prstGeom>
          <a:noFill/>
          <a:ln/>
        </p:spPr>
        <p:txBody>
          <a:bodyPr wrap="square" lIns="635" tIns="635" rIns="635" bIns="635"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Self-repair helps typos/grammar and incomplete questions slightly on average.</a:t>
            </a:r>
            <a:endParaRPr lang="en-US" sz="920" dirty="0"/>
          </a:p>
          <a:p>
            <a:pPr marL="0" indent="0" algn="l">
              <a:buNone/>
            </a:pPr>
            <a:endParaRPr lang="en-US" sz="920" dirty="0"/>
          </a:p>
          <a:p>
            <a:pPr marL="0" indent="0" algn="l">
              <a:buNone/>
            </a:pPr>
            <a:r>
              <a:rPr lang="en-US" sz="1400" dirty="0">
                <a:solidFill>
                  <a:srgbClr val="52616B"/>
                </a:solidFill>
                <a:latin typeface="Aptos" pitchFamily="34" charset="0"/>
                <a:ea typeface="Aptos" pitchFamily="34" charset="-122"/>
                <a:cs typeface="Aptos" pitchFamily="34" charset="-120"/>
              </a:rPr>
              <a:t>Layperson phrasing and overgeneralization remain difficult: repair often preserves or amplifies the wrong framing.</a:t>
            </a:r>
            <a:endParaRPr lang="en-US" sz="920" dirty="0"/>
          </a:p>
          <a:p>
            <a:pPr marL="0" indent="0" algn="l">
              <a:buNone/>
            </a:pPr>
            <a:endParaRPr lang="en-US" sz="920" dirty="0"/>
          </a:p>
          <a:p>
            <a:pPr marL="0" indent="0" algn="l">
              <a:buNone/>
            </a:pPr>
            <a:r>
              <a:rPr lang="en-US" sz="1400" dirty="0">
                <a:solidFill>
                  <a:srgbClr val="52616B"/>
                </a:solidFill>
                <a:latin typeface="Aptos" pitchFamily="34" charset="0"/>
                <a:ea typeface="Aptos" pitchFamily="34" charset="-122"/>
                <a:cs typeface="Aptos" pitchFamily="34" charset="-120"/>
              </a:rPr>
              <a:t>Averages hide examples where repair helps strongly and examples where it fails completely.</a:t>
            </a:r>
            <a:endParaRPr lang="en-US" sz="920" dirty="0"/>
          </a:p>
        </p:txBody>
      </p:sp>
      <p:sp>
        <p:nvSpPr>
          <p:cNvPr id="11" name="Oval 10"/>
          <p:cNvSpPr/>
          <p:nvPr/>
        </p:nvSpPr>
        <p:spPr>
          <a:xfrm>
            <a:off x="475488" y="274320"/>
            <a:ext cx="384048" cy="384048"/>
          </a:xfrm>
          <a:prstGeom prst="ellipse">
            <a:avLst/>
          </a:prstGeom>
          <a:solidFill>
            <a:srgbClr val="127C7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ptos"/>
              </a:rPr>
              <a:t>09</a:t>
            </a:r>
          </a:p>
        </p:txBody>
      </p:sp>
      <p:graphicFrame>
        <p:nvGraphicFramePr>
          <p:cNvPr id="12" name="Chart 11"/>
          <p:cNvGraphicFramePr>
            <a:graphicFrameLocks noGrp="1"/>
          </p:cNvGraphicFramePr>
          <p:nvPr/>
        </p:nvGraphicFramePr>
        <p:xfrm>
          <a:off x="475488" y="1627632"/>
          <a:ext cx="7680960" cy="438912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78408" y="320040"/>
            <a:ext cx="5029200" cy="210312"/>
          </a:xfrm>
          <a:prstGeom prst="rect">
            <a:avLst/>
          </a:prstGeom>
          <a:noFill/>
          <a:ln/>
        </p:spPr>
        <p:txBody>
          <a:bodyPr wrap="square" lIns="635" tIns="635" rIns="635" bIns="635" rtlCol="0" anchor="t"/>
          <a:lstStyle/>
          <a:p>
            <a:pPr marL="0" indent="0" algn="l">
              <a:buNone/>
            </a:pPr>
            <a:r>
              <a:rPr sz="2000" b="1">
                <a:solidFill>
                  <a:srgbClr val="25323D"/>
                </a:solidFill>
                <a:latin typeface="Aptos"/>
              </a:rPr>
              <a:t>Metric tension</a:t>
            </a:r>
            <a:endParaRPr lang="en-US" sz="780" dirty="0"/>
          </a:p>
        </p:txBody>
      </p:sp>
      <p:sp>
        <p:nvSpPr>
          <p:cNvPr id="3" name="Text 1"/>
          <p:cNvSpPr/>
          <p:nvPr/>
        </p:nvSpPr>
        <p:spPr>
          <a:xfrm>
            <a:off x="475488" y="621792"/>
            <a:ext cx="11247120" cy="566928"/>
          </a:xfrm>
          <a:prstGeom prst="rect">
            <a:avLst/>
          </a:prstGeom>
          <a:noFill/>
          <a:ln/>
        </p:spPr>
        <p:txBody>
          <a:bodyPr wrap="square" lIns="635" tIns="635" rIns="635" bIns="635" rtlCol="0" anchor="t">
            <a:normAutofit/>
          </a:bodyPr>
          <a:lstStyle/>
          <a:p>
            <a:pPr marL="0" indent="0" algn="l">
              <a:buNone/>
            </a:pPr>
            <a:r>
              <a:rPr lang="en-US" sz="2400" b="1" dirty="0">
                <a:solidFill>
                  <a:srgbClr val="25323D"/>
                </a:solidFill>
                <a:latin typeface="Aptos" pitchFamily="34" charset="0"/>
                <a:ea typeface="Aptos" pitchFamily="34" charset="-122"/>
                <a:cs typeface="Aptos" pitchFamily="34" charset="-120"/>
              </a:rPr>
              <a:t>Repair cleans up intent more reliably than it improves answers.</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Across 11 models, intent preservation improves everywhere, but answer and domain metrics often move the other way.</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100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1000" dirty="0">
                <a:solidFill>
                  <a:srgbClr val="52616B"/>
                </a:solidFill>
                <a:latin typeface="Aptos" pitchFamily="34" charset="0"/>
                <a:ea typeface="Aptos" pitchFamily="34" charset="-122"/>
                <a:cs typeface="Aptos" pitchFamily="34" charset="-120"/>
              </a:rPr>
              <a:t>11 / 19</a:t>
            </a:r>
            <a:endParaRPr lang="en-US" sz="680" dirty="0"/>
          </a:p>
        </p:txBody>
      </p:sp>
      <p:sp>
        <p:nvSpPr>
          <p:cNvPr id="8" name="Shape 6"/>
          <p:cNvSpPr/>
          <p:nvPr/>
        </p:nvSpPr>
        <p:spPr>
          <a:xfrm>
            <a:off x="475488" y="1691640"/>
            <a:ext cx="9235440" cy="502920"/>
          </a:xfrm>
          <a:prstGeom prst="rect">
            <a:avLst/>
          </a:prstGeom>
          <a:solidFill>
            <a:srgbClr val="25323D"/>
          </a:solidFill>
          <a:ln w="8890">
            <a:solidFill>
              <a:srgbClr val="25323D"/>
            </a:solidFill>
            <a:prstDash val="solid"/>
          </a:ln>
        </p:spPr>
        <p:txBody>
          <a:bodyPr/>
          <a:lstStyle/>
          <a:p>
            <a:endParaRPr lang="en-US"/>
          </a:p>
        </p:txBody>
      </p:sp>
      <p:sp>
        <p:nvSpPr>
          <p:cNvPr id="9" name="Text 7"/>
          <p:cNvSpPr/>
          <p:nvPr/>
        </p:nvSpPr>
        <p:spPr>
          <a:xfrm>
            <a:off x="521208" y="1746504"/>
            <a:ext cx="2651760" cy="429768"/>
          </a:xfrm>
          <a:prstGeom prst="rect">
            <a:avLst/>
          </a:prstGeom>
          <a:noFill/>
          <a:ln/>
        </p:spPr>
        <p:txBody>
          <a:bodyPr wrap="square" lIns="0" tIns="0" rIns="0" bIns="0" rtlCol="0" anchor="t">
            <a:normAutofit/>
          </a:bodyPr>
          <a:lstStyle/>
          <a:p>
            <a:pPr marL="0" indent="0" algn="l">
              <a:buNone/>
            </a:pPr>
            <a:r>
              <a:rPr lang="en-US" sz="1400" b="1" dirty="0">
                <a:solidFill>
                  <a:srgbClr val="FFFFFF"/>
                </a:solidFill>
                <a:latin typeface="Aptos" pitchFamily="34" charset="0"/>
                <a:ea typeface="Aptos" pitchFamily="34" charset="-122"/>
                <a:cs typeface="Aptos" pitchFamily="34" charset="-120"/>
              </a:rPr>
              <a:t>Metric</a:t>
            </a:r>
            <a:endParaRPr lang="en-US" sz="800" dirty="0"/>
          </a:p>
        </p:txBody>
      </p:sp>
      <p:sp>
        <p:nvSpPr>
          <p:cNvPr id="10" name="Text 8"/>
          <p:cNvSpPr/>
          <p:nvPr/>
        </p:nvSpPr>
        <p:spPr>
          <a:xfrm>
            <a:off x="3264408" y="1746504"/>
            <a:ext cx="3154680" cy="429768"/>
          </a:xfrm>
          <a:prstGeom prst="rect">
            <a:avLst/>
          </a:prstGeom>
          <a:noFill/>
          <a:ln/>
        </p:spPr>
        <p:txBody>
          <a:bodyPr wrap="square" lIns="0" tIns="0" rIns="0" bIns="0" rtlCol="0" anchor="t">
            <a:normAutofit/>
          </a:bodyPr>
          <a:lstStyle/>
          <a:p>
            <a:pPr marL="0" indent="0" algn="l">
              <a:buNone/>
            </a:pPr>
            <a:r>
              <a:rPr lang="en-US" sz="1400" b="1" dirty="0">
                <a:solidFill>
                  <a:srgbClr val="FFFFFF"/>
                </a:solidFill>
                <a:latin typeface="Aptos" pitchFamily="34" charset="0"/>
                <a:ea typeface="Aptos" pitchFamily="34" charset="-122"/>
                <a:cs typeface="Aptos" pitchFamily="34" charset="-120"/>
              </a:rPr>
              <a:t>fixed: improved/worse/flat</a:t>
            </a:r>
            <a:endParaRPr lang="en-US" sz="800" dirty="0"/>
          </a:p>
        </p:txBody>
      </p:sp>
      <p:sp>
        <p:nvSpPr>
          <p:cNvPr id="11" name="Text 9"/>
          <p:cNvSpPr/>
          <p:nvPr/>
        </p:nvSpPr>
        <p:spPr>
          <a:xfrm>
            <a:off x="6510528" y="1746504"/>
            <a:ext cx="3154680" cy="429768"/>
          </a:xfrm>
          <a:prstGeom prst="rect">
            <a:avLst/>
          </a:prstGeom>
          <a:noFill/>
          <a:ln/>
        </p:spPr>
        <p:txBody>
          <a:bodyPr wrap="square" lIns="0" tIns="0" rIns="0" bIns="0" rtlCol="0" anchor="t">
            <a:normAutofit/>
          </a:bodyPr>
          <a:lstStyle/>
          <a:p>
            <a:pPr marL="0" indent="0" algn="l">
              <a:buNone/>
            </a:pPr>
            <a:r>
              <a:rPr lang="en-US" sz="1400" b="1" dirty="0">
                <a:solidFill>
                  <a:srgbClr val="FFFFFF"/>
                </a:solidFill>
                <a:latin typeface="Aptos" pitchFamily="34" charset="0"/>
                <a:ea typeface="Aptos" pitchFamily="34" charset="-122"/>
                <a:cs typeface="Aptos" pitchFamily="34" charset="-120"/>
              </a:rPr>
              <a:t>self: improved/worse/flat</a:t>
            </a:r>
            <a:endParaRPr lang="en-US" sz="800" dirty="0"/>
          </a:p>
        </p:txBody>
      </p:sp>
      <p:sp>
        <p:nvSpPr>
          <p:cNvPr id="12" name="Shape 10"/>
          <p:cNvSpPr/>
          <p:nvPr/>
        </p:nvSpPr>
        <p:spPr>
          <a:xfrm>
            <a:off x="475488" y="2194560"/>
            <a:ext cx="9235440" cy="502920"/>
          </a:xfrm>
          <a:prstGeom prst="rect">
            <a:avLst/>
          </a:prstGeom>
          <a:solidFill>
            <a:srgbClr val="F2F6F7"/>
          </a:solidFill>
          <a:ln w="8890">
            <a:solidFill>
              <a:srgbClr val="D9E2E8"/>
            </a:solidFill>
            <a:prstDash val="solid"/>
          </a:ln>
        </p:spPr>
        <p:txBody>
          <a:bodyPr/>
          <a:lstStyle/>
          <a:p>
            <a:endParaRPr lang="en-US"/>
          </a:p>
        </p:txBody>
      </p:sp>
      <p:sp>
        <p:nvSpPr>
          <p:cNvPr id="13" name="Text 11"/>
          <p:cNvSpPr/>
          <p:nvPr/>
        </p:nvSpPr>
        <p:spPr>
          <a:xfrm>
            <a:off x="521208" y="2244852"/>
            <a:ext cx="2651760" cy="429768"/>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G-Eval</a:t>
            </a:r>
            <a:endParaRPr lang="en-US" sz="900" dirty="0"/>
          </a:p>
        </p:txBody>
      </p:sp>
      <p:sp>
        <p:nvSpPr>
          <p:cNvPr id="14" name="Text 12"/>
          <p:cNvSpPr/>
          <p:nvPr/>
        </p:nvSpPr>
        <p:spPr>
          <a:xfrm>
            <a:off x="3264408" y="2244852"/>
            <a:ext cx="3154680" cy="429768"/>
          </a:xfrm>
          <a:prstGeom prst="rect">
            <a:avLst/>
          </a:prstGeom>
          <a:noFill/>
          <a:ln/>
        </p:spPr>
        <p:txBody>
          <a:bodyPr wrap="square" lIns="0" tIns="0" rIns="0" bIns="0" rtlCol="0" anchor="t">
            <a:normAutofit/>
          </a:bodyPr>
          <a:lstStyle/>
          <a:p>
            <a:pPr marL="0" indent="0" algn="ctr">
              <a:buNone/>
            </a:pPr>
            <a:r>
              <a:rPr sz="1300" b="1">
                <a:solidFill>
                  <a:srgbClr val="2D9D78"/>
                </a:solidFill>
                <a:latin typeface="Aptos"/>
              </a:rPr>
              <a:t>2</a:t>
            </a:r>
            <a:r>
              <a:rPr sz="1300" b="0">
                <a:solidFill>
                  <a:srgbClr val="52616B"/>
                </a:solidFill>
                <a:latin typeface="Aptos"/>
              </a:rPr>
              <a:t> / </a:t>
            </a:r>
            <a:r>
              <a:rPr sz="1300" b="1">
                <a:solidFill>
                  <a:srgbClr val="C94C4C"/>
                </a:solidFill>
                <a:latin typeface="Aptos"/>
              </a:rPr>
              <a:t>8</a:t>
            </a:r>
            <a:r>
              <a:rPr sz="1300" b="0">
                <a:solidFill>
                  <a:srgbClr val="52616B"/>
                </a:solidFill>
                <a:latin typeface="Aptos"/>
              </a:rPr>
              <a:t> / </a:t>
            </a:r>
            <a:r>
              <a:rPr sz="1300" b="1">
                <a:solidFill>
                  <a:srgbClr val="52616B"/>
                </a:solidFill>
                <a:latin typeface="Aptos"/>
              </a:rPr>
              <a:t>1</a:t>
            </a:r>
            <a:endParaRPr lang="en-US" sz="900" dirty="0"/>
          </a:p>
        </p:txBody>
      </p:sp>
      <p:sp>
        <p:nvSpPr>
          <p:cNvPr id="15" name="Text 13"/>
          <p:cNvSpPr/>
          <p:nvPr/>
        </p:nvSpPr>
        <p:spPr>
          <a:xfrm>
            <a:off x="6510528" y="2244852"/>
            <a:ext cx="3154680" cy="429768"/>
          </a:xfrm>
          <a:prstGeom prst="rect">
            <a:avLst/>
          </a:prstGeom>
          <a:noFill/>
          <a:ln/>
        </p:spPr>
        <p:txBody>
          <a:bodyPr wrap="square" lIns="0" tIns="0" rIns="0" bIns="0" rtlCol="0" anchor="t">
            <a:normAutofit/>
          </a:bodyPr>
          <a:lstStyle/>
          <a:p>
            <a:pPr marL="0" indent="0" algn="ctr">
              <a:buNone/>
            </a:pPr>
            <a:r>
              <a:rPr sz="1300" b="1">
                <a:solidFill>
                  <a:srgbClr val="2D9D78"/>
                </a:solidFill>
                <a:latin typeface="Aptos"/>
              </a:rPr>
              <a:t>2</a:t>
            </a:r>
            <a:r>
              <a:rPr sz="1300" b="0">
                <a:solidFill>
                  <a:srgbClr val="52616B"/>
                </a:solidFill>
                <a:latin typeface="Aptos"/>
              </a:rPr>
              <a:t> / </a:t>
            </a:r>
            <a:r>
              <a:rPr sz="1300" b="1">
                <a:solidFill>
                  <a:srgbClr val="C94C4C"/>
                </a:solidFill>
                <a:latin typeface="Aptos"/>
              </a:rPr>
              <a:t>9</a:t>
            </a:r>
            <a:r>
              <a:rPr sz="1300" b="0">
                <a:solidFill>
                  <a:srgbClr val="52616B"/>
                </a:solidFill>
                <a:latin typeface="Aptos"/>
              </a:rPr>
              <a:t> / </a:t>
            </a:r>
            <a:r>
              <a:rPr sz="1300" b="1">
                <a:solidFill>
                  <a:srgbClr val="52616B"/>
                </a:solidFill>
                <a:latin typeface="Aptos"/>
              </a:rPr>
              <a:t>0</a:t>
            </a:r>
            <a:endParaRPr lang="en-US" sz="900" dirty="0"/>
          </a:p>
        </p:txBody>
      </p:sp>
      <p:sp>
        <p:nvSpPr>
          <p:cNvPr id="16" name="Shape 14"/>
          <p:cNvSpPr/>
          <p:nvPr/>
        </p:nvSpPr>
        <p:spPr>
          <a:xfrm>
            <a:off x="475488" y="2697480"/>
            <a:ext cx="9235440" cy="502920"/>
          </a:xfrm>
          <a:prstGeom prst="rect">
            <a:avLst/>
          </a:prstGeom>
          <a:solidFill>
            <a:srgbClr val="FFFFFF"/>
          </a:solidFill>
          <a:ln w="8890">
            <a:solidFill>
              <a:srgbClr val="D9E2E8"/>
            </a:solidFill>
            <a:prstDash val="solid"/>
          </a:ln>
        </p:spPr>
        <p:txBody>
          <a:bodyPr/>
          <a:lstStyle/>
          <a:p>
            <a:endParaRPr lang="en-US"/>
          </a:p>
        </p:txBody>
      </p:sp>
      <p:sp>
        <p:nvSpPr>
          <p:cNvPr id="17" name="Text 15"/>
          <p:cNvSpPr/>
          <p:nvPr/>
        </p:nvSpPr>
        <p:spPr>
          <a:xfrm>
            <a:off x="521208" y="2747772"/>
            <a:ext cx="2651760" cy="429768"/>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BERTScore</a:t>
            </a:r>
            <a:endParaRPr lang="en-US" sz="900" dirty="0"/>
          </a:p>
        </p:txBody>
      </p:sp>
      <p:sp>
        <p:nvSpPr>
          <p:cNvPr id="18" name="Text 16"/>
          <p:cNvSpPr/>
          <p:nvPr/>
        </p:nvSpPr>
        <p:spPr>
          <a:xfrm>
            <a:off x="3264408" y="2747772"/>
            <a:ext cx="3154680" cy="429768"/>
          </a:xfrm>
          <a:prstGeom prst="rect">
            <a:avLst/>
          </a:prstGeom>
          <a:noFill/>
          <a:ln/>
        </p:spPr>
        <p:txBody>
          <a:bodyPr wrap="square" lIns="0" tIns="0" rIns="0" bIns="0" rtlCol="0" anchor="t">
            <a:normAutofit/>
          </a:bodyPr>
          <a:lstStyle/>
          <a:p>
            <a:pPr marL="0" indent="0" algn="ctr">
              <a:buNone/>
            </a:pPr>
            <a:r>
              <a:rPr sz="1300" b="1">
                <a:solidFill>
                  <a:srgbClr val="2D9D78"/>
                </a:solidFill>
                <a:latin typeface="Aptos"/>
              </a:rPr>
              <a:t>2</a:t>
            </a:r>
            <a:r>
              <a:rPr sz="1300" b="0">
                <a:solidFill>
                  <a:srgbClr val="52616B"/>
                </a:solidFill>
                <a:latin typeface="Aptos"/>
              </a:rPr>
              <a:t> / </a:t>
            </a:r>
            <a:r>
              <a:rPr sz="1300" b="1">
                <a:solidFill>
                  <a:srgbClr val="C94C4C"/>
                </a:solidFill>
                <a:latin typeface="Aptos"/>
              </a:rPr>
              <a:t>9</a:t>
            </a:r>
            <a:r>
              <a:rPr sz="1300" b="0">
                <a:solidFill>
                  <a:srgbClr val="52616B"/>
                </a:solidFill>
                <a:latin typeface="Aptos"/>
              </a:rPr>
              <a:t> / </a:t>
            </a:r>
            <a:r>
              <a:rPr sz="1300" b="1">
                <a:solidFill>
                  <a:srgbClr val="52616B"/>
                </a:solidFill>
                <a:latin typeface="Aptos"/>
              </a:rPr>
              <a:t>0</a:t>
            </a:r>
            <a:endParaRPr lang="en-US" sz="900" dirty="0"/>
          </a:p>
        </p:txBody>
      </p:sp>
      <p:sp>
        <p:nvSpPr>
          <p:cNvPr id="19" name="Text 17"/>
          <p:cNvSpPr/>
          <p:nvPr/>
        </p:nvSpPr>
        <p:spPr>
          <a:xfrm>
            <a:off x="6510528" y="2747772"/>
            <a:ext cx="3154680" cy="429768"/>
          </a:xfrm>
          <a:prstGeom prst="rect">
            <a:avLst/>
          </a:prstGeom>
          <a:noFill/>
          <a:ln/>
        </p:spPr>
        <p:txBody>
          <a:bodyPr wrap="square" lIns="0" tIns="0" rIns="0" bIns="0" rtlCol="0" anchor="t">
            <a:normAutofit/>
          </a:bodyPr>
          <a:lstStyle/>
          <a:p>
            <a:pPr marL="0" indent="0" algn="ctr">
              <a:buNone/>
            </a:pPr>
            <a:r>
              <a:rPr sz="1300" b="1">
                <a:solidFill>
                  <a:srgbClr val="2D9D78"/>
                </a:solidFill>
                <a:latin typeface="Aptos"/>
              </a:rPr>
              <a:t>3</a:t>
            </a:r>
            <a:r>
              <a:rPr sz="1300" b="0">
                <a:solidFill>
                  <a:srgbClr val="52616B"/>
                </a:solidFill>
                <a:latin typeface="Aptos"/>
              </a:rPr>
              <a:t> / </a:t>
            </a:r>
            <a:r>
              <a:rPr sz="1300" b="1">
                <a:solidFill>
                  <a:srgbClr val="C94C4C"/>
                </a:solidFill>
                <a:latin typeface="Aptos"/>
              </a:rPr>
              <a:t>8</a:t>
            </a:r>
            <a:r>
              <a:rPr sz="1300" b="0">
                <a:solidFill>
                  <a:srgbClr val="52616B"/>
                </a:solidFill>
                <a:latin typeface="Aptos"/>
              </a:rPr>
              <a:t> / </a:t>
            </a:r>
            <a:r>
              <a:rPr sz="1300" b="1">
                <a:solidFill>
                  <a:srgbClr val="52616B"/>
                </a:solidFill>
                <a:latin typeface="Aptos"/>
              </a:rPr>
              <a:t>0</a:t>
            </a:r>
            <a:endParaRPr lang="en-US" sz="900" dirty="0"/>
          </a:p>
        </p:txBody>
      </p:sp>
      <p:sp>
        <p:nvSpPr>
          <p:cNvPr id="20" name="Shape 18"/>
          <p:cNvSpPr/>
          <p:nvPr/>
        </p:nvSpPr>
        <p:spPr>
          <a:xfrm>
            <a:off x="475488" y="3200400"/>
            <a:ext cx="9235440" cy="502920"/>
          </a:xfrm>
          <a:prstGeom prst="rect">
            <a:avLst/>
          </a:prstGeom>
          <a:solidFill>
            <a:srgbClr val="F2F6F7"/>
          </a:solidFill>
          <a:ln w="8890">
            <a:solidFill>
              <a:srgbClr val="D9E2E8"/>
            </a:solidFill>
            <a:prstDash val="solid"/>
          </a:ln>
        </p:spPr>
        <p:txBody>
          <a:bodyPr/>
          <a:lstStyle/>
          <a:p>
            <a:endParaRPr lang="en-US"/>
          </a:p>
        </p:txBody>
      </p:sp>
      <p:sp>
        <p:nvSpPr>
          <p:cNvPr id="21" name="Text 19"/>
          <p:cNvSpPr/>
          <p:nvPr/>
        </p:nvSpPr>
        <p:spPr>
          <a:xfrm>
            <a:off x="521208" y="3250692"/>
            <a:ext cx="2651760" cy="429768"/>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med_coverage</a:t>
            </a:r>
            <a:endParaRPr lang="en-US" sz="900" dirty="0"/>
          </a:p>
        </p:txBody>
      </p:sp>
      <p:sp>
        <p:nvSpPr>
          <p:cNvPr id="22" name="Text 20"/>
          <p:cNvSpPr/>
          <p:nvPr/>
        </p:nvSpPr>
        <p:spPr>
          <a:xfrm>
            <a:off x="3264408" y="3250692"/>
            <a:ext cx="3154680" cy="429768"/>
          </a:xfrm>
          <a:prstGeom prst="rect">
            <a:avLst/>
          </a:prstGeom>
          <a:noFill/>
          <a:ln/>
        </p:spPr>
        <p:txBody>
          <a:bodyPr wrap="square" lIns="0" tIns="0" rIns="0" bIns="0" rtlCol="0" anchor="t">
            <a:normAutofit/>
          </a:bodyPr>
          <a:lstStyle/>
          <a:p>
            <a:pPr marL="0" indent="0" algn="ctr">
              <a:buNone/>
            </a:pPr>
            <a:r>
              <a:rPr sz="1300" b="1">
                <a:solidFill>
                  <a:srgbClr val="2D9D78"/>
                </a:solidFill>
                <a:latin typeface="Aptos"/>
              </a:rPr>
              <a:t>2</a:t>
            </a:r>
            <a:r>
              <a:rPr sz="1300" b="0">
                <a:solidFill>
                  <a:srgbClr val="52616B"/>
                </a:solidFill>
                <a:latin typeface="Aptos"/>
              </a:rPr>
              <a:t> / </a:t>
            </a:r>
            <a:r>
              <a:rPr sz="1300" b="1">
                <a:solidFill>
                  <a:srgbClr val="C94C4C"/>
                </a:solidFill>
                <a:latin typeface="Aptos"/>
              </a:rPr>
              <a:t>9</a:t>
            </a:r>
            <a:r>
              <a:rPr sz="1300" b="0">
                <a:solidFill>
                  <a:srgbClr val="52616B"/>
                </a:solidFill>
                <a:latin typeface="Aptos"/>
              </a:rPr>
              <a:t> / </a:t>
            </a:r>
            <a:r>
              <a:rPr sz="1300" b="1">
                <a:solidFill>
                  <a:srgbClr val="52616B"/>
                </a:solidFill>
                <a:latin typeface="Aptos"/>
              </a:rPr>
              <a:t>0</a:t>
            </a:r>
            <a:endParaRPr lang="en-US" sz="900" dirty="0"/>
          </a:p>
        </p:txBody>
      </p:sp>
      <p:sp>
        <p:nvSpPr>
          <p:cNvPr id="23" name="Text 21"/>
          <p:cNvSpPr/>
          <p:nvPr/>
        </p:nvSpPr>
        <p:spPr>
          <a:xfrm>
            <a:off x="6510528" y="3250692"/>
            <a:ext cx="3154680" cy="429768"/>
          </a:xfrm>
          <a:prstGeom prst="rect">
            <a:avLst/>
          </a:prstGeom>
          <a:noFill/>
          <a:ln/>
        </p:spPr>
        <p:txBody>
          <a:bodyPr wrap="square" lIns="0" tIns="0" rIns="0" bIns="0" rtlCol="0" anchor="t">
            <a:normAutofit/>
          </a:bodyPr>
          <a:lstStyle/>
          <a:p>
            <a:pPr marL="0" indent="0" algn="ctr">
              <a:buNone/>
            </a:pPr>
            <a:r>
              <a:rPr sz="1300" b="1">
                <a:solidFill>
                  <a:srgbClr val="2D9D78"/>
                </a:solidFill>
                <a:latin typeface="Aptos"/>
              </a:rPr>
              <a:t>0</a:t>
            </a:r>
            <a:r>
              <a:rPr sz="1300" b="0">
                <a:solidFill>
                  <a:srgbClr val="52616B"/>
                </a:solidFill>
                <a:latin typeface="Aptos"/>
              </a:rPr>
              <a:t> / </a:t>
            </a:r>
            <a:r>
              <a:rPr sz="1300" b="1">
                <a:solidFill>
                  <a:srgbClr val="C94C4C"/>
                </a:solidFill>
                <a:latin typeface="Aptos"/>
              </a:rPr>
              <a:t>11</a:t>
            </a:r>
            <a:r>
              <a:rPr sz="1300" b="0">
                <a:solidFill>
                  <a:srgbClr val="52616B"/>
                </a:solidFill>
                <a:latin typeface="Aptos"/>
              </a:rPr>
              <a:t> / </a:t>
            </a:r>
            <a:r>
              <a:rPr sz="1300" b="1">
                <a:solidFill>
                  <a:srgbClr val="52616B"/>
                </a:solidFill>
                <a:latin typeface="Aptos"/>
              </a:rPr>
              <a:t>0</a:t>
            </a:r>
            <a:endParaRPr lang="en-US" sz="900" dirty="0"/>
          </a:p>
        </p:txBody>
      </p:sp>
      <p:sp>
        <p:nvSpPr>
          <p:cNvPr id="24" name="Shape 22"/>
          <p:cNvSpPr/>
          <p:nvPr/>
        </p:nvSpPr>
        <p:spPr>
          <a:xfrm>
            <a:off x="475488" y="3703320"/>
            <a:ext cx="9235440" cy="502920"/>
          </a:xfrm>
          <a:prstGeom prst="rect">
            <a:avLst/>
          </a:prstGeom>
          <a:solidFill>
            <a:srgbClr val="FFFFFF"/>
          </a:solidFill>
          <a:ln w="8890">
            <a:solidFill>
              <a:srgbClr val="D9E2E8"/>
            </a:solidFill>
            <a:prstDash val="solid"/>
          </a:ln>
        </p:spPr>
        <p:txBody>
          <a:bodyPr/>
          <a:lstStyle/>
          <a:p>
            <a:endParaRPr lang="en-US"/>
          </a:p>
        </p:txBody>
      </p:sp>
      <p:sp>
        <p:nvSpPr>
          <p:cNvPr id="25" name="Text 23"/>
          <p:cNvSpPr/>
          <p:nvPr/>
        </p:nvSpPr>
        <p:spPr>
          <a:xfrm>
            <a:off x="521208" y="3753612"/>
            <a:ext cx="2651760" cy="429768"/>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med_f1</a:t>
            </a:r>
            <a:endParaRPr lang="en-US" sz="900" dirty="0"/>
          </a:p>
        </p:txBody>
      </p:sp>
      <p:sp>
        <p:nvSpPr>
          <p:cNvPr id="26" name="Text 24"/>
          <p:cNvSpPr/>
          <p:nvPr/>
        </p:nvSpPr>
        <p:spPr>
          <a:xfrm>
            <a:off x="3264408" y="3753612"/>
            <a:ext cx="3154680" cy="429768"/>
          </a:xfrm>
          <a:prstGeom prst="rect">
            <a:avLst/>
          </a:prstGeom>
          <a:noFill/>
          <a:ln/>
        </p:spPr>
        <p:txBody>
          <a:bodyPr wrap="square" lIns="0" tIns="0" rIns="0" bIns="0" rtlCol="0" anchor="t">
            <a:normAutofit/>
          </a:bodyPr>
          <a:lstStyle/>
          <a:p>
            <a:pPr marL="0" indent="0" algn="ctr">
              <a:buNone/>
            </a:pPr>
            <a:r>
              <a:rPr sz="1300" b="1">
                <a:solidFill>
                  <a:srgbClr val="2D9D78"/>
                </a:solidFill>
                <a:latin typeface="Aptos"/>
              </a:rPr>
              <a:t>4</a:t>
            </a:r>
            <a:r>
              <a:rPr sz="1300" b="0">
                <a:solidFill>
                  <a:srgbClr val="52616B"/>
                </a:solidFill>
                <a:latin typeface="Aptos"/>
              </a:rPr>
              <a:t> / </a:t>
            </a:r>
            <a:r>
              <a:rPr sz="1300" b="1">
                <a:solidFill>
                  <a:srgbClr val="C94C4C"/>
                </a:solidFill>
                <a:latin typeface="Aptos"/>
              </a:rPr>
              <a:t>7</a:t>
            </a:r>
            <a:r>
              <a:rPr sz="1300" b="0">
                <a:solidFill>
                  <a:srgbClr val="52616B"/>
                </a:solidFill>
                <a:latin typeface="Aptos"/>
              </a:rPr>
              <a:t> / </a:t>
            </a:r>
            <a:r>
              <a:rPr sz="1300" b="1">
                <a:solidFill>
                  <a:srgbClr val="52616B"/>
                </a:solidFill>
                <a:latin typeface="Aptos"/>
              </a:rPr>
              <a:t>0</a:t>
            </a:r>
            <a:endParaRPr lang="en-US" sz="900" dirty="0"/>
          </a:p>
        </p:txBody>
      </p:sp>
      <p:sp>
        <p:nvSpPr>
          <p:cNvPr id="27" name="Text 25"/>
          <p:cNvSpPr/>
          <p:nvPr/>
        </p:nvSpPr>
        <p:spPr>
          <a:xfrm>
            <a:off x="6510528" y="3753612"/>
            <a:ext cx="3154680" cy="429768"/>
          </a:xfrm>
          <a:prstGeom prst="rect">
            <a:avLst/>
          </a:prstGeom>
          <a:noFill/>
          <a:ln/>
        </p:spPr>
        <p:txBody>
          <a:bodyPr wrap="square" lIns="0" tIns="0" rIns="0" bIns="0" rtlCol="0" anchor="t">
            <a:normAutofit/>
          </a:bodyPr>
          <a:lstStyle/>
          <a:p>
            <a:pPr marL="0" indent="0" algn="ctr">
              <a:buNone/>
            </a:pPr>
            <a:r>
              <a:rPr sz="1300" b="1">
                <a:solidFill>
                  <a:srgbClr val="2D9D78"/>
                </a:solidFill>
                <a:latin typeface="Aptos"/>
              </a:rPr>
              <a:t>1</a:t>
            </a:r>
            <a:r>
              <a:rPr sz="1300" b="0">
                <a:solidFill>
                  <a:srgbClr val="52616B"/>
                </a:solidFill>
                <a:latin typeface="Aptos"/>
              </a:rPr>
              <a:t> / </a:t>
            </a:r>
            <a:r>
              <a:rPr sz="1300" b="1">
                <a:solidFill>
                  <a:srgbClr val="C94C4C"/>
                </a:solidFill>
                <a:latin typeface="Aptos"/>
              </a:rPr>
              <a:t>10</a:t>
            </a:r>
            <a:r>
              <a:rPr sz="1300" b="0">
                <a:solidFill>
                  <a:srgbClr val="52616B"/>
                </a:solidFill>
                <a:latin typeface="Aptos"/>
              </a:rPr>
              <a:t> / </a:t>
            </a:r>
            <a:r>
              <a:rPr sz="1300" b="1">
                <a:solidFill>
                  <a:srgbClr val="52616B"/>
                </a:solidFill>
                <a:latin typeface="Aptos"/>
              </a:rPr>
              <a:t>0</a:t>
            </a:r>
            <a:endParaRPr lang="en-US" sz="900" dirty="0"/>
          </a:p>
        </p:txBody>
      </p:sp>
      <p:sp>
        <p:nvSpPr>
          <p:cNvPr id="28" name="Shape 26"/>
          <p:cNvSpPr/>
          <p:nvPr/>
        </p:nvSpPr>
        <p:spPr>
          <a:xfrm>
            <a:off x="475488" y="4206240"/>
            <a:ext cx="9235440" cy="502920"/>
          </a:xfrm>
          <a:prstGeom prst="rect">
            <a:avLst/>
          </a:prstGeom>
          <a:solidFill>
            <a:srgbClr val="F2F6F7"/>
          </a:solidFill>
          <a:ln w="8890">
            <a:solidFill>
              <a:srgbClr val="D9E2E8"/>
            </a:solidFill>
            <a:prstDash val="solid"/>
          </a:ln>
        </p:spPr>
        <p:txBody>
          <a:bodyPr/>
          <a:lstStyle/>
          <a:p>
            <a:endParaRPr lang="en-US"/>
          </a:p>
        </p:txBody>
      </p:sp>
      <p:sp>
        <p:nvSpPr>
          <p:cNvPr id="29" name="Text 27"/>
          <p:cNvSpPr/>
          <p:nvPr/>
        </p:nvSpPr>
        <p:spPr>
          <a:xfrm>
            <a:off x="521208" y="4256532"/>
            <a:ext cx="2651760" cy="429768"/>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Intent preservation</a:t>
            </a:r>
            <a:endParaRPr lang="en-US" sz="900" dirty="0"/>
          </a:p>
        </p:txBody>
      </p:sp>
      <p:sp>
        <p:nvSpPr>
          <p:cNvPr id="30" name="Text 28"/>
          <p:cNvSpPr/>
          <p:nvPr/>
        </p:nvSpPr>
        <p:spPr>
          <a:xfrm>
            <a:off x="3264408" y="4256532"/>
            <a:ext cx="3154680" cy="429768"/>
          </a:xfrm>
          <a:prstGeom prst="rect">
            <a:avLst/>
          </a:prstGeom>
          <a:noFill/>
          <a:ln/>
        </p:spPr>
        <p:txBody>
          <a:bodyPr wrap="square" lIns="0" tIns="0" rIns="0" bIns="0" rtlCol="0" anchor="t">
            <a:normAutofit/>
          </a:bodyPr>
          <a:lstStyle/>
          <a:p>
            <a:pPr marL="0" indent="0" algn="ctr">
              <a:buNone/>
            </a:pPr>
            <a:r>
              <a:rPr sz="1300" b="1">
                <a:solidFill>
                  <a:srgbClr val="2D9D78"/>
                </a:solidFill>
                <a:latin typeface="Aptos"/>
              </a:rPr>
              <a:t>11</a:t>
            </a:r>
            <a:r>
              <a:rPr sz="1300" b="0">
                <a:solidFill>
                  <a:srgbClr val="52616B"/>
                </a:solidFill>
                <a:latin typeface="Aptos"/>
              </a:rPr>
              <a:t> / </a:t>
            </a:r>
            <a:r>
              <a:rPr sz="1300" b="1">
                <a:solidFill>
                  <a:srgbClr val="C94C4C"/>
                </a:solidFill>
                <a:latin typeface="Aptos"/>
              </a:rPr>
              <a:t>0</a:t>
            </a:r>
            <a:r>
              <a:rPr sz="1300" b="0">
                <a:solidFill>
                  <a:srgbClr val="52616B"/>
                </a:solidFill>
                <a:latin typeface="Aptos"/>
              </a:rPr>
              <a:t> / </a:t>
            </a:r>
            <a:r>
              <a:rPr sz="1300" b="1">
                <a:solidFill>
                  <a:srgbClr val="52616B"/>
                </a:solidFill>
                <a:latin typeface="Aptos"/>
              </a:rPr>
              <a:t>0</a:t>
            </a:r>
            <a:endParaRPr lang="en-US" sz="900" dirty="0"/>
          </a:p>
        </p:txBody>
      </p:sp>
      <p:sp>
        <p:nvSpPr>
          <p:cNvPr id="31" name="Text 29"/>
          <p:cNvSpPr/>
          <p:nvPr/>
        </p:nvSpPr>
        <p:spPr>
          <a:xfrm>
            <a:off x="6510528" y="4256532"/>
            <a:ext cx="3154680" cy="429768"/>
          </a:xfrm>
          <a:prstGeom prst="rect">
            <a:avLst/>
          </a:prstGeom>
          <a:noFill/>
          <a:ln/>
        </p:spPr>
        <p:txBody>
          <a:bodyPr wrap="square" lIns="0" tIns="0" rIns="0" bIns="0" rtlCol="0" anchor="t">
            <a:normAutofit/>
          </a:bodyPr>
          <a:lstStyle/>
          <a:p>
            <a:pPr marL="0" indent="0" algn="ctr">
              <a:buNone/>
            </a:pPr>
            <a:r>
              <a:rPr sz="1300" b="1">
                <a:solidFill>
                  <a:srgbClr val="2D9D78"/>
                </a:solidFill>
                <a:latin typeface="Aptos"/>
              </a:rPr>
              <a:t>11</a:t>
            </a:r>
            <a:r>
              <a:rPr sz="1300" b="0">
                <a:solidFill>
                  <a:srgbClr val="52616B"/>
                </a:solidFill>
                <a:latin typeface="Aptos"/>
              </a:rPr>
              <a:t> / </a:t>
            </a:r>
            <a:r>
              <a:rPr sz="1300" b="1">
                <a:solidFill>
                  <a:srgbClr val="C94C4C"/>
                </a:solidFill>
                <a:latin typeface="Aptos"/>
              </a:rPr>
              <a:t>0</a:t>
            </a:r>
            <a:r>
              <a:rPr sz="1300" b="0">
                <a:solidFill>
                  <a:srgbClr val="52616B"/>
                </a:solidFill>
                <a:latin typeface="Aptos"/>
              </a:rPr>
              <a:t> / </a:t>
            </a:r>
            <a:r>
              <a:rPr sz="1300" b="1">
                <a:solidFill>
                  <a:srgbClr val="52616B"/>
                </a:solidFill>
                <a:latin typeface="Aptos"/>
              </a:rPr>
              <a:t>0</a:t>
            </a:r>
            <a:endParaRPr lang="en-US" sz="900" dirty="0"/>
          </a:p>
        </p:txBody>
      </p:sp>
      <p:sp>
        <p:nvSpPr>
          <p:cNvPr id="32" name="Shape 30"/>
          <p:cNvSpPr/>
          <p:nvPr/>
        </p:nvSpPr>
        <p:spPr>
          <a:xfrm>
            <a:off x="914400" y="4892040"/>
            <a:ext cx="10241280" cy="658368"/>
          </a:xfrm>
          <a:prstGeom prst="roundRect">
            <a:avLst>
              <a:gd name="adj" fmla="val 8333"/>
            </a:avLst>
          </a:prstGeom>
          <a:solidFill>
            <a:srgbClr val="F2F6F7"/>
          </a:solidFill>
          <a:ln w="8890">
            <a:solidFill>
              <a:srgbClr val="E0A13A"/>
            </a:solidFill>
            <a:prstDash val="solid"/>
          </a:ln>
        </p:spPr>
        <p:txBody>
          <a:bodyPr/>
          <a:lstStyle/>
          <a:p>
            <a:endParaRPr lang="en-US"/>
          </a:p>
        </p:txBody>
      </p:sp>
      <p:sp>
        <p:nvSpPr>
          <p:cNvPr id="33" name="Text 31"/>
          <p:cNvSpPr/>
          <p:nvPr/>
        </p:nvSpPr>
        <p:spPr>
          <a:xfrm>
            <a:off x="1143000" y="5084064"/>
            <a:ext cx="1371600" cy="164592"/>
          </a:xfrm>
          <a:prstGeom prst="rect">
            <a:avLst/>
          </a:prstGeom>
          <a:noFill/>
          <a:ln/>
        </p:spPr>
        <p:txBody>
          <a:bodyPr wrap="square" lIns="0" tIns="0" rIns="0" bIns="0" rtlCol="0" anchor="t"/>
          <a:lstStyle/>
          <a:p>
            <a:pPr marL="0" indent="0" algn="l">
              <a:buNone/>
            </a:pPr>
            <a:r>
              <a:rPr lang="en-US" sz="1400" b="1" dirty="0">
                <a:solidFill>
                  <a:srgbClr val="E0A13A"/>
                </a:solidFill>
                <a:latin typeface="Aptos" pitchFamily="34" charset="0"/>
                <a:ea typeface="Aptos" pitchFamily="34" charset="-122"/>
                <a:cs typeface="Aptos" pitchFamily="34" charset="-120"/>
              </a:rPr>
              <a:t>Core pattern</a:t>
            </a:r>
            <a:endParaRPr lang="en-US" sz="1000" dirty="0"/>
          </a:p>
        </p:txBody>
      </p:sp>
      <p:sp>
        <p:nvSpPr>
          <p:cNvPr id="34" name="Text 32"/>
          <p:cNvSpPr/>
          <p:nvPr/>
        </p:nvSpPr>
        <p:spPr>
          <a:xfrm>
            <a:off x="2606040" y="5047488"/>
            <a:ext cx="8046720" cy="219456"/>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The repair step usually makes the question closer to the original intent. That does not guarantee the answer is better.</a:t>
            </a:r>
            <a:endParaRPr lang="en-US" sz="1100" dirty="0"/>
          </a:p>
        </p:txBody>
      </p:sp>
      <p:sp>
        <p:nvSpPr>
          <p:cNvPr id="35" name="Oval 34"/>
          <p:cNvSpPr/>
          <p:nvPr/>
        </p:nvSpPr>
        <p:spPr>
          <a:xfrm>
            <a:off x="475488" y="274320"/>
            <a:ext cx="384048" cy="384048"/>
          </a:xfrm>
          <a:prstGeom prst="ellipse">
            <a:avLst/>
          </a:prstGeom>
          <a:solidFill>
            <a:srgbClr val="127C7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ptos"/>
              </a:rPr>
              <a:t>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978408" y="320040"/>
            <a:ext cx="5029200" cy="210312"/>
          </a:xfrm>
          <a:prstGeom prst="rect">
            <a:avLst/>
          </a:prstGeom>
          <a:noFill/>
          <a:ln/>
        </p:spPr>
        <p:txBody>
          <a:bodyPr wrap="square" lIns="635" tIns="635" rIns="635" bIns="635" rtlCol="0" anchor="t"/>
          <a:lstStyle/>
          <a:p>
            <a:pPr marL="0" indent="0" algn="l">
              <a:buNone/>
            </a:pPr>
            <a:r>
              <a:rPr sz="2000" b="1">
                <a:solidFill>
                  <a:srgbClr val="25323D"/>
                </a:solidFill>
                <a:latin typeface="Aptos"/>
              </a:rPr>
              <a:t>Evidence example</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25323D"/>
                </a:solidFill>
                <a:latin typeface="Aptos" pitchFamily="34" charset="0"/>
                <a:ea typeface="Aptos" pitchFamily="34" charset="-122"/>
                <a:cs typeface="Aptos" pitchFamily="34" charset="-120"/>
              </a:rPr>
              <a:t>Incomplete wording can make the answer collapse.</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100" dirty="0">
                <a:solidFill>
                  <a:srgbClr val="52616B"/>
                </a:solidFill>
                <a:latin typeface="Aptos" pitchFamily="34" charset="0"/>
                <a:ea typeface="Aptos" pitchFamily="34" charset="-122"/>
                <a:cs typeface="Aptos" pitchFamily="34" charset="-120"/>
              </a:rPr>
              <a:t>gpt-5.4 | incomplete noise | question_id 18</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100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1000" dirty="0">
                <a:solidFill>
                  <a:srgbClr val="52616B"/>
                </a:solidFill>
                <a:latin typeface="Aptos" pitchFamily="34" charset="0"/>
                <a:ea typeface="Aptos" pitchFamily="34" charset="-122"/>
                <a:cs typeface="Aptos" pitchFamily="34" charset="-120"/>
              </a:rPr>
              <a:t>12 / 19</a:t>
            </a:r>
            <a:endParaRPr lang="en-US" sz="680" dirty="0"/>
          </a:p>
        </p:txBody>
      </p:sp>
      <p:sp>
        <p:nvSpPr>
          <p:cNvPr id="8" name="Text 6"/>
          <p:cNvSpPr/>
          <p:nvPr/>
        </p:nvSpPr>
        <p:spPr>
          <a:xfrm>
            <a:off x="475488" y="1627632"/>
            <a:ext cx="1280160" cy="164592"/>
          </a:xfrm>
          <a:prstGeom prst="rect">
            <a:avLst/>
          </a:prstGeom>
          <a:noFill/>
          <a:ln/>
        </p:spPr>
        <p:txBody>
          <a:bodyPr wrap="square" lIns="0" tIns="0" rIns="0" bIns="0" rtlCol="0" anchor="t"/>
          <a:lstStyle/>
          <a:p>
            <a:pPr marL="0" indent="0" algn="l">
              <a:buNone/>
            </a:pPr>
            <a:r>
              <a:rPr lang="en-US" sz="1100" b="1" dirty="0">
                <a:solidFill>
                  <a:srgbClr val="52616B"/>
                </a:solidFill>
                <a:latin typeface="Aptos" pitchFamily="34" charset="0"/>
                <a:ea typeface="Aptos" pitchFamily="34" charset="-122"/>
                <a:cs typeface="Aptos" pitchFamily="34" charset="-120"/>
              </a:rPr>
              <a:t>Question path</a:t>
            </a:r>
            <a:endParaRPr lang="en-US" sz="820" dirty="0"/>
          </a:p>
        </p:txBody>
      </p:sp>
      <p:sp>
        <p:nvSpPr>
          <p:cNvPr id="9" name="Text 7"/>
          <p:cNvSpPr/>
          <p:nvPr/>
        </p:nvSpPr>
        <p:spPr>
          <a:xfrm>
            <a:off x="475488" y="1874520"/>
            <a:ext cx="3063240" cy="329184"/>
          </a:xfrm>
          <a:prstGeom prst="rect">
            <a:avLst/>
          </a:prstGeom>
          <a:noFill/>
          <a:ln/>
        </p:spPr>
        <p:txBody>
          <a:bodyPr wrap="square" lIns="635" tIns="635" rIns="635" bIns="635" rtlCol="0" anchor="t">
            <a:normAutofit/>
          </a:bodyPr>
          <a:lstStyle/>
          <a:p>
            <a:pPr marL="0" indent="0" algn="l">
              <a:buNone/>
            </a:pPr>
            <a:r>
              <a:rPr lang="en-US" sz="1100" b="1" dirty="0">
                <a:solidFill>
                  <a:srgbClr val="127C7A"/>
                </a:solidFill>
                <a:latin typeface="Aptos" pitchFamily="34" charset="0"/>
                <a:ea typeface="Aptos" pitchFamily="34" charset="-122"/>
                <a:cs typeface="Aptos" pitchFamily="34" charset="-120"/>
              </a:rPr>
              <a:t>Do you have information about Air Pollution</a:t>
            </a:r>
            <a:endParaRPr lang="en-US" sz="830" dirty="0"/>
          </a:p>
        </p:txBody>
      </p:sp>
      <p:sp>
        <p:nvSpPr>
          <p:cNvPr id="10" name="Text 8"/>
          <p:cNvSpPr/>
          <p:nvPr/>
        </p:nvSpPr>
        <p:spPr>
          <a:xfrm>
            <a:off x="3657600" y="1929384"/>
            <a:ext cx="228600" cy="182880"/>
          </a:xfrm>
          <a:prstGeom prst="rect">
            <a:avLst/>
          </a:prstGeom>
          <a:noFill/>
          <a:ln/>
        </p:spPr>
        <p:txBody>
          <a:bodyPr wrap="square" lIns="0" tIns="0" rIns="0" bIns="0" rtlCol="0" anchor="t"/>
          <a:lstStyle/>
          <a:p>
            <a:pPr marL="0" indent="0" algn="l">
              <a:buNone/>
            </a:pPr>
            <a:r>
              <a:rPr lang="en-US" sz="1100" b="1" dirty="0">
                <a:solidFill>
                  <a:srgbClr val="52616B"/>
                </a:solidFill>
                <a:latin typeface="Aptos" pitchFamily="34" charset="0"/>
                <a:ea typeface="Aptos" pitchFamily="34" charset="-122"/>
                <a:cs typeface="Aptos" pitchFamily="34" charset="-120"/>
              </a:rPr>
              <a:t>-&gt;</a:t>
            </a:r>
            <a:endParaRPr lang="en-US" sz="1100" dirty="0"/>
          </a:p>
        </p:txBody>
      </p:sp>
      <p:sp>
        <p:nvSpPr>
          <p:cNvPr id="11" name="Text 9"/>
          <p:cNvSpPr/>
          <p:nvPr/>
        </p:nvSpPr>
        <p:spPr>
          <a:xfrm>
            <a:off x="3977640" y="1874520"/>
            <a:ext cx="3063240" cy="329184"/>
          </a:xfrm>
          <a:prstGeom prst="rect">
            <a:avLst/>
          </a:prstGeom>
          <a:noFill/>
          <a:ln/>
        </p:spPr>
        <p:txBody>
          <a:bodyPr wrap="square" lIns="635" tIns="635" rIns="635" bIns="635" rtlCol="0" anchor="t">
            <a:normAutofit/>
          </a:bodyPr>
          <a:lstStyle/>
          <a:p>
            <a:pPr marL="0" indent="0" algn="l">
              <a:buNone/>
            </a:pPr>
            <a:r>
              <a:rPr lang="en-US" sz="1100" b="1" dirty="0">
                <a:solidFill>
                  <a:srgbClr val="E0A13A"/>
                </a:solidFill>
                <a:latin typeface="Aptos" pitchFamily="34" charset="0"/>
                <a:ea typeface="Aptos" pitchFamily="34" charset="-122"/>
                <a:cs typeface="Aptos" pitchFamily="34" charset="-120"/>
              </a:rPr>
              <a:t>do u have any info on bad air stuff and what it can do?</a:t>
            </a:r>
            <a:endParaRPr lang="en-US" sz="830" dirty="0"/>
          </a:p>
        </p:txBody>
      </p:sp>
      <p:sp>
        <p:nvSpPr>
          <p:cNvPr id="12" name="Text 10"/>
          <p:cNvSpPr/>
          <p:nvPr/>
        </p:nvSpPr>
        <p:spPr>
          <a:xfrm>
            <a:off x="7150608" y="1929384"/>
            <a:ext cx="228600" cy="182880"/>
          </a:xfrm>
          <a:prstGeom prst="rect">
            <a:avLst/>
          </a:prstGeom>
          <a:noFill/>
          <a:ln/>
        </p:spPr>
        <p:txBody>
          <a:bodyPr wrap="square" lIns="0" tIns="0" rIns="0" bIns="0" rtlCol="0" anchor="t"/>
          <a:lstStyle/>
          <a:p>
            <a:pPr marL="0" indent="0" algn="l">
              <a:buNone/>
            </a:pPr>
            <a:r>
              <a:rPr lang="en-US" sz="1100" b="1" dirty="0">
                <a:solidFill>
                  <a:srgbClr val="52616B"/>
                </a:solidFill>
                <a:latin typeface="Aptos" pitchFamily="34" charset="0"/>
                <a:ea typeface="Aptos" pitchFamily="34" charset="-122"/>
                <a:cs typeface="Aptos" pitchFamily="34" charset="-120"/>
              </a:rPr>
              <a:t>-&gt;</a:t>
            </a:r>
            <a:endParaRPr lang="en-US" sz="1100" dirty="0"/>
          </a:p>
        </p:txBody>
      </p:sp>
      <p:sp>
        <p:nvSpPr>
          <p:cNvPr id="13" name="Text 11"/>
          <p:cNvSpPr/>
          <p:nvPr/>
        </p:nvSpPr>
        <p:spPr>
          <a:xfrm>
            <a:off x="7452360" y="1874520"/>
            <a:ext cx="3749040" cy="329184"/>
          </a:xfrm>
          <a:prstGeom prst="rect">
            <a:avLst/>
          </a:prstGeom>
          <a:noFill/>
          <a:ln/>
        </p:spPr>
        <p:txBody>
          <a:bodyPr wrap="square" lIns="635" tIns="635" rIns="635" bIns="635" rtlCol="0" anchor="t">
            <a:normAutofit/>
          </a:bodyPr>
          <a:lstStyle/>
          <a:p>
            <a:pPr marL="0" indent="0" algn="l">
              <a:buNone/>
            </a:pPr>
            <a:r>
              <a:rPr lang="en-US" sz="1100" b="1" dirty="0">
                <a:solidFill>
                  <a:srgbClr val="127C7A"/>
                </a:solidFill>
                <a:latin typeface="Aptos" pitchFamily="34" charset="0"/>
                <a:ea typeface="Aptos" pitchFamily="34" charset="-122"/>
                <a:cs typeface="Aptos" pitchFamily="34" charset="-120"/>
              </a:rPr>
              <a:t>What health effects can poor air quality or air pollution have on the body?</a:t>
            </a:r>
            <a:endParaRPr lang="en-US" sz="830" dirty="0"/>
          </a:p>
        </p:txBody>
      </p:sp>
      <p:sp>
        <p:nvSpPr>
          <p:cNvPr id="14" name="Shape 12"/>
          <p:cNvSpPr/>
          <p:nvPr/>
        </p:nvSpPr>
        <p:spPr>
          <a:xfrm>
            <a:off x="475488" y="2606040"/>
            <a:ext cx="3474720" cy="2331720"/>
          </a:xfrm>
          <a:prstGeom prst="roundRect">
            <a:avLst>
              <a:gd name="adj" fmla="val 2353"/>
            </a:avLst>
          </a:prstGeom>
          <a:solidFill>
            <a:srgbClr val="FFFFFF"/>
          </a:solidFill>
          <a:ln w="8890">
            <a:solidFill>
              <a:srgbClr val="D9E2E8"/>
            </a:solidFill>
            <a:prstDash val="solid"/>
          </a:ln>
        </p:spPr>
        <p:txBody>
          <a:bodyPr/>
          <a:lstStyle/>
          <a:p>
            <a:endParaRPr lang="en-US"/>
          </a:p>
        </p:txBody>
      </p:sp>
      <p:sp>
        <p:nvSpPr>
          <p:cNvPr id="15" name="Shape 13"/>
          <p:cNvSpPr/>
          <p:nvPr/>
        </p:nvSpPr>
        <p:spPr>
          <a:xfrm>
            <a:off x="603504" y="2724912"/>
            <a:ext cx="1005840" cy="256032"/>
          </a:xfrm>
          <a:prstGeom prst="roundRect">
            <a:avLst>
              <a:gd name="adj" fmla="val 21429"/>
            </a:avLst>
          </a:prstGeom>
          <a:solidFill>
            <a:srgbClr val="127C7A"/>
          </a:solidFill>
          <a:ln w="8890">
            <a:solidFill>
              <a:srgbClr val="3867D6"/>
            </a:solidFill>
            <a:prstDash val="solid"/>
          </a:ln>
        </p:spPr>
        <p:txBody>
          <a:bodyPr/>
          <a:lstStyle/>
          <a:p>
            <a:endParaRPr lang="en-US"/>
          </a:p>
        </p:txBody>
      </p:sp>
      <p:sp>
        <p:nvSpPr>
          <p:cNvPr id="16" name="Text 14"/>
          <p:cNvSpPr/>
          <p:nvPr/>
        </p:nvSpPr>
        <p:spPr>
          <a:xfrm>
            <a:off x="676656" y="2779776"/>
            <a:ext cx="868680" cy="146304"/>
          </a:xfrm>
          <a:prstGeom prst="rect">
            <a:avLst/>
          </a:prstGeom>
          <a:solidFill>
            <a:srgbClr val="127C7A"/>
          </a:solidFill>
          <a:ln>
            <a:noFill/>
          </a:ln>
        </p:spPr>
        <p:txBody>
          <a:bodyPr wrap="none" lIns="109728" tIns="27432" rIns="109728" bIns="27432" rtlCol="0" anchor="t"/>
          <a:lstStyle/>
          <a:p>
            <a:pPr marL="0" indent="0" algn="ctr">
              <a:buNone/>
            </a:pPr>
            <a:r>
              <a:rPr sz="1200" b="1">
                <a:solidFill>
                  <a:srgbClr val="FFFFFF"/>
                </a:solidFill>
                <a:latin typeface="Aptos"/>
              </a:rPr>
              <a:t>CLEAN</a:t>
            </a:r>
            <a:endParaRPr lang="en-US" sz="750" dirty="0"/>
          </a:p>
        </p:txBody>
      </p:sp>
      <p:sp>
        <p:nvSpPr>
          <p:cNvPr id="17" name="Text 15"/>
          <p:cNvSpPr/>
          <p:nvPr/>
        </p:nvSpPr>
        <p:spPr>
          <a:xfrm>
            <a:off x="640080" y="3081528"/>
            <a:ext cx="3145536" cy="1728216"/>
          </a:xfrm>
          <a:prstGeom prst="rect">
            <a:avLst/>
          </a:prstGeom>
          <a:noFill/>
          <a:ln/>
        </p:spPr>
        <p:txBody>
          <a:bodyPr wrap="square" lIns="254" tIns="254" rIns="254" bIns="254" rtlCol="0" anchor="t">
            <a:normAutofit/>
          </a:bodyPr>
          <a:lstStyle/>
          <a:p>
            <a:pPr marL="0" indent="0" algn="l">
              <a:buNone/>
            </a:pPr>
            <a:r>
              <a:rPr lang="en-US" sz="1100" dirty="0">
                <a:solidFill>
                  <a:srgbClr val="25323D"/>
                </a:solidFill>
                <a:latin typeface="Aptos" pitchFamily="34" charset="0"/>
                <a:ea typeface="Aptos" pitchFamily="34" charset="-122"/>
                <a:cs typeface="Aptos" pitchFamily="34" charset="-120"/>
              </a:rPr>
              <a:t>Yes. Air pollution is the contamination of indoor or outdoor air by harmful substances that can affect health. Common air pollutants include: Particulate matter: PM2.5 and PM10 Ozone Nitrogen dioxide Sulfur dioxide Carbon monoxide Volatile organic compounds Smoke from vehicles, industry, wildfires, and tobacco Health effects can include: Eye, nose, and th...</a:t>
            </a:r>
            <a:endParaRPr lang="en-US" sz="820" dirty="0"/>
          </a:p>
        </p:txBody>
      </p:sp>
      <p:sp>
        <p:nvSpPr>
          <p:cNvPr id="18" name="Shape 16"/>
          <p:cNvSpPr/>
          <p:nvPr/>
        </p:nvSpPr>
        <p:spPr>
          <a:xfrm>
            <a:off x="4370832" y="2606040"/>
            <a:ext cx="3474720" cy="2331720"/>
          </a:xfrm>
          <a:prstGeom prst="roundRect">
            <a:avLst>
              <a:gd name="adj" fmla="val 2353"/>
            </a:avLst>
          </a:prstGeom>
          <a:solidFill>
            <a:srgbClr val="FFFFFF"/>
          </a:solidFill>
          <a:ln w="8890">
            <a:solidFill>
              <a:srgbClr val="D9E2E8"/>
            </a:solidFill>
            <a:prstDash val="solid"/>
          </a:ln>
        </p:spPr>
        <p:txBody>
          <a:bodyPr/>
          <a:lstStyle/>
          <a:p>
            <a:endParaRPr lang="en-US"/>
          </a:p>
        </p:txBody>
      </p:sp>
      <p:sp>
        <p:nvSpPr>
          <p:cNvPr id="19" name="Shape 17"/>
          <p:cNvSpPr/>
          <p:nvPr/>
        </p:nvSpPr>
        <p:spPr>
          <a:xfrm>
            <a:off x="4498848" y="2724912"/>
            <a:ext cx="1005840" cy="256032"/>
          </a:xfrm>
          <a:prstGeom prst="roundRect">
            <a:avLst>
              <a:gd name="adj" fmla="val 21429"/>
            </a:avLst>
          </a:prstGeom>
          <a:solidFill>
            <a:srgbClr val="E0A13A"/>
          </a:solidFill>
          <a:ln w="8890">
            <a:solidFill>
              <a:srgbClr val="E0A13A"/>
            </a:solidFill>
            <a:prstDash val="solid"/>
          </a:ln>
        </p:spPr>
        <p:txBody>
          <a:bodyPr/>
          <a:lstStyle/>
          <a:p>
            <a:endParaRPr lang="en-US"/>
          </a:p>
        </p:txBody>
      </p:sp>
      <p:sp>
        <p:nvSpPr>
          <p:cNvPr id="20" name="Text 18"/>
          <p:cNvSpPr/>
          <p:nvPr/>
        </p:nvSpPr>
        <p:spPr>
          <a:xfrm>
            <a:off x="4572000" y="2779776"/>
            <a:ext cx="868680" cy="146304"/>
          </a:xfrm>
          <a:prstGeom prst="rect">
            <a:avLst/>
          </a:prstGeom>
          <a:solidFill>
            <a:srgbClr val="C94C4C"/>
          </a:solidFill>
          <a:ln>
            <a:noFill/>
          </a:ln>
        </p:spPr>
        <p:txBody>
          <a:bodyPr wrap="none" lIns="109728" tIns="27432" rIns="109728" bIns="27432" rtlCol="0" anchor="t"/>
          <a:lstStyle/>
          <a:p>
            <a:pPr marL="0" indent="0" algn="ctr">
              <a:buNone/>
            </a:pPr>
            <a:r>
              <a:rPr sz="1200" b="1">
                <a:solidFill>
                  <a:srgbClr val="FFFFFF"/>
                </a:solidFill>
                <a:latin typeface="Aptos"/>
              </a:rPr>
              <a:t>NOISY</a:t>
            </a:r>
            <a:endParaRPr lang="en-US" sz="750" dirty="0"/>
          </a:p>
        </p:txBody>
      </p:sp>
      <p:sp>
        <p:nvSpPr>
          <p:cNvPr id="21" name="Text 19"/>
          <p:cNvSpPr/>
          <p:nvPr/>
        </p:nvSpPr>
        <p:spPr>
          <a:xfrm>
            <a:off x="4535424" y="3081528"/>
            <a:ext cx="3145536" cy="1728216"/>
          </a:xfrm>
          <a:prstGeom prst="rect">
            <a:avLst/>
          </a:prstGeom>
          <a:noFill/>
          <a:ln/>
        </p:spPr>
        <p:txBody>
          <a:bodyPr wrap="square" lIns="254" tIns="254" rIns="254" bIns="254" rtlCol="0" anchor="t">
            <a:normAutofit/>
          </a:bodyPr>
          <a:lstStyle/>
          <a:p>
            <a:pPr marL="0" indent="0" algn="l">
              <a:buNone/>
            </a:pPr>
            <a:r>
              <a:rPr lang="en-US" sz="1100" dirty="0">
                <a:solidFill>
                  <a:srgbClr val="25323D"/>
                </a:solidFill>
                <a:latin typeface="Aptos" pitchFamily="34" charset="0"/>
                <a:ea typeface="Aptos" pitchFamily="34" charset="-122"/>
                <a:cs typeface="Aptos" pitchFamily="34" charset="-120"/>
              </a:rPr>
              <a:t>Yes - "bad air"</a:t>
            </a:r>
            <a:endParaRPr lang="en-US" sz="820" dirty="0"/>
          </a:p>
        </p:txBody>
      </p:sp>
      <p:sp>
        <p:nvSpPr>
          <p:cNvPr id="22" name="Shape 20"/>
          <p:cNvSpPr/>
          <p:nvPr/>
        </p:nvSpPr>
        <p:spPr>
          <a:xfrm>
            <a:off x="8247888" y="2606040"/>
            <a:ext cx="2907792" cy="2331720"/>
          </a:xfrm>
          <a:prstGeom prst="roundRect">
            <a:avLst>
              <a:gd name="adj" fmla="val 2353"/>
            </a:avLst>
          </a:prstGeom>
          <a:solidFill>
            <a:srgbClr val="FFFFFF"/>
          </a:solidFill>
          <a:ln w="8890">
            <a:solidFill>
              <a:srgbClr val="D9E2E8"/>
            </a:solidFill>
            <a:prstDash val="solid"/>
          </a:ln>
        </p:spPr>
        <p:txBody>
          <a:bodyPr/>
          <a:lstStyle/>
          <a:p>
            <a:endParaRPr lang="en-US"/>
          </a:p>
        </p:txBody>
      </p:sp>
      <p:sp>
        <p:nvSpPr>
          <p:cNvPr id="23" name="Shape 21"/>
          <p:cNvSpPr/>
          <p:nvPr/>
        </p:nvSpPr>
        <p:spPr>
          <a:xfrm>
            <a:off x="8375904" y="2724912"/>
            <a:ext cx="1005840" cy="256032"/>
          </a:xfrm>
          <a:prstGeom prst="roundRect">
            <a:avLst>
              <a:gd name="adj" fmla="val 21429"/>
            </a:avLst>
          </a:prstGeom>
          <a:solidFill>
            <a:srgbClr val="127C7A"/>
          </a:solidFill>
          <a:ln w="8890">
            <a:solidFill>
              <a:srgbClr val="127C7A"/>
            </a:solidFill>
            <a:prstDash val="solid"/>
          </a:ln>
        </p:spPr>
        <p:txBody>
          <a:bodyPr/>
          <a:lstStyle/>
          <a:p>
            <a:endParaRPr lang="en-US"/>
          </a:p>
        </p:txBody>
      </p:sp>
      <p:sp>
        <p:nvSpPr>
          <p:cNvPr id="24" name="Text 22"/>
          <p:cNvSpPr/>
          <p:nvPr/>
        </p:nvSpPr>
        <p:spPr>
          <a:xfrm>
            <a:off x="8449056" y="2779776"/>
            <a:ext cx="1188720" cy="146304"/>
          </a:xfrm>
          <a:prstGeom prst="rect">
            <a:avLst/>
          </a:prstGeom>
          <a:solidFill>
            <a:srgbClr val="E0A13A"/>
          </a:solidFill>
          <a:ln>
            <a:noFill/>
          </a:ln>
        </p:spPr>
        <p:txBody>
          <a:bodyPr wrap="none" lIns="109728" tIns="27432" rIns="109728" bIns="27432" rtlCol="0" anchor="t"/>
          <a:lstStyle/>
          <a:p>
            <a:pPr marL="0" indent="0" algn="ctr">
              <a:buNone/>
            </a:pPr>
            <a:r>
              <a:rPr sz="1200" b="1">
                <a:solidFill>
                  <a:srgbClr val="FFFFFF"/>
                </a:solidFill>
                <a:latin typeface="Aptos"/>
              </a:rPr>
              <a:t>REPAIRED</a:t>
            </a:r>
            <a:endParaRPr lang="en-US" sz="750" dirty="0"/>
          </a:p>
        </p:txBody>
      </p:sp>
      <p:sp>
        <p:nvSpPr>
          <p:cNvPr id="25" name="Text 23"/>
          <p:cNvSpPr/>
          <p:nvPr/>
        </p:nvSpPr>
        <p:spPr>
          <a:xfrm>
            <a:off x="8412480" y="3081528"/>
            <a:ext cx="2578608" cy="1728216"/>
          </a:xfrm>
          <a:prstGeom prst="rect">
            <a:avLst/>
          </a:prstGeom>
          <a:noFill/>
          <a:ln/>
        </p:spPr>
        <p:txBody>
          <a:bodyPr wrap="square" lIns="254" tIns="254" rIns="254" bIns="254" rtlCol="0" anchor="t">
            <a:normAutofit/>
          </a:bodyPr>
          <a:lstStyle/>
          <a:p>
            <a:pPr marL="0" indent="0" algn="l">
              <a:buNone/>
            </a:pPr>
            <a:r>
              <a:rPr lang="en-US" sz="1100" dirty="0">
                <a:solidFill>
                  <a:srgbClr val="25323D"/>
                </a:solidFill>
                <a:latin typeface="Aptos" pitchFamily="34" charset="0"/>
                <a:ea typeface="Aptos" pitchFamily="34" charset="-122"/>
                <a:cs typeface="Aptos" pitchFamily="34" charset="-120"/>
              </a:rPr>
              <a:t>Poor air quality can affect many parts of the body, especially the lungs and heart. Common health effects include: Eye, nose, and throat irritation Coughing, wheezing, shortness of breath Worsening of asthma, COPD, and allergies Reduced lung function and increased risk of respiratory infections like bronchitis More serious or long-term effects can include...</a:t>
            </a:r>
            <a:endParaRPr lang="en-US" sz="820" dirty="0"/>
          </a:p>
        </p:txBody>
      </p:sp>
      <p:sp>
        <p:nvSpPr>
          <p:cNvPr id="26" name="Text 24"/>
          <p:cNvSpPr/>
          <p:nvPr/>
        </p:nvSpPr>
        <p:spPr>
          <a:xfrm>
            <a:off x="475488" y="5257800"/>
            <a:ext cx="4023360" cy="164592"/>
          </a:xfrm>
          <a:prstGeom prst="rect">
            <a:avLst/>
          </a:prstGeom>
          <a:noFill/>
          <a:ln/>
        </p:spPr>
        <p:txBody>
          <a:bodyPr wrap="square" lIns="0" tIns="0" rIns="0" bIns="0" rtlCol="0" anchor="t"/>
          <a:lstStyle/>
          <a:p>
            <a:pPr marL="0" indent="0" algn="l">
              <a:buNone/>
            </a:pPr>
            <a:r>
              <a:rPr lang="en-US" sz="1100" b="1" dirty="0">
                <a:solidFill>
                  <a:srgbClr val="25323D"/>
                </a:solidFill>
                <a:latin typeface="Aptos" pitchFamily="34" charset="0"/>
                <a:ea typeface="Aptos" pitchFamily="34" charset="-122"/>
                <a:cs typeface="Aptos" pitchFamily="34" charset="-120"/>
              </a:rPr>
              <a:t>G-Eval: 4 clean | 1 noisy | 4 repaired</a:t>
            </a:r>
            <a:endParaRPr lang="en-US" sz="820" dirty="0"/>
          </a:p>
        </p:txBody>
      </p:sp>
      <p:sp>
        <p:nvSpPr>
          <p:cNvPr id="27" name="Text 25"/>
          <p:cNvSpPr/>
          <p:nvPr/>
        </p:nvSpPr>
        <p:spPr>
          <a:xfrm>
            <a:off x="475488" y="5477256"/>
            <a:ext cx="4023360" cy="164592"/>
          </a:xfrm>
          <a:prstGeom prst="rect">
            <a:avLst/>
          </a:prstGeom>
          <a:noFill/>
          <a:ln/>
        </p:spPr>
        <p:txBody>
          <a:bodyPr wrap="square" lIns="0" tIns="0" rIns="0" bIns="0" rtlCol="0" anchor="t"/>
          <a:lstStyle/>
          <a:p>
            <a:pPr marL="0" indent="0" algn="l">
              <a:buNone/>
            </a:pPr>
            <a:r>
              <a:rPr lang="en-US" sz="1100" dirty="0">
                <a:solidFill>
                  <a:srgbClr val="52616B"/>
                </a:solidFill>
                <a:latin typeface="Aptos" pitchFamily="34" charset="0"/>
                <a:ea typeface="Aptos" pitchFamily="34" charset="-122"/>
                <a:cs typeface="Aptos" pitchFamily="34" charset="-120"/>
              </a:rPr>
              <a:t>med_coverage: 27.1 -&gt; 2.1 -&gt; 16.7</a:t>
            </a:r>
            <a:endParaRPr lang="en-US" sz="780" dirty="0"/>
          </a:p>
        </p:txBody>
      </p:sp>
      <p:sp>
        <p:nvSpPr>
          <p:cNvPr id="28" name="Text 26"/>
          <p:cNvSpPr/>
          <p:nvPr/>
        </p:nvSpPr>
        <p:spPr>
          <a:xfrm>
            <a:off x="4663440" y="5138928"/>
            <a:ext cx="6263640" cy="493776"/>
          </a:xfrm>
          <a:prstGeom prst="rect">
            <a:avLst/>
          </a:prstGeom>
          <a:noFill/>
          <a:ln/>
        </p:spPr>
        <p:txBody>
          <a:bodyPr wrap="square" lIns="635" tIns="635" rIns="635" bIns="635" rtlCol="0" anchor="t">
            <a:normAutofit/>
          </a:bodyPr>
          <a:lstStyle/>
          <a:p>
            <a:pPr marL="0" indent="0" algn="l">
              <a:buNone/>
            </a:pPr>
            <a:r>
              <a:rPr lang="en-US" sz="1120" b="1" dirty="0">
                <a:solidFill>
                  <a:srgbClr val="25323D"/>
                </a:solidFill>
                <a:latin typeface="Aptos" pitchFamily="34" charset="0"/>
                <a:ea typeface="Aptos" pitchFamily="34" charset="-122"/>
                <a:cs typeface="Aptos" pitchFamily="34" charset="-120"/>
              </a:rPr>
              <a:t>The noisy question asks for 'bad air stuff' and GPT-5.4 answers with a fragment. Repair restores much of the answer quality.</a:t>
            </a:r>
            <a:endParaRPr lang="en-US" sz="1120" dirty="0"/>
          </a:p>
        </p:txBody>
      </p:sp>
      <p:sp>
        <p:nvSpPr>
          <p:cNvPr id="29" name="Oval 28"/>
          <p:cNvSpPr/>
          <p:nvPr/>
        </p:nvSpPr>
        <p:spPr>
          <a:xfrm>
            <a:off x="475488" y="274320"/>
            <a:ext cx="384048" cy="384048"/>
          </a:xfrm>
          <a:prstGeom prst="ellipse">
            <a:avLst/>
          </a:prstGeom>
          <a:solidFill>
            <a:srgbClr val="127C7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ptos"/>
              </a:rPr>
              <a:t>11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978408" y="320040"/>
            <a:ext cx="5029200" cy="210312"/>
          </a:xfrm>
          <a:prstGeom prst="rect">
            <a:avLst/>
          </a:prstGeom>
          <a:noFill/>
          <a:ln/>
        </p:spPr>
        <p:txBody>
          <a:bodyPr wrap="square" lIns="635" tIns="635" rIns="635" bIns="635" rtlCol="0" anchor="t"/>
          <a:lstStyle/>
          <a:p>
            <a:pPr marL="0" indent="0" algn="l">
              <a:buNone/>
            </a:pPr>
            <a:r>
              <a:rPr sz="2000" b="1">
                <a:solidFill>
                  <a:srgbClr val="25323D"/>
                </a:solidFill>
                <a:latin typeface="Aptos"/>
              </a:rPr>
              <a:t>Evidence example</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25323D"/>
                </a:solidFill>
                <a:latin typeface="Aptos" pitchFamily="34" charset="0"/>
                <a:ea typeface="Aptos" pitchFamily="34" charset="-122"/>
                <a:cs typeface="Aptos" pitchFamily="34" charset="-120"/>
              </a:rPr>
              <a:t>Noisy wording can shift the topic.</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100" dirty="0">
                <a:solidFill>
                  <a:srgbClr val="52616B"/>
                </a:solidFill>
                <a:latin typeface="Aptos" pitchFamily="34" charset="0"/>
                <a:ea typeface="Aptos" pitchFamily="34" charset="-122"/>
                <a:cs typeface="Aptos" pitchFamily="34" charset="-120"/>
              </a:rPr>
              <a:t>gpt-5.4 | incomplete noise | question_id 28</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100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1000" dirty="0">
                <a:solidFill>
                  <a:srgbClr val="52616B"/>
                </a:solidFill>
                <a:latin typeface="Aptos" pitchFamily="34" charset="0"/>
                <a:ea typeface="Aptos" pitchFamily="34" charset="-122"/>
                <a:cs typeface="Aptos" pitchFamily="34" charset="-120"/>
              </a:rPr>
              <a:t>13 / 19</a:t>
            </a:r>
            <a:endParaRPr lang="en-US" sz="680" dirty="0"/>
          </a:p>
        </p:txBody>
      </p:sp>
      <p:sp>
        <p:nvSpPr>
          <p:cNvPr id="8" name="Text 6"/>
          <p:cNvSpPr/>
          <p:nvPr/>
        </p:nvSpPr>
        <p:spPr>
          <a:xfrm>
            <a:off x="475488" y="1627632"/>
            <a:ext cx="1280160" cy="164592"/>
          </a:xfrm>
          <a:prstGeom prst="rect">
            <a:avLst/>
          </a:prstGeom>
          <a:noFill/>
          <a:ln/>
        </p:spPr>
        <p:txBody>
          <a:bodyPr wrap="square" lIns="0" tIns="0" rIns="0" bIns="0" rtlCol="0" anchor="t"/>
          <a:lstStyle/>
          <a:p>
            <a:pPr marL="0" indent="0" algn="l">
              <a:buNone/>
            </a:pPr>
            <a:r>
              <a:rPr lang="en-US" sz="1100" b="1" dirty="0">
                <a:solidFill>
                  <a:srgbClr val="52616B"/>
                </a:solidFill>
                <a:latin typeface="Aptos" pitchFamily="34" charset="0"/>
                <a:ea typeface="Aptos" pitchFamily="34" charset="-122"/>
                <a:cs typeface="Aptos" pitchFamily="34" charset="-120"/>
              </a:rPr>
              <a:t>Question path</a:t>
            </a:r>
            <a:endParaRPr lang="en-US" sz="820" dirty="0"/>
          </a:p>
        </p:txBody>
      </p:sp>
      <p:sp>
        <p:nvSpPr>
          <p:cNvPr id="9" name="Text 7"/>
          <p:cNvSpPr/>
          <p:nvPr/>
        </p:nvSpPr>
        <p:spPr>
          <a:xfrm>
            <a:off x="475488" y="1874520"/>
            <a:ext cx="3063240" cy="329184"/>
          </a:xfrm>
          <a:prstGeom prst="rect">
            <a:avLst/>
          </a:prstGeom>
          <a:noFill/>
          <a:ln/>
        </p:spPr>
        <p:txBody>
          <a:bodyPr wrap="square" lIns="635" tIns="635" rIns="635" bIns="635" rtlCol="0" anchor="t">
            <a:normAutofit/>
          </a:bodyPr>
          <a:lstStyle/>
          <a:p>
            <a:pPr marL="0" indent="0" algn="l">
              <a:buNone/>
            </a:pPr>
            <a:r>
              <a:rPr lang="en-US" sz="1100" b="1" dirty="0">
                <a:solidFill>
                  <a:srgbClr val="127C7A"/>
                </a:solidFill>
                <a:latin typeface="Aptos" pitchFamily="34" charset="0"/>
                <a:ea typeface="Aptos" pitchFamily="34" charset="-122"/>
                <a:cs typeface="Aptos" pitchFamily="34" charset="-120"/>
              </a:rPr>
              <a:t>Do you have information about Anabolic Steroids</a:t>
            </a:r>
            <a:endParaRPr lang="en-US" sz="830" dirty="0"/>
          </a:p>
        </p:txBody>
      </p:sp>
      <p:sp>
        <p:nvSpPr>
          <p:cNvPr id="10" name="Text 8"/>
          <p:cNvSpPr/>
          <p:nvPr/>
        </p:nvSpPr>
        <p:spPr>
          <a:xfrm>
            <a:off x="3657600" y="1929384"/>
            <a:ext cx="228600" cy="182880"/>
          </a:xfrm>
          <a:prstGeom prst="rect">
            <a:avLst/>
          </a:prstGeom>
          <a:noFill/>
          <a:ln/>
        </p:spPr>
        <p:txBody>
          <a:bodyPr wrap="square" lIns="0" tIns="0" rIns="0" bIns="0" rtlCol="0" anchor="t"/>
          <a:lstStyle/>
          <a:p>
            <a:pPr marL="0" indent="0" algn="l">
              <a:buNone/>
            </a:pPr>
            <a:r>
              <a:rPr lang="en-US" sz="1100" b="1" dirty="0">
                <a:solidFill>
                  <a:srgbClr val="52616B"/>
                </a:solidFill>
                <a:latin typeface="Aptos" pitchFamily="34" charset="0"/>
                <a:ea typeface="Aptos" pitchFamily="34" charset="-122"/>
                <a:cs typeface="Aptos" pitchFamily="34" charset="-120"/>
              </a:rPr>
              <a:t>-&gt;</a:t>
            </a:r>
            <a:endParaRPr lang="en-US" sz="1100" dirty="0"/>
          </a:p>
        </p:txBody>
      </p:sp>
      <p:sp>
        <p:nvSpPr>
          <p:cNvPr id="11" name="Text 9"/>
          <p:cNvSpPr/>
          <p:nvPr/>
        </p:nvSpPr>
        <p:spPr>
          <a:xfrm>
            <a:off x="3977640" y="1874520"/>
            <a:ext cx="3063240" cy="329184"/>
          </a:xfrm>
          <a:prstGeom prst="rect">
            <a:avLst/>
          </a:prstGeom>
          <a:noFill/>
          <a:ln/>
        </p:spPr>
        <p:txBody>
          <a:bodyPr wrap="square" lIns="635" tIns="635" rIns="635" bIns="635" rtlCol="0" anchor="t">
            <a:normAutofit/>
          </a:bodyPr>
          <a:lstStyle/>
          <a:p>
            <a:pPr marL="0" indent="0" algn="l">
              <a:buNone/>
            </a:pPr>
            <a:r>
              <a:rPr lang="en-US" sz="1100" b="1" dirty="0">
                <a:solidFill>
                  <a:srgbClr val="E0A13A"/>
                </a:solidFill>
                <a:latin typeface="Aptos" pitchFamily="34" charset="0"/>
                <a:ea typeface="Aptos" pitchFamily="34" charset="-122"/>
                <a:cs typeface="Aptos" pitchFamily="34" charset="-120"/>
              </a:rPr>
              <a:t>do you hav any info on those muscle-building stuff?</a:t>
            </a:r>
            <a:endParaRPr lang="en-US" sz="830" dirty="0"/>
          </a:p>
        </p:txBody>
      </p:sp>
      <p:sp>
        <p:nvSpPr>
          <p:cNvPr id="12" name="Text 10"/>
          <p:cNvSpPr/>
          <p:nvPr/>
        </p:nvSpPr>
        <p:spPr>
          <a:xfrm>
            <a:off x="7150608" y="1929384"/>
            <a:ext cx="228600" cy="182880"/>
          </a:xfrm>
          <a:prstGeom prst="rect">
            <a:avLst/>
          </a:prstGeom>
          <a:noFill/>
          <a:ln/>
        </p:spPr>
        <p:txBody>
          <a:bodyPr wrap="square" lIns="0" tIns="0" rIns="0" bIns="0" rtlCol="0" anchor="t"/>
          <a:lstStyle/>
          <a:p>
            <a:pPr marL="0" indent="0" algn="l">
              <a:buNone/>
            </a:pPr>
            <a:r>
              <a:rPr lang="en-US" sz="1100" b="1" dirty="0">
                <a:solidFill>
                  <a:srgbClr val="52616B"/>
                </a:solidFill>
                <a:latin typeface="Aptos" pitchFamily="34" charset="0"/>
                <a:ea typeface="Aptos" pitchFamily="34" charset="-122"/>
                <a:cs typeface="Aptos" pitchFamily="34" charset="-120"/>
              </a:rPr>
              <a:t>-&gt;</a:t>
            </a:r>
            <a:endParaRPr lang="en-US" sz="1100" dirty="0"/>
          </a:p>
        </p:txBody>
      </p:sp>
      <p:sp>
        <p:nvSpPr>
          <p:cNvPr id="13" name="Text 11"/>
          <p:cNvSpPr/>
          <p:nvPr/>
        </p:nvSpPr>
        <p:spPr>
          <a:xfrm>
            <a:off x="7452360" y="1874520"/>
            <a:ext cx="3749040" cy="329184"/>
          </a:xfrm>
          <a:prstGeom prst="rect">
            <a:avLst/>
          </a:prstGeom>
          <a:noFill/>
          <a:ln/>
        </p:spPr>
        <p:txBody>
          <a:bodyPr wrap="square" lIns="635" tIns="635" rIns="635" bIns="635" rtlCol="0" anchor="t">
            <a:normAutofit/>
          </a:bodyPr>
          <a:lstStyle/>
          <a:p>
            <a:pPr marL="0" indent="0" algn="l">
              <a:buNone/>
            </a:pPr>
            <a:r>
              <a:rPr lang="en-US" sz="1100" b="1" dirty="0">
                <a:solidFill>
                  <a:srgbClr val="127C7A"/>
                </a:solidFill>
                <a:latin typeface="Aptos" pitchFamily="34" charset="0"/>
                <a:ea typeface="Aptos" pitchFamily="34" charset="-122"/>
                <a:cs typeface="Aptos" pitchFamily="34" charset="-120"/>
              </a:rPr>
              <a:t>What are the health risks and side effects of using muscle-building supplements or anabolic steroids?</a:t>
            </a:r>
            <a:endParaRPr lang="en-US" sz="830" dirty="0"/>
          </a:p>
        </p:txBody>
      </p:sp>
      <p:sp>
        <p:nvSpPr>
          <p:cNvPr id="14" name="Shape 12"/>
          <p:cNvSpPr/>
          <p:nvPr/>
        </p:nvSpPr>
        <p:spPr>
          <a:xfrm>
            <a:off x="475488" y="2606040"/>
            <a:ext cx="3474720" cy="2331720"/>
          </a:xfrm>
          <a:prstGeom prst="roundRect">
            <a:avLst>
              <a:gd name="adj" fmla="val 2353"/>
            </a:avLst>
          </a:prstGeom>
          <a:solidFill>
            <a:srgbClr val="FFFFFF"/>
          </a:solidFill>
          <a:ln w="8890">
            <a:solidFill>
              <a:srgbClr val="D9E2E8"/>
            </a:solidFill>
            <a:prstDash val="solid"/>
          </a:ln>
        </p:spPr>
        <p:txBody>
          <a:bodyPr/>
          <a:lstStyle/>
          <a:p>
            <a:endParaRPr lang="en-US"/>
          </a:p>
        </p:txBody>
      </p:sp>
      <p:sp>
        <p:nvSpPr>
          <p:cNvPr id="15" name="Shape 13"/>
          <p:cNvSpPr/>
          <p:nvPr/>
        </p:nvSpPr>
        <p:spPr>
          <a:xfrm>
            <a:off x="603504" y="2724912"/>
            <a:ext cx="1005840" cy="256032"/>
          </a:xfrm>
          <a:prstGeom prst="roundRect">
            <a:avLst>
              <a:gd name="adj" fmla="val 21429"/>
            </a:avLst>
          </a:prstGeom>
          <a:solidFill>
            <a:srgbClr val="127C7A"/>
          </a:solidFill>
          <a:ln w="8890">
            <a:solidFill>
              <a:srgbClr val="3867D6"/>
            </a:solidFill>
            <a:prstDash val="solid"/>
          </a:ln>
        </p:spPr>
        <p:txBody>
          <a:bodyPr/>
          <a:lstStyle/>
          <a:p>
            <a:endParaRPr lang="en-US"/>
          </a:p>
        </p:txBody>
      </p:sp>
      <p:sp>
        <p:nvSpPr>
          <p:cNvPr id="16" name="Text 14"/>
          <p:cNvSpPr/>
          <p:nvPr/>
        </p:nvSpPr>
        <p:spPr>
          <a:xfrm>
            <a:off x="676656" y="2779776"/>
            <a:ext cx="868680" cy="146304"/>
          </a:xfrm>
          <a:prstGeom prst="rect">
            <a:avLst/>
          </a:prstGeom>
          <a:solidFill>
            <a:srgbClr val="127C7A"/>
          </a:solidFill>
          <a:ln>
            <a:noFill/>
          </a:ln>
        </p:spPr>
        <p:txBody>
          <a:bodyPr wrap="none" lIns="109728" tIns="27432" rIns="109728" bIns="27432" rtlCol="0" anchor="t"/>
          <a:lstStyle/>
          <a:p>
            <a:pPr marL="0" indent="0" algn="ctr">
              <a:buNone/>
            </a:pPr>
            <a:r>
              <a:rPr sz="1200" b="1">
                <a:solidFill>
                  <a:srgbClr val="FFFFFF"/>
                </a:solidFill>
                <a:latin typeface="Aptos"/>
              </a:rPr>
              <a:t>CLEAN</a:t>
            </a:r>
            <a:endParaRPr lang="en-US" sz="750" dirty="0"/>
          </a:p>
        </p:txBody>
      </p:sp>
      <p:sp>
        <p:nvSpPr>
          <p:cNvPr id="17" name="Text 15"/>
          <p:cNvSpPr/>
          <p:nvPr/>
        </p:nvSpPr>
        <p:spPr>
          <a:xfrm>
            <a:off x="640080" y="3081528"/>
            <a:ext cx="3145536" cy="1728216"/>
          </a:xfrm>
          <a:prstGeom prst="rect">
            <a:avLst/>
          </a:prstGeom>
          <a:noFill/>
          <a:ln/>
        </p:spPr>
        <p:txBody>
          <a:bodyPr wrap="square" lIns="254" tIns="254" rIns="254" bIns="254" rtlCol="0" anchor="t">
            <a:normAutofit/>
          </a:bodyPr>
          <a:lstStyle/>
          <a:p>
            <a:pPr marL="0" indent="0" algn="l">
              <a:buNone/>
            </a:pPr>
            <a:r>
              <a:rPr lang="en-US" sz="1100" dirty="0">
                <a:solidFill>
                  <a:srgbClr val="25323D"/>
                </a:solidFill>
                <a:latin typeface="Aptos" pitchFamily="34" charset="0"/>
                <a:ea typeface="Aptos" pitchFamily="34" charset="-122"/>
                <a:cs typeface="Aptos" pitchFamily="34" charset="-120"/>
              </a:rPr>
              <a:t>Yes. Anabolic steroids usually refers to anabolic-androgenic steroids (AAS), which are synthetic versions of testosterone. What they do They can: Increase muscle mass and strength Promote protein synthesis Affect male sexual characteristics because of their androgenic effects Legitimate medical uses Doctors may prescribe them for certain conditions, such...</a:t>
            </a:r>
            <a:endParaRPr lang="en-US" sz="820" dirty="0"/>
          </a:p>
        </p:txBody>
      </p:sp>
      <p:sp>
        <p:nvSpPr>
          <p:cNvPr id="18" name="Shape 16"/>
          <p:cNvSpPr/>
          <p:nvPr/>
        </p:nvSpPr>
        <p:spPr>
          <a:xfrm>
            <a:off x="4370832" y="2606040"/>
            <a:ext cx="3474720" cy="2331720"/>
          </a:xfrm>
          <a:prstGeom prst="roundRect">
            <a:avLst>
              <a:gd name="adj" fmla="val 2353"/>
            </a:avLst>
          </a:prstGeom>
          <a:solidFill>
            <a:srgbClr val="FFFFFF"/>
          </a:solidFill>
          <a:ln w="8890">
            <a:solidFill>
              <a:srgbClr val="D9E2E8"/>
            </a:solidFill>
            <a:prstDash val="solid"/>
          </a:ln>
        </p:spPr>
        <p:txBody>
          <a:bodyPr/>
          <a:lstStyle/>
          <a:p>
            <a:endParaRPr lang="en-US"/>
          </a:p>
        </p:txBody>
      </p:sp>
      <p:sp>
        <p:nvSpPr>
          <p:cNvPr id="19" name="Shape 17"/>
          <p:cNvSpPr/>
          <p:nvPr/>
        </p:nvSpPr>
        <p:spPr>
          <a:xfrm>
            <a:off x="4498848" y="2724912"/>
            <a:ext cx="1005840" cy="256032"/>
          </a:xfrm>
          <a:prstGeom prst="roundRect">
            <a:avLst>
              <a:gd name="adj" fmla="val 21429"/>
            </a:avLst>
          </a:prstGeom>
          <a:solidFill>
            <a:srgbClr val="E0A13A"/>
          </a:solidFill>
          <a:ln w="8890">
            <a:solidFill>
              <a:srgbClr val="E0A13A"/>
            </a:solidFill>
            <a:prstDash val="solid"/>
          </a:ln>
        </p:spPr>
        <p:txBody>
          <a:bodyPr/>
          <a:lstStyle/>
          <a:p>
            <a:endParaRPr lang="en-US"/>
          </a:p>
        </p:txBody>
      </p:sp>
      <p:sp>
        <p:nvSpPr>
          <p:cNvPr id="20" name="Text 18"/>
          <p:cNvSpPr/>
          <p:nvPr/>
        </p:nvSpPr>
        <p:spPr>
          <a:xfrm>
            <a:off x="4572000" y="2779776"/>
            <a:ext cx="868680" cy="146304"/>
          </a:xfrm>
          <a:prstGeom prst="rect">
            <a:avLst/>
          </a:prstGeom>
          <a:solidFill>
            <a:srgbClr val="C94C4C"/>
          </a:solidFill>
          <a:ln>
            <a:noFill/>
          </a:ln>
        </p:spPr>
        <p:txBody>
          <a:bodyPr wrap="none" lIns="109728" tIns="27432" rIns="109728" bIns="27432" rtlCol="0" anchor="t"/>
          <a:lstStyle/>
          <a:p>
            <a:pPr marL="0" indent="0" algn="ctr">
              <a:buNone/>
            </a:pPr>
            <a:r>
              <a:rPr sz="1200" b="1">
                <a:solidFill>
                  <a:srgbClr val="FFFFFF"/>
                </a:solidFill>
                <a:latin typeface="Aptos"/>
              </a:rPr>
              <a:t>NOISY</a:t>
            </a:r>
            <a:endParaRPr lang="en-US" sz="750" dirty="0"/>
          </a:p>
        </p:txBody>
      </p:sp>
      <p:sp>
        <p:nvSpPr>
          <p:cNvPr id="21" name="Text 19"/>
          <p:cNvSpPr/>
          <p:nvPr/>
        </p:nvSpPr>
        <p:spPr>
          <a:xfrm>
            <a:off x="4535424" y="3081528"/>
            <a:ext cx="3145536" cy="1728216"/>
          </a:xfrm>
          <a:prstGeom prst="rect">
            <a:avLst/>
          </a:prstGeom>
          <a:noFill/>
          <a:ln/>
        </p:spPr>
        <p:txBody>
          <a:bodyPr wrap="square" lIns="254" tIns="254" rIns="254" bIns="254" rtlCol="0" anchor="t">
            <a:normAutofit/>
          </a:bodyPr>
          <a:lstStyle/>
          <a:p>
            <a:pPr marL="0" indent="0" algn="l">
              <a:buNone/>
            </a:pPr>
            <a:r>
              <a:rPr lang="en-US" sz="1100" dirty="0">
                <a:solidFill>
                  <a:srgbClr val="25323D"/>
                </a:solidFill>
                <a:latin typeface="Aptos" pitchFamily="34" charset="0"/>
                <a:ea typeface="Aptos" pitchFamily="34" charset="-122"/>
                <a:cs typeface="Aptos" pitchFamily="34" charset="-120"/>
              </a:rPr>
              <a:t>Yes - if you mean muscle-building supplements or drugs, here's the short version: Things that actually help Protein powder: useful if you're not getting enough protein from food. Aim for about 1.6-2.2 g protein/kg body weight/day if trying to build muscle. Creatine monohydrate: one of the best-studied supplements for strength and muscle gain. Typical dose...</a:t>
            </a:r>
            <a:endParaRPr lang="en-US" sz="820" dirty="0"/>
          </a:p>
        </p:txBody>
      </p:sp>
      <p:sp>
        <p:nvSpPr>
          <p:cNvPr id="22" name="Shape 20"/>
          <p:cNvSpPr/>
          <p:nvPr/>
        </p:nvSpPr>
        <p:spPr>
          <a:xfrm>
            <a:off x="8247888" y="2606040"/>
            <a:ext cx="2907792" cy="2331720"/>
          </a:xfrm>
          <a:prstGeom prst="roundRect">
            <a:avLst>
              <a:gd name="adj" fmla="val 2353"/>
            </a:avLst>
          </a:prstGeom>
          <a:solidFill>
            <a:srgbClr val="FFFFFF"/>
          </a:solidFill>
          <a:ln w="8890">
            <a:solidFill>
              <a:srgbClr val="D9E2E8"/>
            </a:solidFill>
            <a:prstDash val="solid"/>
          </a:ln>
        </p:spPr>
        <p:txBody>
          <a:bodyPr/>
          <a:lstStyle/>
          <a:p>
            <a:endParaRPr lang="en-US"/>
          </a:p>
        </p:txBody>
      </p:sp>
      <p:sp>
        <p:nvSpPr>
          <p:cNvPr id="23" name="Shape 21"/>
          <p:cNvSpPr/>
          <p:nvPr/>
        </p:nvSpPr>
        <p:spPr>
          <a:xfrm>
            <a:off x="8375904" y="2724912"/>
            <a:ext cx="1005840" cy="256032"/>
          </a:xfrm>
          <a:prstGeom prst="roundRect">
            <a:avLst>
              <a:gd name="adj" fmla="val 21429"/>
            </a:avLst>
          </a:prstGeom>
          <a:solidFill>
            <a:srgbClr val="127C7A"/>
          </a:solidFill>
          <a:ln w="8890">
            <a:solidFill>
              <a:srgbClr val="127C7A"/>
            </a:solidFill>
            <a:prstDash val="solid"/>
          </a:ln>
        </p:spPr>
        <p:txBody>
          <a:bodyPr/>
          <a:lstStyle/>
          <a:p>
            <a:endParaRPr lang="en-US"/>
          </a:p>
        </p:txBody>
      </p:sp>
      <p:sp>
        <p:nvSpPr>
          <p:cNvPr id="24" name="Text 22"/>
          <p:cNvSpPr/>
          <p:nvPr/>
        </p:nvSpPr>
        <p:spPr>
          <a:xfrm>
            <a:off x="8449056" y="2779776"/>
            <a:ext cx="1188720" cy="146304"/>
          </a:xfrm>
          <a:prstGeom prst="rect">
            <a:avLst/>
          </a:prstGeom>
          <a:solidFill>
            <a:srgbClr val="E0A13A"/>
          </a:solidFill>
          <a:ln>
            <a:noFill/>
          </a:ln>
        </p:spPr>
        <p:txBody>
          <a:bodyPr wrap="none" lIns="109728" tIns="27432" rIns="109728" bIns="27432" rtlCol="0" anchor="t"/>
          <a:lstStyle/>
          <a:p>
            <a:pPr marL="0" indent="0" algn="ctr">
              <a:buNone/>
            </a:pPr>
            <a:r>
              <a:rPr sz="1200" b="1">
                <a:solidFill>
                  <a:srgbClr val="FFFFFF"/>
                </a:solidFill>
                <a:latin typeface="Aptos"/>
              </a:rPr>
              <a:t>REPAIRED</a:t>
            </a:r>
            <a:endParaRPr lang="en-US" sz="750" dirty="0"/>
          </a:p>
        </p:txBody>
      </p:sp>
      <p:sp>
        <p:nvSpPr>
          <p:cNvPr id="25" name="Text 23"/>
          <p:cNvSpPr/>
          <p:nvPr/>
        </p:nvSpPr>
        <p:spPr>
          <a:xfrm>
            <a:off x="8412480" y="3081528"/>
            <a:ext cx="2578608" cy="1728216"/>
          </a:xfrm>
          <a:prstGeom prst="rect">
            <a:avLst/>
          </a:prstGeom>
          <a:noFill/>
          <a:ln/>
        </p:spPr>
        <p:txBody>
          <a:bodyPr wrap="square" lIns="254" tIns="254" rIns="254" bIns="254" rtlCol="0" anchor="t">
            <a:normAutofit/>
          </a:bodyPr>
          <a:lstStyle/>
          <a:p>
            <a:pPr marL="0" indent="0" algn="l">
              <a:buNone/>
            </a:pPr>
            <a:r>
              <a:rPr lang="en-US" sz="1100" dirty="0">
                <a:solidFill>
                  <a:srgbClr val="25323D"/>
                </a:solidFill>
                <a:latin typeface="Aptos" pitchFamily="34" charset="0"/>
                <a:ea typeface="Aptos" pitchFamily="34" charset="-122"/>
                <a:cs typeface="Aptos" pitchFamily="34" charset="-120"/>
              </a:rPr>
              <a:t>Muscle-building products range from legal supplements to anabolic-androgenic steroids, and the risks depend heavily on what is being used. Muscle-building supplements Common products include protein powders, creatine, pre-workouts, "test boosters," and weight-gain products. Possible risks and side effects Stomach upset: nausea, bloating, diarrhea, cramps...</a:t>
            </a:r>
            <a:endParaRPr lang="en-US" sz="820" dirty="0"/>
          </a:p>
        </p:txBody>
      </p:sp>
      <p:sp>
        <p:nvSpPr>
          <p:cNvPr id="26" name="Text 24"/>
          <p:cNvSpPr/>
          <p:nvPr/>
        </p:nvSpPr>
        <p:spPr>
          <a:xfrm>
            <a:off x="475488" y="5257800"/>
            <a:ext cx="4023360" cy="164592"/>
          </a:xfrm>
          <a:prstGeom prst="rect">
            <a:avLst/>
          </a:prstGeom>
          <a:noFill/>
          <a:ln/>
        </p:spPr>
        <p:txBody>
          <a:bodyPr wrap="square" lIns="0" tIns="0" rIns="0" bIns="0" rtlCol="0" anchor="t"/>
          <a:lstStyle/>
          <a:p>
            <a:pPr marL="0" indent="0" algn="l">
              <a:buNone/>
            </a:pPr>
            <a:r>
              <a:rPr lang="en-US" sz="1100" b="1" dirty="0">
                <a:solidFill>
                  <a:srgbClr val="25323D"/>
                </a:solidFill>
                <a:latin typeface="Aptos" pitchFamily="34" charset="0"/>
                <a:ea typeface="Aptos" pitchFamily="34" charset="-122"/>
                <a:cs typeface="Aptos" pitchFamily="34" charset="-120"/>
              </a:rPr>
              <a:t>G-Eval: 4 clean | 2 noisy | 3 repaired</a:t>
            </a:r>
            <a:endParaRPr lang="en-US" sz="820" dirty="0"/>
          </a:p>
        </p:txBody>
      </p:sp>
      <p:sp>
        <p:nvSpPr>
          <p:cNvPr id="27" name="Text 25"/>
          <p:cNvSpPr/>
          <p:nvPr/>
        </p:nvSpPr>
        <p:spPr>
          <a:xfrm>
            <a:off x="475488" y="5477256"/>
            <a:ext cx="4023360" cy="164592"/>
          </a:xfrm>
          <a:prstGeom prst="rect">
            <a:avLst/>
          </a:prstGeom>
          <a:noFill/>
          <a:ln/>
        </p:spPr>
        <p:txBody>
          <a:bodyPr wrap="square" lIns="0" tIns="0" rIns="0" bIns="0" rtlCol="0" anchor="t"/>
          <a:lstStyle/>
          <a:p>
            <a:pPr marL="0" indent="0" algn="l">
              <a:buNone/>
            </a:pPr>
            <a:r>
              <a:rPr lang="en-US" sz="1100" dirty="0">
                <a:solidFill>
                  <a:srgbClr val="52616B"/>
                </a:solidFill>
                <a:latin typeface="Aptos" pitchFamily="34" charset="0"/>
                <a:ea typeface="Aptos" pitchFamily="34" charset="-122"/>
                <a:cs typeface="Aptos" pitchFamily="34" charset="-120"/>
              </a:rPr>
              <a:t>med_coverage: 28.3 -&gt; 7.5 -&gt; 13.2</a:t>
            </a:r>
            <a:endParaRPr lang="en-US" sz="780" dirty="0"/>
          </a:p>
        </p:txBody>
      </p:sp>
      <p:sp>
        <p:nvSpPr>
          <p:cNvPr id="28" name="Text 26"/>
          <p:cNvSpPr/>
          <p:nvPr/>
        </p:nvSpPr>
        <p:spPr>
          <a:xfrm>
            <a:off x="4663440" y="5138928"/>
            <a:ext cx="6263640" cy="493776"/>
          </a:xfrm>
          <a:prstGeom prst="rect">
            <a:avLst/>
          </a:prstGeom>
          <a:noFill/>
          <a:ln/>
        </p:spPr>
        <p:txBody>
          <a:bodyPr wrap="square" lIns="635" tIns="635" rIns="635" bIns="635" rtlCol="0" anchor="t">
            <a:normAutofit/>
          </a:bodyPr>
          <a:lstStyle/>
          <a:p>
            <a:pPr marL="0" indent="0" algn="l">
              <a:buNone/>
            </a:pPr>
            <a:r>
              <a:rPr lang="en-US" sz="1120" b="1" dirty="0">
                <a:solidFill>
                  <a:srgbClr val="25323D"/>
                </a:solidFill>
                <a:latin typeface="Aptos" pitchFamily="34" charset="0"/>
                <a:ea typeface="Aptos" pitchFamily="34" charset="-122"/>
                <a:cs typeface="Aptos" pitchFamily="34" charset="-120"/>
              </a:rPr>
              <a:t>The clean topic is anabolic steroids; the noisy answer drifts into generic supplements like protein powder and creatine.</a:t>
            </a:r>
            <a:endParaRPr lang="en-US" sz="1120" dirty="0"/>
          </a:p>
        </p:txBody>
      </p:sp>
      <p:sp>
        <p:nvSpPr>
          <p:cNvPr id="29" name="Oval 28"/>
          <p:cNvSpPr/>
          <p:nvPr/>
        </p:nvSpPr>
        <p:spPr>
          <a:xfrm>
            <a:off x="475488" y="274320"/>
            <a:ext cx="384048" cy="384048"/>
          </a:xfrm>
          <a:prstGeom prst="ellipse">
            <a:avLst/>
          </a:prstGeom>
          <a:solidFill>
            <a:srgbClr val="127C7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ptos"/>
              </a:rPr>
              <a:t>12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978408" y="320040"/>
            <a:ext cx="5029200" cy="210312"/>
          </a:xfrm>
          <a:prstGeom prst="rect">
            <a:avLst/>
          </a:prstGeom>
          <a:noFill/>
          <a:ln/>
        </p:spPr>
        <p:txBody>
          <a:bodyPr wrap="square" lIns="635" tIns="635" rIns="635" bIns="635" rtlCol="0" anchor="t"/>
          <a:lstStyle/>
          <a:p>
            <a:pPr marL="0" indent="0" algn="l">
              <a:buNone/>
            </a:pPr>
            <a:r>
              <a:rPr sz="2000" b="1">
                <a:solidFill>
                  <a:srgbClr val="25323D"/>
                </a:solidFill>
                <a:latin typeface="Aptos"/>
              </a:rPr>
              <a:t>Evidence example</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25323D"/>
                </a:solidFill>
                <a:latin typeface="Aptos" pitchFamily="34" charset="0"/>
                <a:ea typeface="Aptos" pitchFamily="34" charset="-122"/>
                <a:cs typeface="Aptos" pitchFamily="34" charset="-120"/>
              </a:rPr>
              <a:t>Layperson phrasing changes the frame.</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100" dirty="0">
                <a:solidFill>
                  <a:srgbClr val="52616B"/>
                </a:solidFill>
                <a:latin typeface="Aptos" pitchFamily="34" charset="0"/>
                <a:ea typeface="Aptos" pitchFamily="34" charset="-122"/>
                <a:cs typeface="Aptos" pitchFamily="34" charset="-120"/>
              </a:rPr>
              <a:t>gpt-5.4 | layperson noise | question_id 2</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100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1000" dirty="0">
                <a:solidFill>
                  <a:srgbClr val="52616B"/>
                </a:solidFill>
                <a:latin typeface="Aptos" pitchFamily="34" charset="0"/>
                <a:ea typeface="Aptos" pitchFamily="34" charset="-122"/>
                <a:cs typeface="Aptos" pitchFamily="34" charset="-120"/>
              </a:rPr>
              <a:t>14 / 19</a:t>
            </a:r>
            <a:endParaRPr lang="en-US" sz="680" dirty="0"/>
          </a:p>
        </p:txBody>
      </p:sp>
      <p:sp>
        <p:nvSpPr>
          <p:cNvPr id="8" name="Text 6"/>
          <p:cNvSpPr/>
          <p:nvPr/>
        </p:nvSpPr>
        <p:spPr>
          <a:xfrm>
            <a:off x="475488" y="1627632"/>
            <a:ext cx="1280160" cy="164592"/>
          </a:xfrm>
          <a:prstGeom prst="rect">
            <a:avLst/>
          </a:prstGeom>
          <a:noFill/>
          <a:ln/>
        </p:spPr>
        <p:txBody>
          <a:bodyPr wrap="square" lIns="0" tIns="0" rIns="0" bIns="0" rtlCol="0" anchor="t"/>
          <a:lstStyle/>
          <a:p>
            <a:pPr marL="0" indent="0" algn="l">
              <a:buNone/>
            </a:pPr>
            <a:r>
              <a:rPr lang="en-US" sz="1100" b="1" dirty="0">
                <a:solidFill>
                  <a:srgbClr val="52616B"/>
                </a:solidFill>
                <a:latin typeface="Aptos" pitchFamily="34" charset="0"/>
                <a:ea typeface="Aptos" pitchFamily="34" charset="-122"/>
                <a:cs typeface="Aptos" pitchFamily="34" charset="-120"/>
              </a:rPr>
              <a:t>Question path</a:t>
            </a:r>
            <a:endParaRPr lang="en-US" sz="820" dirty="0"/>
          </a:p>
        </p:txBody>
      </p:sp>
      <p:sp>
        <p:nvSpPr>
          <p:cNvPr id="9" name="Text 7"/>
          <p:cNvSpPr/>
          <p:nvPr/>
        </p:nvSpPr>
        <p:spPr>
          <a:xfrm>
            <a:off x="475488" y="1874520"/>
            <a:ext cx="3063240" cy="329184"/>
          </a:xfrm>
          <a:prstGeom prst="rect">
            <a:avLst/>
          </a:prstGeom>
          <a:noFill/>
          <a:ln/>
        </p:spPr>
        <p:txBody>
          <a:bodyPr wrap="square" lIns="635" tIns="635" rIns="635" bIns="635" rtlCol="0" anchor="t">
            <a:normAutofit/>
          </a:bodyPr>
          <a:lstStyle/>
          <a:p>
            <a:pPr marL="0" indent="0" algn="l">
              <a:buNone/>
            </a:pPr>
            <a:r>
              <a:rPr lang="en-US" sz="1100" b="1" dirty="0">
                <a:solidFill>
                  <a:srgbClr val="127C7A"/>
                </a:solidFill>
                <a:latin typeface="Aptos" pitchFamily="34" charset="0"/>
                <a:ea typeface="Aptos" pitchFamily="34" charset="-122"/>
                <a:cs typeface="Aptos" pitchFamily="34" charset="-120"/>
              </a:rPr>
              <a:t>What is (are) Abortion ?</a:t>
            </a:r>
            <a:endParaRPr lang="en-US" sz="830" dirty="0"/>
          </a:p>
        </p:txBody>
      </p:sp>
      <p:sp>
        <p:nvSpPr>
          <p:cNvPr id="10" name="Text 8"/>
          <p:cNvSpPr/>
          <p:nvPr/>
        </p:nvSpPr>
        <p:spPr>
          <a:xfrm>
            <a:off x="3657600" y="1929384"/>
            <a:ext cx="228600" cy="182880"/>
          </a:xfrm>
          <a:prstGeom prst="rect">
            <a:avLst/>
          </a:prstGeom>
          <a:noFill/>
          <a:ln/>
        </p:spPr>
        <p:txBody>
          <a:bodyPr wrap="square" lIns="0" tIns="0" rIns="0" bIns="0" rtlCol="0" anchor="t"/>
          <a:lstStyle/>
          <a:p>
            <a:pPr marL="0" indent="0" algn="l">
              <a:buNone/>
            </a:pPr>
            <a:r>
              <a:rPr lang="en-US" sz="1100" b="1" dirty="0">
                <a:solidFill>
                  <a:srgbClr val="52616B"/>
                </a:solidFill>
                <a:latin typeface="Aptos" pitchFamily="34" charset="0"/>
                <a:ea typeface="Aptos" pitchFamily="34" charset="-122"/>
                <a:cs typeface="Aptos" pitchFamily="34" charset="-120"/>
              </a:rPr>
              <a:t>-&gt;</a:t>
            </a:r>
            <a:endParaRPr lang="en-US" sz="1100" dirty="0"/>
          </a:p>
        </p:txBody>
      </p:sp>
      <p:sp>
        <p:nvSpPr>
          <p:cNvPr id="11" name="Text 9"/>
          <p:cNvSpPr/>
          <p:nvPr/>
        </p:nvSpPr>
        <p:spPr>
          <a:xfrm>
            <a:off x="3977640" y="1874520"/>
            <a:ext cx="3063240" cy="329184"/>
          </a:xfrm>
          <a:prstGeom prst="rect">
            <a:avLst/>
          </a:prstGeom>
          <a:noFill/>
          <a:ln/>
        </p:spPr>
        <p:txBody>
          <a:bodyPr wrap="square" lIns="635" tIns="635" rIns="635" bIns="635" rtlCol="0" anchor="t">
            <a:normAutofit/>
          </a:bodyPr>
          <a:lstStyle/>
          <a:p>
            <a:pPr marL="0" indent="0" algn="l">
              <a:buNone/>
            </a:pPr>
            <a:r>
              <a:rPr lang="en-US" sz="1100" b="1" dirty="0">
                <a:solidFill>
                  <a:srgbClr val="E0A13A"/>
                </a:solidFill>
                <a:latin typeface="Aptos" pitchFamily="34" charset="0"/>
                <a:ea typeface="Aptos" pitchFamily="34" charset="-122"/>
                <a:cs typeface="Aptos" pitchFamily="34" charset="-120"/>
              </a:rPr>
              <a:t>what does it mean when a pregancy gets ended early or the baby is not kept, like how does that whole thing happen and what is i...</a:t>
            </a:r>
            <a:endParaRPr lang="en-US" sz="830" dirty="0"/>
          </a:p>
        </p:txBody>
      </p:sp>
      <p:sp>
        <p:nvSpPr>
          <p:cNvPr id="12" name="Text 10"/>
          <p:cNvSpPr/>
          <p:nvPr/>
        </p:nvSpPr>
        <p:spPr>
          <a:xfrm>
            <a:off x="7150608" y="1929384"/>
            <a:ext cx="228600" cy="182880"/>
          </a:xfrm>
          <a:prstGeom prst="rect">
            <a:avLst/>
          </a:prstGeom>
          <a:noFill/>
          <a:ln/>
        </p:spPr>
        <p:txBody>
          <a:bodyPr wrap="square" lIns="0" tIns="0" rIns="0" bIns="0" rtlCol="0" anchor="t"/>
          <a:lstStyle/>
          <a:p>
            <a:pPr marL="0" indent="0" algn="l">
              <a:buNone/>
            </a:pPr>
            <a:r>
              <a:rPr lang="en-US" sz="1100" b="1" dirty="0">
                <a:solidFill>
                  <a:srgbClr val="52616B"/>
                </a:solidFill>
                <a:latin typeface="Aptos" pitchFamily="34" charset="0"/>
                <a:ea typeface="Aptos" pitchFamily="34" charset="-122"/>
                <a:cs typeface="Aptos" pitchFamily="34" charset="-120"/>
              </a:rPr>
              <a:t>-&gt;</a:t>
            </a:r>
            <a:endParaRPr lang="en-US" sz="1100" dirty="0"/>
          </a:p>
        </p:txBody>
      </p:sp>
      <p:sp>
        <p:nvSpPr>
          <p:cNvPr id="13" name="Text 11"/>
          <p:cNvSpPr/>
          <p:nvPr/>
        </p:nvSpPr>
        <p:spPr>
          <a:xfrm>
            <a:off x="7452360" y="1874520"/>
            <a:ext cx="3749040" cy="329184"/>
          </a:xfrm>
          <a:prstGeom prst="rect">
            <a:avLst/>
          </a:prstGeom>
          <a:noFill/>
          <a:ln/>
        </p:spPr>
        <p:txBody>
          <a:bodyPr wrap="square" lIns="635" tIns="635" rIns="635" bIns="635" rtlCol="0" anchor="t">
            <a:normAutofit/>
          </a:bodyPr>
          <a:lstStyle/>
          <a:p>
            <a:pPr marL="0" indent="0" algn="l">
              <a:buNone/>
            </a:pPr>
            <a:r>
              <a:rPr lang="en-US" sz="1100" b="1" dirty="0">
                <a:solidFill>
                  <a:srgbClr val="127C7A"/>
                </a:solidFill>
                <a:latin typeface="Aptos" pitchFamily="34" charset="0"/>
                <a:ea typeface="Aptos" pitchFamily="34" charset="-122"/>
                <a:cs typeface="Aptos" pitchFamily="34" charset="-120"/>
              </a:rPr>
              <a:t>What does it mean when a pregnancy ends early or is intentionally ended, and what happens during that process?</a:t>
            </a:r>
            <a:endParaRPr lang="en-US" sz="830" dirty="0"/>
          </a:p>
        </p:txBody>
      </p:sp>
      <p:sp>
        <p:nvSpPr>
          <p:cNvPr id="14" name="Shape 12"/>
          <p:cNvSpPr/>
          <p:nvPr/>
        </p:nvSpPr>
        <p:spPr>
          <a:xfrm>
            <a:off x="475488" y="2606040"/>
            <a:ext cx="3474720" cy="2331720"/>
          </a:xfrm>
          <a:prstGeom prst="roundRect">
            <a:avLst>
              <a:gd name="adj" fmla="val 2353"/>
            </a:avLst>
          </a:prstGeom>
          <a:solidFill>
            <a:srgbClr val="FFFFFF"/>
          </a:solidFill>
          <a:ln w="8890">
            <a:solidFill>
              <a:srgbClr val="D9E2E8"/>
            </a:solidFill>
            <a:prstDash val="solid"/>
          </a:ln>
        </p:spPr>
        <p:txBody>
          <a:bodyPr/>
          <a:lstStyle/>
          <a:p>
            <a:endParaRPr lang="en-US"/>
          </a:p>
        </p:txBody>
      </p:sp>
      <p:sp>
        <p:nvSpPr>
          <p:cNvPr id="15" name="Shape 13"/>
          <p:cNvSpPr/>
          <p:nvPr/>
        </p:nvSpPr>
        <p:spPr>
          <a:xfrm>
            <a:off x="603504" y="2724912"/>
            <a:ext cx="1005840" cy="256032"/>
          </a:xfrm>
          <a:prstGeom prst="roundRect">
            <a:avLst>
              <a:gd name="adj" fmla="val 21429"/>
            </a:avLst>
          </a:prstGeom>
          <a:solidFill>
            <a:srgbClr val="127C7A"/>
          </a:solidFill>
          <a:ln w="8890">
            <a:solidFill>
              <a:srgbClr val="3867D6"/>
            </a:solidFill>
            <a:prstDash val="solid"/>
          </a:ln>
        </p:spPr>
        <p:txBody>
          <a:bodyPr/>
          <a:lstStyle/>
          <a:p>
            <a:endParaRPr lang="en-US"/>
          </a:p>
        </p:txBody>
      </p:sp>
      <p:sp>
        <p:nvSpPr>
          <p:cNvPr id="16" name="Text 14"/>
          <p:cNvSpPr/>
          <p:nvPr/>
        </p:nvSpPr>
        <p:spPr>
          <a:xfrm>
            <a:off x="676656" y="2779776"/>
            <a:ext cx="868680" cy="146304"/>
          </a:xfrm>
          <a:prstGeom prst="rect">
            <a:avLst/>
          </a:prstGeom>
          <a:solidFill>
            <a:srgbClr val="127C7A"/>
          </a:solidFill>
          <a:ln>
            <a:noFill/>
          </a:ln>
        </p:spPr>
        <p:txBody>
          <a:bodyPr wrap="none" lIns="109728" tIns="27432" rIns="109728" bIns="27432" rtlCol="0" anchor="t"/>
          <a:lstStyle/>
          <a:p>
            <a:pPr marL="0" indent="0" algn="ctr">
              <a:buNone/>
            </a:pPr>
            <a:r>
              <a:rPr sz="1200" b="1">
                <a:solidFill>
                  <a:srgbClr val="FFFFFF"/>
                </a:solidFill>
                <a:latin typeface="Aptos"/>
              </a:rPr>
              <a:t>CLEAN</a:t>
            </a:r>
            <a:endParaRPr lang="en-US" sz="750" dirty="0"/>
          </a:p>
        </p:txBody>
      </p:sp>
      <p:sp>
        <p:nvSpPr>
          <p:cNvPr id="17" name="Text 15"/>
          <p:cNvSpPr/>
          <p:nvPr/>
        </p:nvSpPr>
        <p:spPr>
          <a:xfrm>
            <a:off x="640080" y="3081528"/>
            <a:ext cx="3145536" cy="1728216"/>
          </a:xfrm>
          <a:prstGeom prst="rect">
            <a:avLst/>
          </a:prstGeom>
          <a:noFill/>
          <a:ln/>
        </p:spPr>
        <p:txBody>
          <a:bodyPr wrap="square" lIns="254" tIns="254" rIns="254" bIns="254" rtlCol="0" anchor="t">
            <a:normAutofit/>
          </a:bodyPr>
          <a:lstStyle/>
          <a:p>
            <a:pPr marL="0" indent="0" algn="l">
              <a:buNone/>
            </a:pPr>
            <a:r>
              <a:rPr lang="en-US" sz="1100" dirty="0">
                <a:solidFill>
                  <a:srgbClr val="25323D"/>
                </a:solidFill>
                <a:latin typeface="Aptos" pitchFamily="34" charset="0"/>
                <a:ea typeface="Aptos" pitchFamily="34" charset="-122"/>
                <a:cs typeface="Aptos" pitchFamily="34" charset="-120"/>
              </a:rPr>
              <a:t>Abortion is the termination or loss of a pregnancy before the fetus is viable outside the uterus. It may be: Spontaneous abortion: a miscarriage, occurring naturally. Induced abortion: deliberate ending of a pregnancy by medication or a medical/surgical procedure. In medical use, abortion generally refers to pregnancy ending in the early stages, before th...</a:t>
            </a:r>
            <a:endParaRPr lang="en-US" sz="820" dirty="0"/>
          </a:p>
        </p:txBody>
      </p:sp>
      <p:sp>
        <p:nvSpPr>
          <p:cNvPr id="18" name="Shape 16"/>
          <p:cNvSpPr/>
          <p:nvPr/>
        </p:nvSpPr>
        <p:spPr>
          <a:xfrm>
            <a:off x="4370832" y="2606040"/>
            <a:ext cx="3474720" cy="2331720"/>
          </a:xfrm>
          <a:prstGeom prst="roundRect">
            <a:avLst>
              <a:gd name="adj" fmla="val 2353"/>
            </a:avLst>
          </a:prstGeom>
          <a:solidFill>
            <a:srgbClr val="FFFFFF"/>
          </a:solidFill>
          <a:ln w="8890">
            <a:solidFill>
              <a:srgbClr val="D9E2E8"/>
            </a:solidFill>
            <a:prstDash val="solid"/>
          </a:ln>
        </p:spPr>
        <p:txBody>
          <a:bodyPr/>
          <a:lstStyle/>
          <a:p>
            <a:endParaRPr lang="en-US"/>
          </a:p>
        </p:txBody>
      </p:sp>
      <p:sp>
        <p:nvSpPr>
          <p:cNvPr id="19" name="Shape 17"/>
          <p:cNvSpPr/>
          <p:nvPr/>
        </p:nvSpPr>
        <p:spPr>
          <a:xfrm>
            <a:off x="4498848" y="2724912"/>
            <a:ext cx="1005840" cy="256032"/>
          </a:xfrm>
          <a:prstGeom prst="roundRect">
            <a:avLst>
              <a:gd name="adj" fmla="val 21429"/>
            </a:avLst>
          </a:prstGeom>
          <a:solidFill>
            <a:srgbClr val="E0A13A"/>
          </a:solidFill>
          <a:ln w="8890">
            <a:solidFill>
              <a:srgbClr val="E0A13A"/>
            </a:solidFill>
            <a:prstDash val="solid"/>
          </a:ln>
        </p:spPr>
        <p:txBody>
          <a:bodyPr/>
          <a:lstStyle/>
          <a:p>
            <a:endParaRPr lang="en-US"/>
          </a:p>
        </p:txBody>
      </p:sp>
      <p:sp>
        <p:nvSpPr>
          <p:cNvPr id="20" name="Text 18"/>
          <p:cNvSpPr/>
          <p:nvPr/>
        </p:nvSpPr>
        <p:spPr>
          <a:xfrm>
            <a:off x="4572000" y="2779776"/>
            <a:ext cx="868680" cy="146304"/>
          </a:xfrm>
          <a:prstGeom prst="rect">
            <a:avLst/>
          </a:prstGeom>
          <a:solidFill>
            <a:srgbClr val="C94C4C"/>
          </a:solidFill>
          <a:ln>
            <a:noFill/>
          </a:ln>
        </p:spPr>
        <p:txBody>
          <a:bodyPr wrap="none" lIns="109728" tIns="27432" rIns="109728" bIns="27432" rtlCol="0" anchor="t"/>
          <a:lstStyle/>
          <a:p>
            <a:pPr marL="0" indent="0" algn="ctr">
              <a:buNone/>
            </a:pPr>
            <a:r>
              <a:rPr sz="1200" b="1">
                <a:solidFill>
                  <a:srgbClr val="FFFFFF"/>
                </a:solidFill>
                <a:latin typeface="Aptos"/>
              </a:rPr>
              <a:t>NOISY</a:t>
            </a:r>
            <a:endParaRPr lang="en-US" sz="750" dirty="0"/>
          </a:p>
        </p:txBody>
      </p:sp>
      <p:sp>
        <p:nvSpPr>
          <p:cNvPr id="21" name="Text 19"/>
          <p:cNvSpPr/>
          <p:nvPr/>
        </p:nvSpPr>
        <p:spPr>
          <a:xfrm>
            <a:off x="4535424" y="3081528"/>
            <a:ext cx="3145536" cy="1728216"/>
          </a:xfrm>
          <a:prstGeom prst="rect">
            <a:avLst/>
          </a:prstGeom>
          <a:noFill/>
          <a:ln/>
        </p:spPr>
        <p:txBody>
          <a:bodyPr wrap="square" lIns="254" tIns="254" rIns="254" bIns="254" rtlCol="0" anchor="t">
            <a:normAutofit/>
          </a:bodyPr>
          <a:lstStyle/>
          <a:p>
            <a:pPr marL="0" indent="0" algn="l">
              <a:buNone/>
            </a:pPr>
            <a:r>
              <a:rPr lang="en-US" sz="1100" dirty="0">
                <a:solidFill>
                  <a:srgbClr val="25323D"/>
                </a:solidFill>
                <a:latin typeface="Aptos" pitchFamily="34" charset="0"/>
                <a:ea typeface="Aptos" pitchFamily="34" charset="-122"/>
                <a:cs typeface="Aptos" pitchFamily="34" charset="-120"/>
              </a:rPr>
              <a:t>When a pregnancy ends early, there are a few different medical terms, depending on how it happens: Miscarriage This means the pregnancy ends on its own before the baby can survive outside the uterus, usually before 20 weeks. It often happens because the embryo/fetus was not developing normally, often due to chromosome problems. It is very common and usual...</a:t>
            </a:r>
            <a:endParaRPr lang="en-US" sz="820" dirty="0"/>
          </a:p>
        </p:txBody>
      </p:sp>
      <p:sp>
        <p:nvSpPr>
          <p:cNvPr id="22" name="Shape 20"/>
          <p:cNvSpPr/>
          <p:nvPr/>
        </p:nvSpPr>
        <p:spPr>
          <a:xfrm>
            <a:off x="8247888" y="2606040"/>
            <a:ext cx="2907792" cy="2331720"/>
          </a:xfrm>
          <a:prstGeom prst="roundRect">
            <a:avLst>
              <a:gd name="adj" fmla="val 2353"/>
            </a:avLst>
          </a:prstGeom>
          <a:solidFill>
            <a:srgbClr val="FFFFFF"/>
          </a:solidFill>
          <a:ln w="8890">
            <a:solidFill>
              <a:srgbClr val="D9E2E8"/>
            </a:solidFill>
            <a:prstDash val="solid"/>
          </a:ln>
        </p:spPr>
        <p:txBody>
          <a:bodyPr/>
          <a:lstStyle/>
          <a:p>
            <a:endParaRPr lang="en-US"/>
          </a:p>
        </p:txBody>
      </p:sp>
      <p:sp>
        <p:nvSpPr>
          <p:cNvPr id="23" name="Shape 21"/>
          <p:cNvSpPr/>
          <p:nvPr/>
        </p:nvSpPr>
        <p:spPr>
          <a:xfrm>
            <a:off x="8375904" y="2724912"/>
            <a:ext cx="1005840" cy="256032"/>
          </a:xfrm>
          <a:prstGeom prst="roundRect">
            <a:avLst>
              <a:gd name="adj" fmla="val 21429"/>
            </a:avLst>
          </a:prstGeom>
          <a:solidFill>
            <a:srgbClr val="127C7A"/>
          </a:solidFill>
          <a:ln w="8890">
            <a:solidFill>
              <a:srgbClr val="127C7A"/>
            </a:solidFill>
            <a:prstDash val="solid"/>
          </a:ln>
        </p:spPr>
        <p:txBody>
          <a:bodyPr/>
          <a:lstStyle/>
          <a:p>
            <a:endParaRPr lang="en-US"/>
          </a:p>
        </p:txBody>
      </p:sp>
      <p:sp>
        <p:nvSpPr>
          <p:cNvPr id="24" name="Text 22"/>
          <p:cNvSpPr/>
          <p:nvPr/>
        </p:nvSpPr>
        <p:spPr>
          <a:xfrm>
            <a:off x="8449056" y="2779776"/>
            <a:ext cx="1188720" cy="146304"/>
          </a:xfrm>
          <a:prstGeom prst="rect">
            <a:avLst/>
          </a:prstGeom>
          <a:solidFill>
            <a:srgbClr val="E0A13A"/>
          </a:solidFill>
          <a:ln>
            <a:noFill/>
          </a:ln>
        </p:spPr>
        <p:txBody>
          <a:bodyPr wrap="none" lIns="109728" tIns="27432" rIns="109728" bIns="27432" rtlCol="0" anchor="t"/>
          <a:lstStyle/>
          <a:p>
            <a:pPr marL="0" indent="0" algn="ctr">
              <a:buNone/>
            </a:pPr>
            <a:r>
              <a:rPr sz="1200" b="1">
                <a:solidFill>
                  <a:srgbClr val="FFFFFF"/>
                </a:solidFill>
                <a:latin typeface="Aptos"/>
              </a:rPr>
              <a:t>REPAIRED</a:t>
            </a:r>
            <a:endParaRPr lang="en-US" sz="750" dirty="0"/>
          </a:p>
        </p:txBody>
      </p:sp>
      <p:sp>
        <p:nvSpPr>
          <p:cNvPr id="25" name="Text 23"/>
          <p:cNvSpPr/>
          <p:nvPr/>
        </p:nvSpPr>
        <p:spPr>
          <a:xfrm>
            <a:off x="8412480" y="3081528"/>
            <a:ext cx="2578608" cy="1728216"/>
          </a:xfrm>
          <a:prstGeom prst="rect">
            <a:avLst/>
          </a:prstGeom>
          <a:noFill/>
          <a:ln/>
        </p:spPr>
        <p:txBody>
          <a:bodyPr wrap="square" lIns="254" tIns="254" rIns="254" bIns="254" rtlCol="0" anchor="t">
            <a:normAutofit/>
          </a:bodyPr>
          <a:lstStyle/>
          <a:p>
            <a:pPr marL="0" indent="0" algn="l">
              <a:buNone/>
            </a:pPr>
            <a:r>
              <a:rPr lang="en-US" sz="1100" dirty="0">
                <a:solidFill>
                  <a:srgbClr val="25323D"/>
                </a:solidFill>
                <a:latin typeface="Aptos" pitchFamily="34" charset="0"/>
                <a:ea typeface="Aptos" pitchFamily="34" charset="-122"/>
                <a:cs typeface="Aptos" pitchFamily="34" charset="-120"/>
              </a:rPr>
              <a:t>This is called abortion. If a pregnancy ends on its own early, it is a spontaneous abortion, also known as a miscarriage. If it is ended deliberately, it is an induced abortion. In either case, the pregnancy tissue-such as the embryo or fetus and the placenta-is expelled or removed from the uterus before the fetus is able to survive outside the womb. This...</a:t>
            </a:r>
            <a:endParaRPr lang="en-US" sz="820" dirty="0"/>
          </a:p>
        </p:txBody>
      </p:sp>
      <p:sp>
        <p:nvSpPr>
          <p:cNvPr id="26" name="Text 24"/>
          <p:cNvSpPr/>
          <p:nvPr/>
        </p:nvSpPr>
        <p:spPr>
          <a:xfrm>
            <a:off x="475488" y="5257800"/>
            <a:ext cx="4023360" cy="164592"/>
          </a:xfrm>
          <a:prstGeom prst="rect">
            <a:avLst/>
          </a:prstGeom>
          <a:noFill/>
          <a:ln/>
        </p:spPr>
        <p:txBody>
          <a:bodyPr wrap="square" lIns="0" tIns="0" rIns="0" bIns="0" rtlCol="0" anchor="t"/>
          <a:lstStyle/>
          <a:p>
            <a:pPr marL="0" indent="0" algn="l">
              <a:buNone/>
            </a:pPr>
            <a:r>
              <a:rPr lang="en-US" sz="1100" b="1" dirty="0">
                <a:solidFill>
                  <a:srgbClr val="25323D"/>
                </a:solidFill>
                <a:latin typeface="Aptos" pitchFamily="34" charset="0"/>
                <a:ea typeface="Aptos" pitchFamily="34" charset="-122"/>
                <a:cs typeface="Aptos" pitchFamily="34" charset="-120"/>
              </a:rPr>
              <a:t>G-Eval: 4 clean | 3 noisy | 4 repaired</a:t>
            </a:r>
            <a:endParaRPr lang="en-US" sz="820" dirty="0"/>
          </a:p>
        </p:txBody>
      </p:sp>
      <p:sp>
        <p:nvSpPr>
          <p:cNvPr id="27" name="Text 25"/>
          <p:cNvSpPr/>
          <p:nvPr/>
        </p:nvSpPr>
        <p:spPr>
          <a:xfrm>
            <a:off x="475488" y="5477256"/>
            <a:ext cx="4023360" cy="164592"/>
          </a:xfrm>
          <a:prstGeom prst="rect">
            <a:avLst/>
          </a:prstGeom>
          <a:noFill/>
          <a:ln/>
        </p:spPr>
        <p:txBody>
          <a:bodyPr wrap="square" lIns="0" tIns="0" rIns="0" bIns="0" rtlCol="0" anchor="t"/>
          <a:lstStyle/>
          <a:p>
            <a:pPr marL="0" indent="0" algn="l">
              <a:buNone/>
            </a:pPr>
            <a:r>
              <a:rPr lang="en-US" sz="1100" dirty="0">
                <a:solidFill>
                  <a:srgbClr val="52616B"/>
                </a:solidFill>
                <a:latin typeface="Aptos" pitchFamily="34" charset="0"/>
                <a:ea typeface="Aptos" pitchFamily="34" charset="-122"/>
                <a:cs typeface="Aptos" pitchFamily="34" charset="-120"/>
              </a:rPr>
              <a:t>med_coverage: 23.8 -&gt; 28.6 -&gt; 23.8</a:t>
            </a:r>
            <a:endParaRPr lang="en-US" sz="780" dirty="0"/>
          </a:p>
        </p:txBody>
      </p:sp>
      <p:sp>
        <p:nvSpPr>
          <p:cNvPr id="28" name="Text 26"/>
          <p:cNvSpPr/>
          <p:nvPr/>
        </p:nvSpPr>
        <p:spPr>
          <a:xfrm>
            <a:off x="4663440" y="5138928"/>
            <a:ext cx="6263640" cy="493776"/>
          </a:xfrm>
          <a:prstGeom prst="rect">
            <a:avLst/>
          </a:prstGeom>
          <a:noFill/>
          <a:ln/>
        </p:spPr>
        <p:txBody>
          <a:bodyPr wrap="square" lIns="635" tIns="635" rIns="635" bIns="635" rtlCol="0" anchor="t">
            <a:normAutofit/>
          </a:bodyPr>
          <a:lstStyle/>
          <a:p>
            <a:pPr marL="0" indent="0" algn="l">
              <a:buNone/>
            </a:pPr>
            <a:r>
              <a:rPr lang="en-US" sz="1120" b="1" dirty="0">
                <a:solidFill>
                  <a:srgbClr val="25323D"/>
                </a:solidFill>
                <a:latin typeface="Aptos" pitchFamily="34" charset="0"/>
                <a:ea typeface="Aptos" pitchFamily="34" charset="-122"/>
                <a:cs typeface="Aptos" pitchFamily="34" charset="-120"/>
              </a:rPr>
              <a:t>Here repair helps: it restores a concise medical distinction between spontaneous and induced abortion.</a:t>
            </a:r>
            <a:endParaRPr lang="en-US" sz="1120" dirty="0"/>
          </a:p>
        </p:txBody>
      </p:sp>
      <p:sp>
        <p:nvSpPr>
          <p:cNvPr id="29" name="Oval 28"/>
          <p:cNvSpPr/>
          <p:nvPr/>
        </p:nvSpPr>
        <p:spPr>
          <a:xfrm>
            <a:off x="475488" y="274320"/>
            <a:ext cx="384048" cy="384048"/>
          </a:xfrm>
          <a:prstGeom prst="ellipse">
            <a:avLst/>
          </a:prstGeom>
          <a:solidFill>
            <a:srgbClr val="127C7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ptos"/>
              </a:rPr>
              <a:t>13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978408" y="320040"/>
            <a:ext cx="5029200" cy="210312"/>
          </a:xfrm>
          <a:prstGeom prst="rect">
            <a:avLst/>
          </a:prstGeom>
          <a:noFill/>
          <a:ln/>
        </p:spPr>
        <p:txBody>
          <a:bodyPr wrap="square" lIns="635" tIns="635" rIns="635" bIns="635" rtlCol="0" anchor="t"/>
          <a:lstStyle/>
          <a:p>
            <a:pPr marL="0" indent="0" algn="l">
              <a:buNone/>
            </a:pPr>
            <a:r>
              <a:rPr sz="2000" b="1">
                <a:solidFill>
                  <a:srgbClr val="25323D"/>
                </a:solidFill>
                <a:latin typeface="Aptos"/>
              </a:rPr>
              <a:t>Evidence example</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25323D"/>
                </a:solidFill>
                <a:latin typeface="Aptos" pitchFamily="34" charset="0"/>
                <a:ea typeface="Aptos" pitchFamily="34" charset="-122"/>
                <a:cs typeface="Aptos" pitchFamily="34" charset="-120"/>
              </a:rPr>
              <a:t>A better judge score can still lose medical content.</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100" dirty="0">
                <a:solidFill>
                  <a:srgbClr val="52616B"/>
                </a:solidFill>
                <a:latin typeface="Aptos" pitchFamily="34" charset="0"/>
                <a:ea typeface="Aptos" pitchFamily="34" charset="-122"/>
                <a:cs typeface="Aptos" pitchFamily="34" charset="-120"/>
              </a:rPr>
              <a:t>Mixtral-8x7B-Instruct-v0.1 (4bit) | typos_grammar noise | question_id 30</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100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1000" dirty="0">
                <a:solidFill>
                  <a:srgbClr val="52616B"/>
                </a:solidFill>
                <a:latin typeface="Aptos" pitchFamily="34" charset="0"/>
                <a:ea typeface="Aptos" pitchFamily="34" charset="-122"/>
                <a:cs typeface="Aptos" pitchFamily="34" charset="-120"/>
              </a:rPr>
              <a:t>15 / 19</a:t>
            </a:r>
            <a:endParaRPr lang="en-US" sz="680" dirty="0"/>
          </a:p>
        </p:txBody>
      </p:sp>
      <p:sp>
        <p:nvSpPr>
          <p:cNvPr id="8" name="Text 6"/>
          <p:cNvSpPr/>
          <p:nvPr/>
        </p:nvSpPr>
        <p:spPr>
          <a:xfrm>
            <a:off x="475488" y="1627632"/>
            <a:ext cx="1280160" cy="164592"/>
          </a:xfrm>
          <a:prstGeom prst="rect">
            <a:avLst/>
          </a:prstGeom>
          <a:noFill/>
          <a:ln/>
        </p:spPr>
        <p:txBody>
          <a:bodyPr wrap="square" lIns="0" tIns="0" rIns="0" bIns="0" rtlCol="0" anchor="t"/>
          <a:lstStyle/>
          <a:p>
            <a:pPr marL="0" indent="0" algn="l">
              <a:buNone/>
            </a:pPr>
            <a:r>
              <a:rPr lang="en-US" sz="1100" b="1" dirty="0">
                <a:solidFill>
                  <a:srgbClr val="52616B"/>
                </a:solidFill>
                <a:latin typeface="Aptos" pitchFamily="34" charset="0"/>
                <a:ea typeface="Aptos" pitchFamily="34" charset="-122"/>
                <a:cs typeface="Aptos" pitchFamily="34" charset="-120"/>
              </a:rPr>
              <a:t>Question path</a:t>
            </a:r>
            <a:endParaRPr lang="en-US" sz="820" dirty="0"/>
          </a:p>
        </p:txBody>
      </p:sp>
      <p:sp>
        <p:nvSpPr>
          <p:cNvPr id="9" name="Text 7"/>
          <p:cNvSpPr/>
          <p:nvPr/>
        </p:nvSpPr>
        <p:spPr>
          <a:xfrm>
            <a:off x="475488" y="1874520"/>
            <a:ext cx="3063240" cy="329184"/>
          </a:xfrm>
          <a:prstGeom prst="rect">
            <a:avLst/>
          </a:prstGeom>
          <a:noFill/>
          <a:ln/>
        </p:spPr>
        <p:txBody>
          <a:bodyPr wrap="square" lIns="635" tIns="635" rIns="635" bIns="635" rtlCol="0" anchor="t">
            <a:normAutofit/>
          </a:bodyPr>
          <a:lstStyle/>
          <a:p>
            <a:pPr marL="0" indent="0" algn="l">
              <a:buNone/>
            </a:pPr>
            <a:r>
              <a:rPr lang="en-US" sz="1100" b="1" dirty="0">
                <a:solidFill>
                  <a:srgbClr val="127C7A"/>
                </a:solidFill>
                <a:latin typeface="Aptos" pitchFamily="34" charset="0"/>
                <a:ea typeface="Aptos" pitchFamily="34" charset="-122"/>
                <a:cs typeface="Aptos" pitchFamily="34" charset="-120"/>
              </a:rPr>
              <a:t>What is (are) Anal Disorders ?</a:t>
            </a:r>
            <a:endParaRPr lang="en-US" sz="830" dirty="0"/>
          </a:p>
        </p:txBody>
      </p:sp>
      <p:sp>
        <p:nvSpPr>
          <p:cNvPr id="10" name="Text 8"/>
          <p:cNvSpPr/>
          <p:nvPr/>
        </p:nvSpPr>
        <p:spPr>
          <a:xfrm>
            <a:off x="3657600" y="1929384"/>
            <a:ext cx="228600" cy="182880"/>
          </a:xfrm>
          <a:prstGeom prst="rect">
            <a:avLst/>
          </a:prstGeom>
          <a:noFill/>
          <a:ln/>
        </p:spPr>
        <p:txBody>
          <a:bodyPr wrap="square" lIns="0" tIns="0" rIns="0" bIns="0" rtlCol="0" anchor="t"/>
          <a:lstStyle/>
          <a:p>
            <a:pPr marL="0" indent="0" algn="l">
              <a:buNone/>
            </a:pPr>
            <a:r>
              <a:rPr lang="en-US" sz="1100" b="1" dirty="0">
                <a:solidFill>
                  <a:srgbClr val="52616B"/>
                </a:solidFill>
                <a:latin typeface="Aptos" pitchFamily="34" charset="0"/>
                <a:ea typeface="Aptos" pitchFamily="34" charset="-122"/>
                <a:cs typeface="Aptos" pitchFamily="34" charset="-120"/>
              </a:rPr>
              <a:t>-&gt;</a:t>
            </a:r>
            <a:endParaRPr lang="en-US" sz="1100" dirty="0"/>
          </a:p>
        </p:txBody>
      </p:sp>
      <p:sp>
        <p:nvSpPr>
          <p:cNvPr id="11" name="Text 9"/>
          <p:cNvSpPr/>
          <p:nvPr/>
        </p:nvSpPr>
        <p:spPr>
          <a:xfrm>
            <a:off x="3977640" y="1874520"/>
            <a:ext cx="3063240" cy="329184"/>
          </a:xfrm>
          <a:prstGeom prst="rect">
            <a:avLst/>
          </a:prstGeom>
          <a:noFill/>
          <a:ln/>
        </p:spPr>
        <p:txBody>
          <a:bodyPr wrap="square" lIns="635" tIns="635" rIns="635" bIns="635" rtlCol="0" anchor="t">
            <a:normAutofit/>
          </a:bodyPr>
          <a:lstStyle/>
          <a:p>
            <a:pPr marL="0" indent="0" algn="l">
              <a:buNone/>
            </a:pPr>
            <a:r>
              <a:rPr lang="en-US" sz="1100" b="1" dirty="0">
                <a:solidFill>
                  <a:srgbClr val="E0A13A"/>
                </a:solidFill>
                <a:latin typeface="Aptos" pitchFamily="34" charset="0"/>
                <a:ea typeface="Aptos" pitchFamily="34" charset="-122"/>
                <a:cs typeface="Aptos" pitchFamily="34" charset="-120"/>
              </a:rPr>
              <a:t>what are anal disordrs exacly, and how do they happn ?</a:t>
            </a:r>
            <a:endParaRPr lang="en-US" sz="830" dirty="0"/>
          </a:p>
        </p:txBody>
      </p:sp>
      <p:sp>
        <p:nvSpPr>
          <p:cNvPr id="12" name="Text 10"/>
          <p:cNvSpPr/>
          <p:nvPr/>
        </p:nvSpPr>
        <p:spPr>
          <a:xfrm>
            <a:off x="7150608" y="1929384"/>
            <a:ext cx="228600" cy="182880"/>
          </a:xfrm>
          <a:prstGeom prst="rect">
            <a:avLst/>
          </a:prstGeom>
          <a:noFill/>
          <a:ln/>
        </p:spPr>
        <p:txBody>
          <a:bodyPr wrap="square" lIns="0" tIns="0" rIns="0" bIns="0" rtlCol="0" anchor="t"/>
          <a:lstStyle/>
          <a:p>
            <a:pPr marL="0" indent="0" algn="l">
              <a:buNone/>
            </a:pPr>
            <a:r>
              <a:rPr lang="en-US" sz="1100" b="1" dirty="0">
                <a:solidFill>
                  <a:srgbClr val="52616B"/>
                </a:solidFill>
                <a:latin typeface="Aptos" pitchFamily="34" charset="0"/>
                <a:ea typeface="Aptos" pitchFamily="34" charset="-122"/>
                <a:cs typeface="Aptos" pitchFamily="34" charset="-120"/>
              </a:rPr>
              <a:t>-&gt;</a:t>
            </a:r>
            <a:endParaRPr lang="en-US" sz="1100" dirty="0"/>
          </a:p>
        </p:txBody>
      </p:sp>
      <p:sp>
        <p:nvSpPr>
          <p:cNvPr id="13" name="Text 11"/>
          <p:cNvSpPr/>
          <p:nvPr/>
        </p:nvSpPr>
        <p:spPr>
          <a:xfrm>
            <a:off x="7452360" y="1874520"/>
            <a:ext cx="3749040" cy="329184"/>
          </a:xfrm>
          <a:prstGeom prst="rect">
            <a:avLst/>
          </a:prstGeom>
          <a:noFill/>
          <a:ln/>
        </p:spPr>
        <p:txBody>
          <a:bodyPr wrap="square" lIns="635" tIns="635" rIns="635" bIns="635" rtlCol="0" anchor="t">
            <a:normAutofit/>
          </a:bodyPr>
          <a:lstStyle/>
          <a:p>
            <a:pPr marL="0" indent="0" algn="l">
              <a:buNone/>
            </a:pPr>
            <a:r>
              <a:rPr lang="en-US" sz="1100" b="1" dirty="0">
                <a:solidFill>
                  <a:srgbClr val="127C7A"/>
                </a:solidFill>
                <a:latin typeface="Aptos" pitchFamily="34" charset="0"/>
                <a:ea typeface="Aptos" pitchFamily="34" charset="-122"/>
                <a:cs typeface="Aptos" pitchFamily="34" charset="-120"/>
              </a:rPr>
              <a:t>What are anal disorders exactly, and how do they typically develop?</a:t>
            </a:r>
            <a:endParaRPr lang="en-US" sz="830" dirty="0"/>
          </a:p>
        </p:txBody>
      </p:sp>
      <p:sp>
        <p:nvSpPr>
          <p:cNvPr id="14" name="Shape 12"/>
          <p:cNvSpPr/>
          <p:nvPr/>
        </p:nvSpPr>
        <p:spPr>
          <a:xfrm>
            <a:off x="475488" y="2606040"/>
            <a:ext cx="3474720" cy="2331720"/>
          </a:xfrm>
          <a:prstGeom prst="roundRect">
            <a:avLst>
              <a:gd name="adj" fmla="val 2353"/>
            </a:avLst>
          </a:prstGeom>
          <a:solidFill>
            <a:srgbClr val="FFFFFF"/>
          </a:solidFill>
          <a:ln w="8890">
            <a:solidFill>
              <a:srgbClr val="D9E2E8"/>
            </a:solidFill>
            <a:prstDash val="solid"/>
          </a:ln>
        </p:spPr>
        <p:txBody>
          <a:bodyPr/>
          <a:lstStyle/>
          <a:p>
            <a:endParaRPr lang="en-US"/>
          </a:p>
        </p:txBody>
      </p:sp>
      <p:sp>
        <p:nvSpPr>
          <p:cNvPr id="15" name="Shape 13"/>
          <p:cNvSpPr/>
          <p:nvPr/>
        </p:nvSpPr>
        <p:spPr>
          <a:xfrm>
            <a:off x="603504" y="2724912"/>
            <a:ext cx="1005840" cy="256032"/>
          </a:xfrm>
          <a:prstGeom prst="roundRect">
            <a:avLst>
              <a:gd name="adj" fmla="val 21429"/>
            </a:avLst>
          </a:prstGeom>
          <a:solidFill>
            <a:srgbClr val="127C7A"/>
          </a:solidFill>
          <a:ln w="8890">
            <a:solidFill>
              <a:srgbClr val="3867D6"/>
            </a:solidFill>
            <a:prstDash val="solid"/>
          </a:ln>
        </p:spPr>
        <p:txBody>
          <a:bodyPr/>
          <a:lstStyle/>
          <a:p>
            <a:endParaRPr lang="en-US"/>
          </a:p>
        </p:txBody>
      </p:sp>
      <p:sp>
        <p:nvSpPr>
          <p:cNvPr id="16" name="Text 14"/>
          <p:cNvSpPr/>
          <p:nvPr/>
        </p:nvSpPr>
        <p:spPr>
          <a:xfrm>
            <a:off x="676656" y="2779776"/>
            <a:ext cx="868680" cy="146304"/>
          </a:xfrm>
          <a:prstGeom prst="rect">
            <a:avLst/>
          </a:prstGeom>
          <a:solidFill>
            <a:srgbClr val="127C7A"/>
          </a:solidFill>
          <a:ln>
            <a:noFill/>
          </a:ln>
        </p:spPr>
        <p:txBody>
          <a:bodyPr wrap="none" lIns="109728" tIns="27432" rIns="109728" bIns="27432" rtlCol="0" anchor="t"/>
          <a:lstStyle/>
          <a:p>
            <a:pPr marL="0" indent="0" algn="ctr">
              <a:buNone/>
            </a:pPr>
            <a:r>
              <a:rPr sz="1200" b="1">
                <a:solidFill>
                  <a:srgbClr val="FFFFFF"/>
                </a:solidFill>
                <a:latin typeface="Aptos"/>
              </a:rPr>
              <a:t>CLEAN</a:t>
            </a:r>
            <a:endParaRPr lang="en-US" sz="750" dirty="0"/>
          </a:p>
        </p:txBody>
      </p:sp>
      <p:sp>
        <p:nvSpPr>
          <p:cNvPr id="17" name="Text 15"/>
          <p:cNvSpPr/>
          <p:nvPr/>
        </p:nvSpPr>
        <p:spPr>
          <a:xfrm>
            <a:off x="640080" y="3081528"/>
            <a:ext cx="3145536" cy="1728216"/>
          </a:xfrm>
          <a:prstGeom prst="rect">
            <a:avLst/>
          </a:prstGeom>
          <a:noFill/>
          <a:ln/>
        </p:spPr>
        <p:txBody>
          <a:bodyPr wrap="square" lIns="254" tIns="254" rIns="254" bIns="254" rtlCol="0" anchor="t">
            <a:normAutofit/>
          </a:bodyPr>
          <a:lstStyle/>
          <a:p>
            <a:pPr marL="0" indent="0" algn="l">
              <a:buNone/>
            </a:pPr>
            <a:r>
              <a:rPr lang="en-US" sz="1100" dirty="0">
                <a:solidFill>
                  <a:srgbClr val="25323D"/>
                </a:solidFill>
                <a:latin typeface="Aptos" pitchFamily="34" charset="0"/>
                <a:ea typeface="Aptos" pitchFamily="34" charset="-122"/>
                <a:cs typeface="Aptos" pitchFamily="34" charset="-120"/>
              </a:rPr>
              <a:t>An anal disorder refers to various conditions that affect the anus, including: Hemorrhoids: Swollen veins in the rectum or anus that can cause pain, itching, and bleeding. Fissures: Small tears in the lining of the anus that can be painful and bleed during bowel movements. Abscesses: Infections that result in pus-filled pockets near the anus. Fistulas: Ch...</a:t>
            </a:r>
            <a:endParaRPr lang="en-US" sz="820" dirty="0"/>
          </a:p>
        </p:txBody>
      </p:sp>
      <p:sp>
        <p:nvSpPr>
          <p:cNvPr id="18" name="Shape 16"/>
          <p:cNvSpPr/>
          <p:nvPr/>
        </p:nvSpPr>
        <p:spPr>
          <a:xfrm>
            <a:off x="4370832" y="2606040"/>
            <a:ext cx="3474720" cy="2331720"/>
          </a:xfrm>
          <a:prstGeom prst="roundRect">
            <a:avLst>
              <a:gd name="adj" fmla="val 2353"/>
            </a:avLst>
          </a:prstGeom>
          <a:solidFill>
            <a:srgbClr val="FFFFFF"/>
          </a:solidFill>
          <a:ln w="8890">
            <a:solidFill>
              <a:srgbClr val="D9E2E8"/>
            </a:solidFill>
            <a:prstDash val="solid"/>
          </a:ln>
        </p:spPr>
        <p:txBody>
          <a:bodyPr/>
          <a:lstStyle/>
          <a:p>
            <a:endParaRPr lang="en-US"/>
          </a:p>
        </p:txBody>
      </p:sp>
      <p:sp>
        <p:nvSpPr>
          <p:cNvPr id="19" name="Shape 17"/>
          <p:cNvSpPr/>
          <p:nvPr/>
        </p:nvSpPr>
        <p:spPr>
          <a:xfrm>
            <a:off x="4498848" y="2724912"/>
            <a:ext cx="1005840" cy="256032"/>
          </a:xfrm>
          <a:prstGeom prst="roundRect">
            <a:avLst>
              <a:gd name="adj" fmla="val 21429"/>
            </a:avLst>
          </a:prstGeom>
          <a:solidFill>
            <a:srgbClr val="E0A13A"/>
          </a:solidFill>
          <a:ln w="8890">
            <a:solidFill>
              <a:srgbClr val="E0A13A"/>
            </a:solidFill>
            <a:prstDash val="solid"/>
          </a:ln>
        </p:spPr>
        <p:txBody>
          <a:bodyPr/>
          <a:lstStyle/>
          <a:p>
            <a:endParaRPr lang="en-US"/>
          </a:p>
        </p:txBody>
      </p:sp>
      <p:sp>
        <p:nvSpPr>
          <p:cNvPr id="20" name="Text 18"/>
          <p:cNvSpPr/>
          <p:nvPr/>
        </p:nvSpPr>
        <p:spPr>
          <a:xfrm>
            <a:off x="4572000" y="2779776"/>
            <a:ext cx="868680" cy="146304"/>
          </a:xfrm>
          <a:prstGeom prst="rect">
            <a:avLst/>
          </a:prstGeom>
          <a:solidFill>
            <a:srgbClr val="C94C4C"/>
          </a:solidFill>
          <a:ln>
            <a:noFill/>
          </a:ln>
        </p:spPr>
        <p:txBody>
          <a:bodyPr wrap="none" lIns="109728" tIns="27432" rIns="109728" bIns="27432" rtlCol="0" anchor="t"/>
          <a:lstStyle/>
          <a:p>
            <a:pPr marL="0" indent="0" algn="ctr">
              <a:buNone/>
            </a:pPr>
            <a:r>
              <a:rPr sz="1200" b="1">
                <a:solidFill>
                  <a:srgbClr val="FFFFFF"/>
                </a:solidFill>
                <a:latin typeface="Aptos"/>
              </a:rPr>
              <a:t>NOISY</a:t>
            </a:r>
            <a:endParaRPr lang="en-US" sz="750" dirty="0"/>
          </a:p>
        </p:txBody>
      </p:sp>
      <p:sp>
        <p:nvSpPr>
          <p:cNvPr id="21" name="Text 19"/>
          <p:cNvSpPr/>
          <p:nvPr/>
        </p:nvSpPr>
        <p:spPr>
          <a:xfrm>
            <a:off x="4535424" y="3081528"/>
            <a:ext cx="3145536" cy="1728216"/>
          </a:xfrm>
          <a:prstGeom prst="rect">
            <a:avLst/>
          </a:prstGeom>
          <a:noFill/>
          <a:ln/>
        </p:spPr>
        <p:txBody>
          <a:bodyPr wrap="square" lIns="254" tIns="254" rIns="254" bIns="254" rtlCol="0" anchor="t">
            <a:normAutofit/>
          </a:bodyPr>
          <a:lstStyle/>
          <a:p>
            <a:pPr marL="0" indent="0" algn="l">
              <a:buNone/>
            </a:pPr>
            <a:r>
              <a:rPr lang="en-US" sz="1100" dirty="0">
                <a:solidFill>
                  <a:srgbClr val="25323D"/>
                </a:solidFill>
                <a:latin typeface="Aptos" pitchFamily="34" charset="0"/>
                <a:ea typeface="Aptos" pitchFamily="34" charset="-122"/>
                <a:cs typeface="Aptos" pitchFamily="34" charset="-120"/>
              </a:rPr>
              <a:t>Anal disorders refer to various conditions that affect the anus, including: Hemorrhoids: Swollen veins in the rectum or anus that can cause pain, itching, and bleeding. They can be caused by straining during bowel movements, obesity, pregnancy, standing or sitting for long periods, chronic constipation or diarrhea, eating a low-fiber diet, or aging. Fissu...</a:t>
            </a:r>
            <a:endParaRPr lang="en-US" sz="820" dirty="0"/>
          </a:p>
        </p:txBody>
      </p:sp>
      <p:sp>
        <p:nvSpPr>
          <p:cNvPr id="22" name="Shape 20"/>
          <p:cNvSpPr/>
          <p:nvPr/>
        </p:nvSpPr>
        <p:spPr>
          <a:xfrm>
            <a:off x="8247888" y="2606040"/>
            <a:ext cx="2907792" cy="2331720"/>
          </a:xfrm>
          <a:prstGeom prst="roundRect">
            <a:avLst>
              <a:gd name="adj" fmla="val 2353"/>
            </a:avLst>
          </a:prstGeom>
          <a:solidFill>
            <a:srgbClr val="FFFFFF"/>
          </a:solidFill>
          <a:ln w="8890">
            <a:solidFill>
              <a:srgbClr val="D9E2E8"/>
            </a:solidFill>
            <a:prstDash val="solid"/>
          </a:ln>
        </p:spPr>
        <p:txBody>
          <a:bodyPr/>
          <a:lstStyle/>
          <a:p>
            <a:endParaRPr lang="en-US"/>
          </a:p>
        </p:txBody>
      </p:sp>
      <p:sp>
        <p:nvSpPr>
          <p:cNvPr id="23" name="Shape 21"/>
          <p:cNvSpPr/>
          <p:nvPr/>
        </p:nvSpPr>
        <p:spPr>
          <a:xfrm>
            <a:off x="8375904" y="2724912"/>
            <a:ext cx="1005840" cy="256032"/>
          </a:xfrm>
          <a:prstGeom prst="roundRect">
            <a:avLst>
              <a:gd name="adj" fmla="val 21429"/>
            </a:avLst>
          </a:prstGeom>
          <a:solidFill>
            <a:srgbClr val="127C7A"/>
          </a:solidFill>
          <a:ln w="8890">
            <a:solidFill>
              <a:srgbClr val="127C7A"/>
            </a:solidFill>
            <a:prstDash val="solid"/>
          </a:ln>
        </p:spPr>
        <p:txBody>
          <a:bodyPr/>
          <a:lstStyle/>
          <a:p>
            <a:endParaRPr lang="en-US"/>
          </a:p>
        </p:txBody>
      </p:sp>
      <p:sp>
        <p:nvSpPr>
          <p:cNvPr id="24" name="Text 22"/>
          <p:cNvSpPr/>
          <p:nvPr/>
        </p:nvSpPr>
        <p:spPr>
          <a:xfrm>
            <a:off x="8449056" y="2779776"/>
            <a:ext cx="1188720" cy="146304"/>
          </a:xfrm>
          <a:prstGeom prst="rect">
            <a:avLst/>
          </a:prstGeom>
          <a:solidFill>
            <a:srgbClr val="E0A13A"/>
          </a:solidFill>
          <a:ln>
            <a:noFill/>
          </a:ln>
        </p:spPr>
        <p:txBody>
          <a:bodyPr wrap="none" lIns="109728" tIns="27432" rIns="109728" bIns="27432" rtlCol="0" anchor="t"/>
          <a:lstStyle/>
          <a:p>
            <a:pPr marL="0" indent="0" algn="ctr">
              <a:buNone/>
            </a:pPr>
            <a:r>
              <a:rPr sz="1200" b="1">
                <a:solidFill>
                  <a:srgbClr val="FFFFFF"/>
                </a:solidFill>
                <a:latin typeface="Aptos"/>
              </a:rPr>
              <a:t>REPAIRED</a:t>
            </a:r>
            <a:endParaRPr lang="en-US" sz="750" dirty="0"/>
          </a:p>
        </p:txBody>
      </p:sp>
      <p:sp>
        <p:nvSpPr>
          <p:cNvPr id="25" name="Text 23"/>
          <p:cNvSpPr/>
          <p:nvPr/>
        </p:nvSpPr>
        <p:spPr>
          <a:xfrm>
            <a:off x="8412480" y="3081528"/>
            <a:ext cx="2578608" cy="1728216"/>
          </a:xfrm>
          <a:prstGeom prst="rect">
            <a:avLst/>
          </a:prstGeom>
          <a:noFill/>
          <a:ln/>
        </p:spPr>
        <p:txBody>
          <a:bodyPr wrap="square" lIns="254" tIns="254" rIns="254" bIns="254" rtlCol="0" anchor="t">
            <a:normAutofit/>
          </a:bodyPr>
          <a:lstStyle/>
          <a:p>
            <a:pPr marL="0" indent="0" algn="l">
              <a:buNone/>
            </a:pPr>
            <a:r>
              <a:rPr lang="en-US" sz="1100" dirty="0">
                <a:solidFill>
                  <a:srgbClr val="25323D"/>
                </a:solidFill>
                <a:latin typeface="Aptos" pitchFamily="34" charset="0"/>
                <a:ea typeface="Aptos" pitchFamily="34" charset="-122"/>
                <a:cs typeface="Aptos" pitchFamily="34" charset="-120"/>
              </a:rPr>
              <a:t>Anal disorders refer to various conditions affecting the anus, including hemorrhoids, anal fissures, abscesses, and fistulas. They typically develop due to straining during bowel movements, constipation, diarrhea, aging, or anal intercourse. In some cases, they can be caused by underlying conditions like inflammatory bowel disease or colon cancer. Symptom...</a:t>
            </a:r>
            <a:endParaRPr lang="en-US" sz="820" dirty="0"/>
          </a:p>
        </p:txBody>
      </p:sp>
      <p:sp>
        <p:nvSpPr>
          <p:cNvPr id="26" name="Text 24"/>
          <p:cNvSpPr/>
          <p:nvPr/>
        </p:nvSpPr>
        <p:spPr>
          <a:xfrm>
            <a:off x="475488" y="5257800"/>
            <a:ext cx="4023360" cy="164592"/>
          </a:xfrm>
          <a:prstGeom prst="rect">
            <a:avLst/>
          </a:prstGeom>
          <a:noFill/>
          <a:ln/>
        </p:spPr>
        <p:txBody>
          <a:bodyPr wrap="square" lIns="0" tIns="0" rIns="0" bIns="0" rtlCol="0" anchor="t"/>
          <a:lstStyle/>
          <a:p>
            <a:pPr marL="0" indent="0" algn="l">
              <a:buNone/>
            </a:pPr>
            <a:r>
              <a:rPr lang="en-US" sz="1100" b="1" dirty="0">
                <a:solidFill>
                  <a:srgbClr val="25323D"/>
                </a:solidFill>
                <a:latin typeface="Aptos" pitchFamily="34" charset="0"/>
                <a:ea typeface="Aptos" pitchFamily="34" charset="-122"/>
                <a:cs typeface="Aptos" pitchFamily="34" charset="-120"/>
              </a:rPr>
              <a:t>G-Eval: 4 clean | 3 noisy | 5 repaired</a:t>
            </a:r>
            <a:endParaRPr lang="en-US" sz="820" dirty="0"/>
          </a:p>
        </p:txBody>
      </p:sp>
      <p:sp>
        <p:nvSpPr>
          <p:cNvPr id="27" name="Text 25"/>
          <p:cNvSpPr/>
          <p:nvPr/>
        </p:nvSpPr>
        <p:spPr>
          <a:xfrm>
            <a:off x="475488" y="5477256"/>
            <a:ext cx="4023360" cy="164592"/>
          </a:xfrm>
          <a:prstGeom prst="rect">
            <a:avLst/>
          </a:prstGeom>
          <a:noFill/>
          <a:ln/>
        </p:spPr>
        <p:txBody>
          <a:bodyPr wrap="square" lIns="0" tIns="0" rIns="0" bIns="0" rtlCol="0" anchor="t"/>
          <a:lstStyle/>
          <a:p>
            <a:pPr marL="0" indent="0" algn="l">
              <a:buNone/>
            </a:pPr>
            <a:r>
              <a:rPr lang="en-US" sz="1100" dirty="0">
                <a:solidFill>
                  <a:srgbClr val="52616B"/>
                </a:solidFill>
                <a:latin typeface="Aptos" pitchFamily="34" charset="0"/>
                <a:ea typeface="Aptos" pitchFamily="34" charset="-122"/>
                <a:cs typeface="Aptos" pitchFamily="34" charset="-120"/>
              </a:rPr>
              <a:t>med_coverage: 22.2 -&gt; 19.4 -&gt; 16.7</a:t>
            </a:r>
            <a:endParaRPr lang="en-US" sz="780" dirty="0"/>
          </a:p>
        </p:txBody>
      </p:sp>
      <p:sp>
        <p:nvSpPr>
          <p:cNvPr id="28" name="Text 26"/>
          <p:cNvSpPr/>
          <p:nvPr/>
        </p:nvSpPr>
        <p:spPr>
          <a:xfrm>
            <a:off x="4663440" y="5138928"/>
            <a:ext cx="6263640" cy="493776"/>
          </a:xfrm>
          <a:prstGeom prst="rect">
            <a:avLst/>
          </a:prstGeom>
          <a:noFill/>
          <a:ln/>
        </p:spPr>
        <p:txBody>
          <a:bodyPr wrap="square" lIns="635" tIns="635" rIns="635" bIns="635" rtlCol="0" anchor="t">
            <a:normAutofit/>
          </a:bodyPr>
          <a:lstStyle/>
          <a:p>
            <a:pPr marL="0" indent="0" algn="l">
              <a:buNone/>
            </a:pPr>
            <a:r>
              <a:rPr lang="en-US" sz="1120" b="1" dirty="0">
                <a:solidFill>
                  <a:srgbClr val="25323D"/>
                </a:solidFill>
                <a:latin typeface="Aptos" pitchFamily="34" charset="0"/>
                <a:ea typeface="Aptos" pitchFamily="34" charset="-122"/>
                <a:cs typeface="Aptos" pitchFamily="34" charset="-120"/>
              </a:rPr>
              <a:t>Mixtral self-repair improves G-Eval from 3 to 5, but med_coverage falls. This is why the metric stack matters.</a:t>
            </a:r>
            <a:endParaRPr lang="en-US" sz="1120" dirty="0"/>
          </a:p>
        </p:txBody>
      </p:sp>
      <p:sp>
        <p:nvSpPr>
          <p:cNvPr id="29" name="Oval 28"/>
          <p:cNvSpPr/>
          <p:nvPr/>
        </p:nvSpPr>
        <p:spPr>
          <a:xfrm>
            <a:off x="475488" y="274320"/>
            <a:ext cx="384048" cy="384048"/>
          </a:xfrm>
          <a:prstGeom prst="ellipse">
            <a:avLst/>
          </a:prstGeom>
          <a:solidFill>
            <a:srgbClr val="127C7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ptos"/>
              </a:rPr>
              <a:t>14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978408" y="320040"/>
            <a:ext cx="5029200" cy="210312"/>
          </a:xfrm>
          <a:prstGeom prst="rect">
            <a:avLst/>
          </a:prstGeom>
          <a:noFill/>
          <a:ln/>
        </p:spPr>
        <p:txBody>
          <a:bodyPr wrap="square" lIns="635" tIns="635" rIns="635" bIns="635" rtlCol="0" anchor="t"/>
          <a:lstStyle/>
          <a:p>
            <a:pPr marL="0" indent="0" algn="l">
              <a:buNone/>
            </a:pPr>
            <a:r>
              <a:rPr sz="2000" b="1">
                <a:solidFill>
                  <a:srgbClr val="25323D"/>
                </a:solidFill>
                <a:latin typeface="Aptos"/>
              </a:rPr>
              <a:t>Interpretation</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25323D"/>
                </a:solidFill>
                <a:latin typeface="Aptos" pitchFamily="34" charset="0"/>
                <a:ea typeface="Aptos" pitchFamily="34" charset="-122"/>
                <a:cs typeface="Aptos" pitchFamily="34" charset="-120"/>
              </a:rPr>
              <a:t>What the n=50 evidence means</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The project is not asking whether repair can produce nicer questions. It asks whether nicer questions produce better medical answers.</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100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1000" dirty="0">
                <a:solidFill>
                  <a:srgbClr val="52616B"/>
                </a:solidFill>
                <a:latin typeface="Aptos" pitchFamily="34" charset="0"/>
                <a:ea typeface="Aptos" pitchFamily="34" charset="-122"/>
                <a:cs typeface="Aptos" pitchFamily="34" charset="-120"/>
              </a:rPr>
              <a:t>16 / 19</a:t>
            </a:r>
            <a:endParaRPr lang="en-US" sz="680" dirty="0"/>
          </a:p>
        </p:txBody>
      </p:sp>
      <p:sp>
        <p:nvSpPr>
          <p:cNvPr id="8" name="Text 6"/>
          <p:cNvSpPr/>
          <p:nvPr/>
        </p:nvSpPr>
        <p:spPr>
          <a:xfrm>
            <a:off x="475488" y="1737360"/>
            <a:ext cx="411480" cy="274320"/>
          </a:xfrm>
          <a:prstGeom prst="rect">
            <a:avLst/>
          </a:prstGeom>
          <a:solidFill>
            <a:srgbClr val="127C7A"/>
          </a:solidFill>
          <a:ln>
            <a:noFill/>
          </a:ln>
        </p:spPr>
        <p:txBody>
          <a:bodyPr wrap="square" lIns="0" tIns="0" rIns="0" bIns="0" rtlCol="0" anchor="t"/>
          <a:lstStyle/>
          <a:p>
            <a:pPr marL="0" indent="0" algn="ctr">
              <a:buNone/>
            </a:pPr>
            <a:r>
              <a:rPr lang="en-US" sz="1600" b="1" dirty="0">
                <a:solidFill>
                  <a:srgbClr val="FFFFFF"/>
                </a:solidFill>
                <a:latin typeface="Aptos" pitchFamily="34" charset="0"/>
                <a:ea typeface="Aptos" pitchFamily="34" charset="-122"/>
                <a:cs typeface="Aptos" pitchFamily="34" charset="-120"/>
              </a:rPr>
              <a:t>01</a:t>
            </a:r>
            <a:endParaRPr lang="en-US" sz="1400" dirty="0"/>
          </a:p>
        </p:txBody>
      </p:sp>
      <p:sp>
        <p:nvSpPr>
          <p:cNvPr id="9" name="Text 7"/>
          <p:cNvSpPr/>
          <p:nvPr/>
        </p:nvSpPr>
        <p:spPr>
          <a:xfrm>
            <a:off x="987552" y="1737360"/>
            <a:ext cx="10058400" cy="256032"/>
          </a:xfrm>
          <a:prstGeom prst="rect">
            <a:avLst/>
          </a:prstGeom>
          <a:noFill/>
          <a:ln/>
        </p:spPr>
        <p:txBody>
          <a:bodyPr wrap="square" lIns="0" tIns="0" rIns="0" bIns="0" rtlCol="0" anchor="t"/>
          <a:lstStyle/>
          <a:p>
            <a:pPr marL="0" indent="0" algn="l">
              <a:buNone/>
            </a:pPr>
            <a:r>
              <a:rPr lang="en-US" sz="1400" b="1" dirty="0">
                <a:solidFill>
                  <a:srgbClr val="25323D"/>
                </a:solidFill>
                <a:latin typeface="Aptos" pitchFamily="34" charset="0"/>
                <a:ea typeface="Aptos" pitchFamily="34" charset="-122"/>
                <a:cs typeface="Aptos" pitchFamily="34" charset="-120"/>
              </a:rPr>
              <a:t>Repair is useful, but bounded.</a:t>
            </a:r>
            <a:endParaRPr lang="en-US" sz="1600" dirty="0"/>
          </a:p>
        </p:txBody>
      </p:sp>
      <p:sp>
        <p:nvSpPr>
          <p:cNvPr id="10" name="Text 8"/>
          <p:cNvSpPr/>
          <p:nvPr/>
        </p:nvSpPr>
        <p:spPr>
          <a:xfrm>
            <a:off x="987552" y="2121408"/>
            <a:ext cx="9052560" cy="365760"/>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It can fix surface noise and some missing-context cases, yet it cannot reliably recover medical meaning once the user prompt has drifted.</a:t>
            </a:r>
            <a:endParaRPr lang="en-US" sz="1120" dirty="0"/>
          </a:p>
        </p:txBody>
      </p:sp>
      <p:sp>
        <p:nvSpPr>
          <p:cNvPr id="11" name="Text 9"/>
          <p:cNvSpPr/>
          <p:nvPr/>
        </p:nvSpPr>
        <p:spPr>
          <a:xfrm>
            <a:off x="475488" y="2971800"/>
            <a:ext cx="411480" cy="274320"/>
          </a:xfrm>
          <a:prstGeom prst="rect">
            <a:avLst/>
          </a:prstGeom>
          <a:solidFill>
            <a:srgbClr val="127C7A"/>
          </a:solidFill>
          <a:ln>
            <a:noFill/>
          </a:ln>
        </p:spPr>
        <p:txBody>
          <a:bodyPr wrap="square" lIns="0" tIns="0" rIns="0" bIns="0" rtlCol="0" anchor="t"/>
          <a:lstStyle/>
          <a:p>
            <a:pPr marL="0" indent="0" algn="ctr">
              <a:buNone/>
            </a:pPr>
            <a:r>
              <a:rPr lang="en-US" sz="1600" b="1" dirty="0">
                <a:solidFill>
                  <a:srgbClr val="FFFFFF"/>
                </a:solidFill>
                <a:latin typeface="Aptos" pitchFamily="34" charset="0"/>
                <a:ea typeface="Aptos" pitchFamily="34" charset="-122"/>
                <a:cs typeface="Aptos" pitchFamily="34" charset="-120"/>
              </a:rPr>
              <a:t>02</a:t>
            </a:r>
            <a:endParaRPr lang="en-US" sz="1400" dirty="0"/>
          </a:p>
        </p:txBody>
      </p:sp>
      <p:sp>
        <p:nvSpPr>
          <p:cNvPr id="12" name="Text 10"/>
          <p:cNvSpPr/>
          <p:nvPr/>
        </p:nvSpPr>
        <p:spPr>
          <a:xfrm>
            <a:off x="987552" y="2971800"/>
            <a:ext cx="10058400" cy="256032"/>
          </a:xfrm>
          <a:prstGeom prst="rect">
            <a:avLst/>
          </a:prstGeom>
          <a:noFill/>
          <a:ln/>
        </p:spPr>
        <p:txBody>
          <a:bodyPr wrap="square" lIns="0" tIns="0" rIns="0" bIns="0" rtlCol="0" anchor="t"/>
          <a:lstStyle/>
          <a:p>
            <a:pPr marL="0" indent="0" algn="l">
              <a:buNone/>
            </a:pPr>
            <a:r>
              <a:rPr lang="en-US" sz="1400" b="1" dirty="0">
                <a:solidFill>
                  <a:srgbClr val="25323D"/>
                </a:solidFill>
                <a:latin typeface="Aptos" pitchFamily="34" charset="0"/>
                <a:ea typeface="Aptos" pitchFamily="34" charset="-122"/>
                <a:cs typeface="Aptos" pitchFamily="34" charset="-120"/>
              </a:rPr>
              <a:t>Question repair adds another failure mode.</a:t>
            </a:r>
            <a:endParaRPr lang="en-US" sz="1600" dirty="0"/>
          </a:p>
        </p:txBody>
      </p:sp>
      <p:sp>
        <p:nvSpPr>
          <p:cNvPr id="13" name="Text 11"/>
          <p:cNvSpPr/>
          <p:nvPr/>
        </p:nvSpPr>
        <p:spPr>
          <a:xfrm>
            <a:off x="987552" y="3355848"/>
            <a:ext cx="9052560" cy="365760"/>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The repair model can commit to the wrong interpretation or broaden the target before the answer model ever sees it.</a:t>
            </a:r>
            <a:endParaRPr lang="en-US" sz="1120" dirty="0"/>
          </a:p>
        </p:txBody>
      </p:sp>
      <p:sp>
        <p:nvSpPr>
          <p:cNvPr id="14" name="Text 12"/>
          <p:cNvSpPr/>
          <p:nvPr/>
        </p:nvSpPr>
        <p:spPr>
          <a:xfrm>
            <a:off x="475488" y="4206240"/>
            <a:ext cx="411480" cy="274320"/>
          </a:xfrm>
          <a:prstGeom prst="rect">
            <a:avLst/>
          </a:prstGeom>
          <a:solidFill>
            <a:srgbClr val="127C7A"/>
          </a:solidFill>
          <a:ln>
            <a:noFill/>
          </a:ln>
        </p:spPr>
        <p:txBody>
          <a:bodyPr wrap="square" lIns="0" tIns="0" rIns="0" bIns="0" rtlCol="0" anchor="t"/>
          <a:lstStyle/>
          <a:p>
            <a:pPr marL="0" indent="0" algn="ctr">
              <a:buNone/>
            </a:pPr>
            <a:r>
              <a:rPr lang="en-US" sz="1600" b="1" dirty="0">
                <a:solidFill>
                  <a:srgbClr val="FFFFFF"/>
                </a:solidFill>
                <a:latin typeface="Aptos" pitchFamily="34" charset="0"/>
                <a:ea typeface="Aptos" pitchFamily="34" charset="-122"/>
                <a:cs typeface="Aptos" pitchFamily="34" charset="-120"/>
              </a:rPr>
              <a:t>03</a:t>
            </a:r>
            <a:endParaRPr lang="en-US" sz="1400" dirty="0"/>
          </a:p>
        </p:txBody>
      </p:sp>
      <p:sp>
        <p:nvSpPr>
          <p:cNvPr id="15" name="Text 13"/>
          <p:cNvSpPr/>
          <p:nvPr/>
        </p:nvSpPr>
        <p:spPr>
          <a:xfrm>
            <a:off x="987552" y="4206240"/>
            <a:ext cx="10058400" cy="256032"/>
          </a:xfrm>
          <a:prstGeom prst="rect">
            <a:avLst/>
          </a:prstGeom>
          <a:noFill/>
          <a:ln/>
        </p:spPr>
        <p:txBody>
          <a:bodyPr wrap="square" lIns="0" tIns="0" rIns="0" bIns="0" rtlCol="0" anchor="t"/>
          <a:lstStyle/>
          <a:p>
            <a:pPr marL="0" indent="0" algn="l">
              <a:buNone/>
            </a:pPr>
            <a:r>
              <a:rPr lang="en-US" sz="1400" b="1" dirty="0">
                <a:solidFill>
                  <a:srgbClr val="25323D"/>
                </a:solidFill>
                <a:latin typeface="Aptos" pitchFamily="34" charset="0"/>
                <a:ea typeface="Aptos" pitchFamily="34" charset="-122"/>
                <a:cs typeface="Aptos" pitchFamily="34" charset="-120"/>
              </a:rPr>
              <a:t>Metric choice changes the story.</a:t>
            </a:r>
            <a:endParaRPr lang="en-US" sz="1600" dirty="0"/>
          </a:p>
        </p:txBody>
      </p:sp>
      <p:sp>
        <p:nvSpPr>
          <p:cNvPr id="16" name="Text 14"/>
          <p:cNvSpPr/>
          <p:nvPr/>
        </p:nvSpPr>
        <p:spPr>
          <a:xfrm>
            <a:off x="987552" y="4590288"/>
            <a:ext cx="9052560" cy="365760"/>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Intent scores often improve while G-Eval and medical-term coverage do not. The safest read uses multiple lenses.</a:t>
            </a:r>
            <a:endParaRPr lang="en-US" sz="1120" dirty="0"/>
          </a:p>
        </p:txBody>
      </p:sp>
      <p:sp>
        <p:nvSpPr>
          <p:cNvPr id="17" name="Oval 16"/>
          <p:cNvSpPr/>
          <p:nvPr/>
        </p:nvSpPr>
        <p:spPr>
          <a:xfrm>
            <a:off x="475488" y="274320"/>
            <a:ext cx="384048" cy="384048"/>
          </a:xfrm>
          <a:prstGeom prst="ellipse">
            <a:avLst/>
          </a:prstGeom>
          <a:solidFill>
            <a:srgbClr val="127C7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ptos"/>
              </a:rPr>
              <a:t>15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78408" y="320040"/>
            <a:ext cx="5029200" cy="210312"/>
          </a:xfrm>
          <a:prstGeom prst="rect">
            <a:avLst/>
          </a:prstGeom>
          <a:noFill/>
          <a:ln/>
        </p:spPr>
        <p:txBody>
          <a:bodyPr wrap="square" lIns="635" tIns="635" rIns="635" bIns="635" rtlCol="0" anchor="t"/>
          <a:lstStyle/>
          <a:p>
            <a:pPr marL="0" indent="0" algn="l">
              <a:buNone/>
            </a:pPr>
            <a:r>
              <a:rPr sz="2000" b="1">
                <a:solidFill>
                  <a:srgbClr val="25323D"/>
                </a:solidFill>
                <a:latin typeface="Aptos"/>
              </a:rPr>
              <a:t>Limitations</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25323D"/>
                </a:solidFill>
                <a:latin typeface="Aptos" pitchFamily="34" charset="0"/>
                <a:ea typeface="Aptos" pitchFamily="34" charset="-122"/>
                <a:cs typeface="Aptos" pitchFamily="34" charset="-120"/>
              </a:rPr>
              <a:t>What this pilot cannot yet claim</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The deck is deliberately conservative: these are completed n=50 pilot experiments, not the final 1,000-question study.</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100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1000" dirty="0">
                <a:solidFill>
                  <a:srgbClr val="52616B"/>
                </a:solidFill>
                <a:latin typeface="Aptos" pitchFamily="34" charset="0"/>
                <a:ea typeface="Aptos" pitchFamily="34" charset="-122"/>
                <a:cs typeface="Aptos" pitchFamily="34" charset="-120"/>
              </a:rPr>
              <a:t>17 / 19</a:t>
            </a:r>
            <a:endParaRPr lang="en-US" sz="680" dirty="0"/>
          </a:p>
        </p:txBody>
      </p:sp>
      <p:sp>
        <p:nvSpPr>
          <p:cNvPr id="8" name="Shape 6"/>
          <p:cNvSpPr/>
          <p:nvPr/>
        </p:nvSpPr>
        <p:spPr>
          <a:xfrm>
            <a:off x="475488" y="1700784"/>
            <a:ext cx="9875520" cy="594360"/>
          </a:xfrm>
          <a:prstGeom prst="rect">
            <a:avLst/>
          </a:prstGeom>
          <a:solidFill>
            <a:srgbClr val="25323D"/>
          </a:solidFill>
          <a:ln w="8890">
            <a:solidFill>
              <a:srgbClr val="25323D"/>
            </a:solidFill>
            <a:prstDash val="solid"/>
          </a:ln>
        </p:spPr>
        <p:txBody>
          <a:bodyPr/>
          <a:lstStyle/>
          <a:p>
            <a:endParaRPr lang="en-US"/>
          </a:p>
        </p:txBody>
      </p:sp>
      <p:sp>
        <p:nvSpPr>
          <p:cNvPr id="9" name="Text 7"/>
          <p:cNvSpPr/>
          <p:nvPr/>
        </p:nvSpPr>
        <p:spPr>
          <a:xfrm>
            <a:off x="521208" y="1755648"/>
            <a:ext cx="1920240" cy="521208"/>
          </a:xfrm>
          <a:prstGeom prst="rect">
            <a:avLst/>
          </a:prstGeom>
          <a:noFill/>
          <a:ln/>
        </p:spPr>
        <p:txBody>
          <a:bodyPr wrap="square" lIns="0" tIns="0" rIns="0" bIns="0" rtlCol="0" anchor="t">
            <a:normAutofit/>
          </a:bodyPr>
          <a:lstStyle/>
          <a:p>
            <a:pPr marL="0" indent="0" algn="l">
              <a:buNone/>
            </a:pPr>
            <a:r>
              <a:rPr lang="en-US" sz="1400" b="1" dirty="0">
                <a:solidFill>
                  <a:srgbClr val="FFFFFF"/>
                </a:solidFill>
                <a:latin typeface="Aptos" pitchFamily="34" charset="0"/>
                <a:ea typeface="Aptos" pitchFamily="34" charset="-122"/>
                <a:cs typeface="Aptos" pitchFamily="34" charset="-120"/>
              </a:rPr>
              <a:t>Limit</a:t>
            </a:r>
            <a:endParaRPr lang="en-US" sz="850" dirty="0"/>
          </a:p>
        </p:txBody>
      </p:sp>
      <p:sp>
        <p:nvSpPr>
          <p:cNvPr id="10" name="Text 8"/>
          <p:cNvSpPr/>
          <p:nvPr/>
        </p:nvSpPr>
        <p:spPr>
          <a:xfrm>
            <a:off x="2532888" y="1755648"/>
            <a:ext cx="7772400" cy="521208"/>
          </a:xfrm>
          <a:prstGeom prst="rect">
            <a:avLst/>
          </a:prstGeom>
          <a:noFill/>
          <a:ln/>
        </p:spPr>
        <p:txBody>
          <a:bodyPr wrap="square" lIns="0" tIns="0" rIns="0" bIns="0" rtlCol="0" anchor="t">
            <a:normAutofit/>
          </a:bodyPr>
          <a:lstStyle/>
          <a:p>
            <a:pPr marL="0" indent="0" algn="l">
              <a:buNone/>
            </a:pPr>
            <a:r>
              <a:rPr lang="en-US" sz="1400" b="1" dirty="0">
                <a:solidFill>
                  <a:srgbClr val="FFFFFF"/>
                </a:solidFill>
                <a:latin typeface="Aptos" pitchFamily="34" charset="0"/>
                <a:ea typeface="Aptos" pitchFamily="34" charset="-122"/>
                <a:cs typeface="Aptos" pitchFamily="34" charset="-120"/>
              </a:rPr>
              <a:t>Why it matters</a:t>
            </a:r>
            <a:endParaRPr lang="en-US" sz="850" dirty="0"/>
          </a:p>
        </p:txBody>
      </p:sp>
      <p:sp>
        <p:nvSpPr>
          <p:cNvPr id="11" name="Shape 9"/>
          <p:cNvSpPr/>
          <p:nvPr/>
        </p:nvSpPr>
        <p:spPr>
          <a:xfrm>
            <a:off x="475488" y="2295144"/>
            <a:ext cx="9875520" cy="594360"/>
          </a:xfrm>
          <a:prstGeom prst="rect">
            <a:avLst/>
          </a:prstGeom>
          <a:solidFill>
            <a:srgbClr val="F2F6F7"/>
          </a:solidFill>
          <a:ln w="8890">
            <a:solidFill>
              <a:srgbClr val="D9E2E8"/>
            </a:solidFill>
            <a:prstDash val="solid"/>
          </a:ln>
        </p:spPr>
        <p:txBody>
          <a:bodyPr/>
          <a:lstStyle/>
          <a:p>
            <a:endParaRPr lang="en-US"/>
          </a:p>
        </p:txBody>
      </p:sp>
      <p:sp>
        <p:nvSpPr>
          <p:cNvPr id="12" name="Text 10"/>
          <p:cNvSpPr/>
          <p:nvPr/>
        </p:nvSpPr>
        <p:spPr>
          <a:xfrm>
            <a:off x="521208" y="2345436"/>
            <a:ext cx="1920240" cy="521208"/>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Pilot scale</a:t>
            </a:r>
            <a:endParaRPr lang="en-US" sz="920" dirty="0"/>
          </a:p>
        </p:txBody>
      </p:sp>
      <p:sp>
        <p:nvSpPr>
          <p:cNvPr id="13" name="Text 11"/>
          <p:cNvSpPr/>
          <p:nvPr/>
        </p:nvSpPr>
        <p:spPr>
          <a:xfrm>
            <a:off x="2532888" y="2345436"/>
            <a:ext cx="7772400" cy="521208"/>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50 questions per model. Good for signal-finding, not final statistical claim-making.</a:t>
            </a:r>
            <a:endParaRPr lang="en-US" sz="920" dirty="0"/>
          </a:p>
        </p:txBody>
      </p:sp>
      <p:sp>
        <p:nvSpPr>
          <p:cNvPr id="14" name="Shape 12"/>
          <p:cNvSpPr/>
          <p:nvPr/>
        </p:nvSpPr>
        <p:spPr>
          <a:xfrm>
            <a:off x="475488" y="2889504"/>
            <a:ext cx="9875520" cy="594360"/>
          </a:xfrm>
          <a:prstGeom prst="rect">
            <a:avLst/>
          </a:prstGeom>
          <a:solidFill>
            <a:srgbClr val="FFFFFF"/>
          </a:solidFill>
          <a:ln w="8890">
            <a:solidFill>
              <a:srgbClr val="D9E2E8"/>
            </a:solidFill>
            <a:prstDash val="solid"/>
          </a:ln>
        </p:spPr>
        <p:txBody>
          <a:bodyPr/>
          <a:lstStyle/>
          <a:p>
            <a:endParaRPr lang="en-US"/>
          </a:p>
        </p:txBody>
      </p:sp>
      <p:sp>
        <p:nvSpPr>
          <p:cNvPr id="15" name="Text 13"/>
          <p:cNvSpPr/>
          <p:nvPr/>
        </p:nvSpPr>
        <p:spPr>
          <a:xfrm>
            <a:off x="521208" y="2939796"/>
            <a:ext cx="1920240" cy="521208"/>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Synthetic noise</a:t>
            </a:r>
            <a:endParaRPr lang="en-US" sz="920" dirty="0"/>
          </a:p>
        </p:txBody>
      </p:sp>
      <p:sp>
        <p:nvSpPr>
          <p:cNvPr id="16" name="Text 14"/>
          <p:cNvSpPr/>
          <p:nvPr/>
        </p:nvSpPr>
        <p:spPr>
          <a:xfrm>
            <a:off x="2532888" y="2939796"/>
            <a:ext cx="7772400" cy="521208"/>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LLM-generated noise is controlled, but real patient language can be messier and multi-modal.</a:t>
            </a:r>
            <a:endParaRPr lang="en-US" sz="920" dirty="0"/>
          </a:p>
        </p:txBody>
      </p:sp>
      <p:sp>
        <p:nvSpPr>
          <p:cNvPr id="17" name="Shape 15"/>
          <p:cNvSpPr/>
          <p:nvPr/>
        </p:nvSpPr>
        <p:spPr>
          <a:xfrm>
            <a:off x="475488" y="3483864"/>
            <a:ext cx="9875520" cy="594360"/>
          </a:xfrm>
          <a:prstGeom prst="rect">
            <a:avLst/>
          </a:prstGeom>
          <a:solidFill>
            <a:srgbClr val="F2F6F7"/>
          </a:solidFill>
          <a:ln w="8890">
            <a:solidFill>
              <a:srgbClr val="D9E2E8"/>
            </a:solidFill>
            <a:prstDash val="solid"/>
          </a:ln>
        </p:spPr>
        <p:txBody>
          <a:bodyPr/>
          <a:lstStyle/>
          <a:p>
            <a:endParaRPr lang="en-US"/>
          </a:p>
        </p:txBody>
      </p:sp>
      <p:sp>
        <p:nvSpPr>
          <p:cNvPr id="18" name="Text 16"/>
          <p:cNvSpPr/>
          <p:nvPr/>
        </p:nvSpPr>
        <p:spPr>
          <a:xfrm>
            <a:off x="521208" y="3534156"/>
            <a:ext cx="1920240" cy="521208"/>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Single dataset</a:t>
            </a:r>
            <a:endParaRPr lang="en-US" sz="920" dirty="0"/>
          </a:p>
        </p:txBody>
      </p:sp>
      <p:sp>
        <p:nvSpPr>
          <p:cNvPr id="19" name="Text 17"/>
          <p:cNvSpPr/>
          <p:nvPr/>
        </p:nvSpPr>
        <p:spPr>
          <a:xfrm>
            <a:off x="2532888" y="3534156"/>
            <a:ext cx="7772400" cy="521208"/>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MedQuAD is curated NIH/NLM content, not patient portal messages or EHR notes.</a:t>
            </a:r>
            <a:endParaRPr lang="en-US" sz="920" dirty="0"/>
          </a:p>
        </p:txBody>
      </p:sp>
      <p:sp>
        <p:nvSpPr>
          <p:cNvPr id="20" name="Shape 18"/>
          <p:cNvSpPr/>
          <p:nvPr/>
        </p:nvSpPr>
        <p:spPr>
          <a:xfrm>
            <a:off x="475488" y="4078224"/>
            <a:ext cx="9875520" cy="594360"/>
          </a:xfrm>
          <a:prstGeom prst="rect">
            <a:avLst/>
          </a:prstGeom>
          <a:solidFill>
            <a:srgbClr val="FFFFFF"/>
          </a:solidFill>
          <a:ln w="8890">
            <a:solidFill>
              <a:srgbClr val="D9E2E8"/>
            </a:solidFill>
            <a:prstDash val="solid"/>
          </a:ln>
        </p:spPr>
        <p:txBody>
          <a:bodyPr/>
          <a:lstStyle/>
          <a:p>
            <a:endParaRPr lang="en-US"/>
          </a:p>
        </p:txBody>
      </p:sp>
      <p:sp>
        <p:nvSpPr>
          <p:cNvPr id="21" name="Text 19"/>
          <p:cNvSpPr/>
          <p:nvPr/>
        </p:nvSpPr>
        <p:spPr>
          <a:xfrm>
            <a:off x="521208" y="4128516"/>
            <a:ext cx="1920240" cy="521208"/>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Judge model overlap</a:t>
            </a:r>
            <a:endParaRPr lang="en-US" sz="920" dirty="0"/>
          </a:p>
        </p:txBody>
      </p:sp>
      <p:sp>
        <p:nvSpPr>
          <p:cNvPr id="22" name="Text 20"/>
          <p:cNvSpPr/>
          <p:nvPr/>
        </p:nvSpPr>
        <p:spPr>
          <a:xfrm>
            <a:off x="2532888" y="4128516"/>
            <a:ext cx="7772400" cy="521208"/>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G-Eval uses GPT-5.4-mini; the repair/noise stack also uses GPT-family components.</a:t>
            </a:r>
            <a:endParaRPr lang="en-US" sz="920" dirty="0"/>
          </a:p>
        </p:txBody>
      </p:sp>
      <p:sp>
        <p:nvSpPr>
          <p:cNvPr id="23" name="Shape 21"/>
          <p:cNvSpPr/>
          <p:nvPr/>
        </p:nvSpPr>
        <p:spPr>
          <a:xfrm>
            <a:off x="475488" y="4672584"/>
            <a:ext cx="9875520" cy="594360"/>
          </a:xfrm>
          <a:prstGeom prst="rect">
            <a:avLst/>
          </a:prstGeom>
          <a:solidFill>
            <a:srgbClr val="F2F6F7"/>
          </a:solidFill>
          <a:ln w="8890">
            <a:solidFill>
              <a:srgbClr val="D9E2E8"/>
            </a:solidFill>
            <a:prstDash val="solid"/>
          </a:ln>
        </p:spPr>
        <p:txBody>
          <a:bodyPr/>
          <a:lstStyle/>
          <a:p>
            <a:endParaRPr lang="en-US"/>
          </a:p>
        </p:txBody>
      </p:sp>
      <p:sp>
        <p:nvSpPr>
          <p:cNvPr id="24" name="Text 22"/>
          <p:cNvSpPr/>
          <p:nvPr/>
        </p:nvSpPr>
        <p:spPr>
          <a:xfrm>
            <a:off x="521208" y="4722876"/>
            <a:ext cx="1920240" cy="521208"/>
          </a:xfrm>
          <a:prstGeom prst="rect">
            <a:avLst/>
          </a:prstGeom>
          <a:noFill/>
          <a:ln/>
        </p:spPr>
        <p:txBody>
          <a:bodyPr wrap="square" lIns="0" tIns="0" rIns="0" bIns="0" rtlCol="0" anchor="t">
            <a:normAutofit/>
          </a:bodyPr>
          <a:lstStyle/>
          <a:p>
            <a:pPr marL="0" indent="0" algn="l">
              <a:buNone/>
            </a:pPr>
            <a:r>
              <a:rPr lang="en-US" sz="1400" b="1" dirty="0">
                <a:solidFill>
                  <a:srgbClr val="25323D"/>
                </a:solidFill>
                <a:latin typeface="Aptos" pitchFamily="34" charset="0"/>
                <a:ea typeface="Aptos" pitchFamily="34" charset="-122"/>
                <a:cs typeface="Aptos" pitchFamily="34" charset="-120"/>
              </a:rPr>
              <a:t>Domain metric limits</a:t>
            </a:r>
            <a:endParaRPr lang="en-US" sz="920" dirty="0"/>
          </a:p>
        </p:txBody>
      </p:sp>
      <p:sp>
        <p:nvSpPr>
          <p:cNvPr id="25" name="Text 23"/>
          <p:cNvSpPr/>
          <p:nvPr/>
        </p:nvSpPr>
        <p:spPr>
          <a:xfrm>
            <a:off x="2532888" y="4722876"/>
            <a:ext cx="7772400" cy="521208"/>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Medical-term coverage catches lost terms, but it does not judge clinical harm or relevance.</a:t>
            </a:r>
            <a:endParaRPr lang="en-US" sz="920" dirty="0"/>
          </a:p>
        </p:txBody>
      </p:sp>
      <p:sp>
        <p:nvSpPr>
          <p:cNvPr id="26" name="Oval 25"/>
          <p:cNvSpPr/>
          <p:nvPr/>
        </p:nvSpPr>
        <p:spPr>
          <a:xfrm>
            <a:off x="475488" y="274320"/>
            <a:ext cx="384048" cy="384048"/>
          </a:xfrm>
          <a:prstGeom prst="ellipse">
            <a:avLst/>
          </a:prstGeom>
          <a:solidFill>
            <a:srgbClr val="127C7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ptos"/>
              </a:rPr>
              <a:t>16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978408" y="320040"/>
            <a:ext cx="5029200" cy="210312"/>
          </a:xfrm>
          <a:prstGeom prst="rect">
            <a:avLst/>
          </a:prstGeom>
          <a:noFill/>
          <a:ln/>
        </p:spPr>
        <p:txBody>
          <a:bodyPr wrap="square" lIns="635" tIns="635" rIns="635" bIns="635" rtlCol="0" anchor="t"/>
          <a:lstStyle/>
          <a:p>
            <a:pPr marL="0" indent="0" algn="l">
              <a:buNone/>
            </a:pPr>
            <a:r>
              <a:rPr sz="2000" b="1">
                <a:solidFill>
                  <a:srgbClr val="25323D"/>
                </a:solidFill>
                <a:latin typeface="Aptos"/>
              </a:rPr>
              <a:t>Next steps</a:t>
            </a:r>
            <a:endParaRPr lang="en-US" sz="780" dirty="0"/>
          </a:p>
        </p:txBody>
      </p:sp>
      <p:sp>
        <p:nvSpPr>
          <p:cNvPr id="3" name="Text 1"/>
          <p:cNvSpPr/>
          <p:nvPr/>
        </p:nvSpPr>
        <p:spPr>
          <a:xfrm>
            <a:off x="475488" y="621792"/>
            <a:ext cx="8138160" cy="566928"/>
          </a:xfrm>
          <a:prstGeom prst="rect">
            <a:avLst/>
          </a:prstGeom>
          <a:noFill/>
          <a:ln/>
        </p:spPr>
        <p:txBody>
          <a:bodyPr wrap="square" lIns="635" tIns="635" rIns="635" bIns="635" rtlCol="0" anchor="t">
            <a:normAutofit/>
          </a:bodyPr>
          <a:lstStyle/>
          <a:p>
            <a:pPr marL="0" indent="0" algn="l">
              <a:buNone/>
            </a:pPr>
            <a:r>
              <a:rPr lang="en-US" sz="2400" b="1" dirty="0">
                <a:solidFill>
                  <a:srgbClr val="25323D"/>
                </a:solidFill>
                <a:latin typeface="Aptos" pitchFamily="34" charset="0"/>
                <a:ea typeface="Aptos" pitchFamily="34" charset="-122"/>
                <a:cs typeface="Aptos" pitchFamily="34" charset="-120"/>
              </a:rPr>
              <a:t>What would turn the pilot into a stronger study</a:t>
            </a:r>
            <a:endParaRPr lang="en-US" sz="2400" dirty="0"/>
          </a:p>
        </p:txBody>
      </p:sp>
      <p:sp>
        <p:nvSpPr>
          <p:cNvPr id="4" name="Text 2"/>
          <p:cNvSpPr/>
          <p:nvPr/>
        </p:nvSpPr>
        <p:spPr>
          <a:xfrm>
            <a:off x="475488" y="1161288"/>
            <a:ext cx="9875520" cy="310896"/>
          </a:xfrm>
          <a:prstGeom prst="rect">
            <a:avLst/>
          </a:prstGeom>
          <a:noFill/>
          <a:ln/>
        </p:spPr>
        <p:txBody>
          <a:bodyPr wrap="square" lIns="635" tIns="635" rIns="635" bIns="635"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The next phase should test scale, repair validation, and clinical safety rather than only adding more aggregate metrics.</a:t>
            </a:r>
            <a:endParaRPr lang="en-US" sz="1050" dirty="0"/>
          </a:p>
        </p:txBody>
      </p:sp>
      <p:sp>
        <p:nvSpPr>
          <p:cNvPr id="5" name="Shape 3"/>
          <p:cNvSpPr/>
          <p:nvPr/>
        </p:nvSpPr>
        <p:spPr>
          <a:xfrm>
            <a:off x="475488" y="6446520"/>
            <a:ext cx="11240719" cy="0"/>
          </a:xfrm>
          <a:prstGeom prst="line">
            <a:avLst/>
          </a:prstGeom>
          <a:noFill/>
          <a:ln w="7620">
            <a:solidFill>
              <a:srgbClr val="D9E2E8"/>
            </a:solidFill>
            <a:prstDash val="solid"/>
          </a:ln>
        </p:spPr>
        <p:txBody>
          <a:bodyPr/>
          <a:lstStyle/>
          <a:p>
            <a:endParaRPr lang="en-US"/>
          </a:p>
        </p:txBody>
      </p:sp>
      <p:sp>
        <p:nvSpPr>
          <p:cNvPr id="6" name="Text 4"/>
          <p:cNvSpPr/>
          <p:nvPr/>
        </p:nvSpPr>
        <p:spPr>
          <a:xfrm>
            <a:off x="475488" y="6510528"/>
            <a:ext cx="7223760" cy="164592"/>
          </a:xfrm>
          <a:prstGeom prst="rect">
            <a:avLst/>
          </a:prstGeom>
          <a:noFill/>
          <a:ln/>
        </p:spPr>
        <p:txBody>
          <a:bodyPr wrap="square" lIns="0" tIns="0" rIns="0" bIns="0" rtlCol="0" anchor="ctr"/>
          <a:lstStyle/>
          <a:p>
            <a:pPr marL="0" indent="0">
              <a:buNone/>
            </a:pPr>
            <a:r>
              <a:rPr lang="en-US" sz="1000" dirty="0">
                <a:solidFill>
                  <a:srgbClr val="52616B"/>
                </a:solidFill>
                <a:latin typeface="Aptos" pitchFamily="34" charset="0"/>
                <a:ea typeface="Aptos" pitchFamily="34" charset="-122"/>
                <a:cs typeface="Aptos" pitchFamily="34" charset="-120"/>
              </a:rPr>
              <a:t>MedQuAD Robustness | Group 2 | n=50 final presentation</a:t>
            </a:r>
            <a:endParaRPr lang="en-US" sz="680" dirty="0"/>
          </a:p>
        </p:txBody>
      </p:sp>
      <p:sp>
        <p:nvSpPr>
          <p:cNvPr id="7" name="Text 5"/>
          <p:cNvSpPr/>
          <p:nvPr/>
        </p:nvSpPr>
        <p:spPr>
          <a:xfrm>
            <a:off x="11140135" y="6510528"/>
            <a:ext cx="548640" cy="164592"/>
          </a:xfrm>
          <a:prstGeom prst="rect">
            <a:avLst/>
          </a:prstGeom>
          <a:noFill/>
          <a:ln/>
        </p:spPr>
        <p:txBody>
          <a:bodyPr wrap="square" lIns="0" tIns="0" rIns="0" bIns="0" rtlCol="0" anchor="ctr"/>
          <a:lstStyle/>
          <a:p>
            <a:pPr marL="0" indent="0" algn="r">
              <a:buNone/>
            </a:pPr>
            <a:r>
              <a:rPr lang="en-US" sz="1000" dirty="0">
                <a:solidFill>
                  <a:srgbClr val="52616B"/>
                </a:solidFill>
                <a:latin typeface="Aptos" pitchFamily="34" charset="0"/>
                <a:ea typeface="Aptos" pitchFamily="34" charset="-122"/>
                <a:cs typeface="Aptos" pitchFamily="34" charset="-120"/>
              </a:rPr>
              <a:t>18 / 19</a:t>
            </a:r>
            <a:endParaRPr lang="en-US" sz="680" dirty="0"/>
          </a:p>
        </p:txBody>
      </p:sp>
      <p:sp>
        <p:nvSpPr>
          <p:cNvPr id="8" name="Shape 6"/>
          <p:cNvSpPr/>
          <p:nvPr/>
        </p:nvSpPr>
        <p:spPr>
          <a:xfrm>
            <a:off x="475488" y="1783080"/>
            <a:ext cx="5074920" cy="969264"/>
          </a:xfrm>
          <a:prstGeom prst="roundRect">
            <a:avLst>
              <a:gd name="adj" fmla="val 5660"/>
            </a:avLst>
          </a:prstGeom>
          <a:solidFill>
            <a:srgbClr val="FFFFFF"/>
          </a:solidFill>
          <a:ln w="8890">
            <a:solidFill>
              <a:srgbClr val="D9E2E8"/>
            </a:solidFill>
            <a:prstDash val="solid"/>
          </a:ln>
        </p:spPr>
        <p:txBody>
          <a:bodyPr/>
          <a:lstStyle/>
          <a:p>
            <a:endParaRPr lang="en-US"/>
          </a:p>
        </p:txBody>
      </p:sp>
      <p:sp>
        <p:nvSpPr>
          <p:cNvPr id="9" name="Text 7"/>
          <p:cNvSpPr/>
          <p:nvPr/>
        </p:nvSpPr>
        <p:spPr>
          <a:xfrm>
            <a:off x="658368" y="1947672"/>
            <a:ext cx="2331720" cy="219456"/>
          </a:xfrm>
          <a:prstGeom prst="rect">
            <a:avLst/>
          </a:prstGeom>
          <a:noFill/>
          <a:ln/>
        </p:spPr>
        <p:txBody>
          <a:bodyPr wrap="square" lIns="0" tIns="0" rIns="0" bIns="0" rtlCol="0" anchor="t"/>
          <a:lstStyle/>
          <a:p>
            <a:pPr marL="0" indent="0" algn="l">
              <a:buNone/>
            </a:pPr>
            <a:r>
              <a:rPr lang="en-US" sz="1400" b="1" dirty="0">
                <a:solidFill>
                  <a:srgbClr val="127C7A"/>
                </a:solidFill>
                <a:latin typeface="Aptos" pitchFamily="34" charset="0"/>
                <a:ea typeface="Aptos" pitchFamily="34" charset="-122"/>
                <a:cs typeface="Aptos" pitchFamily="34" charset="-120"/>
              </a:rPr>
              <a:t>Scale to n=1,000</a:t>
            </a:r>
            <a:endParaRPr lang="en-US" sz="1300" dirty="0"/>
          </a:p>
        </p:txBody>
      </p:sp>
      <p:sp>
        <p:nvSpPr>
          <p:cNvPr id="10" name="Text 8"/>
          <p:cNvSpPr/>
          <p:nvPr/>
        </p:nvSpPr>
        <p:spPr>
          <a:xfrm>
            <a:off x="658368" y="2276856"/>
            <a:ext cx="4480560" cy="32918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Run the same fixed_repair and self_repair structure on a larger MedQuAD sample with confidence intervals.</a:t>
            </a:r>
            <a:endParaRPr lang="en-US" sz="880" dirty="0"/>
          </a:p>
        </p:txBody>
      </p:sp>
      <p:sp>
        <p:nvSpPr>
          <p:cNvPr id="11" name="Shape 9"/>
          <p:cNvSpPr/>
          <p:nvPr/>
        </p:nvSpPr>
        <p:spPr>
          <a:xfrm>
            <a:off x="6053328" y="1783080"/>
            <a:ext cx="5074920" cy="969264"/>
          </a:xfrm>
          <a:prstGeom prst="roundRect">
            <a:avLst>
              <a:gd name="adj" fmla="val 5660"/>
            </a:avLst>
          </a:prstGeom>
          <a:solidFill>
            <a:srgbClr val="FFFFFF"/>
          </a:solidFill>
          <a:ln w="8890">
            <a:solidFill>
              <a:srgbClr val="D9E2E8"/>
            </a:solidFill>
            <a:prstDash val="solid"/>
          </a:ln>
        </p:spPr>
        <p:txBody>
          <a:bodyPr/>
          <a:lstStyle/>
          <a:p>
            <a:endParaRPr lang="en-US"/>
          </a:p>
        </p:txBody>
      </p:sp>
      <p:sp>
        <p:nvSpPr>
          <p:cNvPr id="12" name="Text 10"/>
          <p:cNvSpPr/>
          <p:nvPr/>
        </p:nvSpPr>
        <p:spPr>
          <a:xfrm>
            <a:off x="6236208" y="1947672"/>
            <a:ext cx="2331720" cy="219456"/>
          </a:xfrm>
          <a:prstGeom prst="rect">
            <a:avLst/>
          </a:prstGeom>
          <a:noFill/>
          <a:ln/>
        </p:spPr>
        <p:txBody>
          <a:bodyPr wrap="square" lIns="0" tIns="0" rIns="0" bIns="0" rtlCol="0" anchor="t"/>
          <a:lstStyle/>
          <a:p>
            <a:pPr marL="0" indent="0" algn="l">
              <a:buNone/>
            </a:pPr>
            <a:r>
              <a:rPr lang="en-US" sz="1400" b="1" dirty="0">
                <a:solidFill>
                  <a:srgbClr val="127C7A"/>
                </a:solidFill>
                <a:latin typeface="Aptos" pitchFamily="34" charset="0"/>
                <a:ea typeface="Aptos" pitchFamily="34" charset="-122"/>
                <a:cs typeface="Aptos" pitchFamily="34" charset="-120"/>
              </a:rPr>
              <a:t>Validate repair outputs</a:t>
            </a:r>
            <a:endParaRPr lang="en-US" sz="1300" dirty="0"/>
          </a:p>
        </p:txBody>
      </p:sp>
      <p:sp>
        <p:nvSpPr>
          <p:cNvPr id="13" name="Text 11"/>
          <p:cNvSpPr/>
          <p:nvPr/>
        </p:nvSpPr>
        <p:spPr>
          <a:xfrm>
            <a:off x="6236208" y="2276856"/>
            <a:ext cx="4480560" cy="32918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Reject rewrites that answer the question, ask for more context, or inject facts not present in the noisy input.</a:t>
            </a:r>
            <a:endParaRPr lang="en-US" sz="880" dirty="0"/>
          </a:p>
        </p:txBody>
      </p:sp>
      <p:sp>
        <p:nvSpPr>
          <p:cNvPr id="14" name="Shape 12"/>
          <p:cNvSpPr/>
          <p:nvPr/>
        </p:nvSpPr>
        <p:spPr>
          <a:xfrm>
            <a:off x="475488" y="3200400"/>
            <a:ext cx="5074920" cy="1180618"/>
          </a:xfrm>
          <a:prstGeom prst="roundRect">
            <a:avLst>
              <a:gd name="adj" fmla="val 5660"/>
            </a:avLst>
          </a:prstGeom>
          <a:solidFill>
            <a:srgbClr val="FFFFFF"/>
          </a:solidFill>
          <a:ln w="8890">
            <a:solidFill>
              <a:srgbClr val="D9E2E8"/>
            </a:solidFill>
            <a:prstDash val="solid"/>
          </a:ln>
        </p:spPr>
        <p:txBody>
          <a:bodyPr/>
          <a:lstStyle/>
          <a:p>
            <a:endParaRPr lang="en-US"/>
          </a:p>
        </p:txBody>
      </p:sp>
      <p:sp>
        <p:nvSpPr>
          <p:cNvPr id="15" name="Text 13"/>
          <p:cNvSpPr/>
          <p:nvPr/>
        </p:nvSpPr>
        <p:spPr>
          <a:xfrm>
            <a:off x="658368" y="3364992"/>
            <a:ext cx="2331720" cy="219456"/>
          </a:xfrm>
          <a:prstGeom prst="rect">
            <a:avLst/>
          </a:prstGeom>
          <a:noFill/>
          <a:ln/>
        </p:spPr>
        <p:txBody>
          <a:bodyPr wrap="square" lIns="0" tIns="0" rIns="0" bIns="0" rtlCol="0" anchor="t"/>
          <a:lstStyle/>
          <a:p>
            <a:pPr marL="0" indent="0" algn="l">
              <a:buNone/>
            </a:pPr>
            <a:r>
              <a:rPr lang="en-US" sz="1400" b="1" dirty="0">
                <a:solidFill>
                  <a:srgbClr val="E0A13A"/>
                </a:solidFill>
                <a:latin typeface="Aptos" pitchFamily="34" charset="0"/>
                <a:ea typeface="Aptos" pitchFamily="34" charset="-122"/>
                <a:cs typeface="Aptos" pitchFamily="34" charset="-120"/>
              </a:rPr>
              <a:t>Human/clinical review</a:t>
            </a:r>
            <a:endParaRPr lang="en-US" sz="1300" dirty="0"/>
          </a:p>
        </p:txBody>
      </p:sp>
      <p:sp>
        <p:nvSpPr>
          <p:cNvPr id="16" name="Text 14"/>
          <p:cNvSpPr/>
          <p:nvPr/>
        </p:nvSpPr>
        <p:spPr>
          <a:xfrm>
            <a:off x="658368" y="3694176"/>
            <a:ext cx="4480560" cy="329184"/>
          </a:xfrm>
          <a:prstGeom prst="rect">
            <a:avLst/>
          </a:prstGeom>
          <a:noFill/>
          <a:ln/>
        </p:spPr>
        <p:txBody>
          <a:bodyPr wrap="square" lIns="0" tIns="0" rIns="0" bIns="0" rtlCol="0" anchor="t">
            <a:normAutofit/>
          </a:bodyPr>
          <a:lstStyle/>
          <a:p>
            <a:pPr marL="0" indent="0" algn="l">
              <a:buNone/>
            </a:pPr>
            <a:r>
              <a:rPr lang="en-US" sz="1400" dirty="0">
                <a:solidFill>
                  <a:srgbClr val="52616B"/>
                </a:solidFill>
                <a:latin typeface="Aptos" pitchFamily="34" charset="0"/>
                <a:ea typeface="Aptos" pitchFamily="34" charset="-122"/>
                <a:cs typeface="Aptos" pitchFamily="34" charset="-120"/>
              </a:rPr>
              <a:t>Pair automatic scores with a harm-tier rubric for misleading, unsafe, or clinically dangerous answers.</a:t>
            </a:r>
            <a:endParaRPr lang="en-US" sz="880" dirty="0"/>
          </a:p>
        </p:txBody>
      </p:sp>
      <p:sp>
        <p:nvSpPr>
          <p:cNvPr id="17" name="Shape 15"/>
          <p:cNvSpPr/>
          <p:nvPr/>
        </p:nvSpPr>
        <p:spPr>
          <a:xfrm>
            <a:off x="6053328" y="3200400"/>
            <a:ext cx="5074920" cy="1180618"/>
          </a:xfrm>
          <a:prstGeom prst="roundRect">
            <a:avLst>
              <a:gd name="adj" fmla="val 5660"/>
            </a:avLst>
          </a:prstGeom>
          <a:solidFill>
            <a:srgbClr val="FFFFFF"/>
          </a:solidFill>
          <a:ln w="8890">
            <a:solidFill>
              <a:srgbClr val="D9E2E8"/>
            </a:solidFill>
            <a:prstDash val="solid"/>
          </a:ln>
        </p:spPr>
        <p:txBody>
          <a:bodyPr/>
          <a:lstStyle/>
          <a:p>
            <a:endParaRPr lang="en-US"/>
          </a:p>
        </p:txBody>
      </p:sp>
      <p:sp>
        <p:nvSpPr>
          <p:cNvPr id="18" name="Text 16"/>
          <p:cNvSpPr/>
          <p:nvPr/>
        </p:nvSpPr>
        <p:spPr>
          <a:xfrm>
            <a:off x="6236208" y="3364992"/>
            <a:ext cx="2331720" cy="219456"/>
          </a:xfrm>
          <a:prstGeom prst="rect">
            <a:avLst/>
          </a:prstGeom>
          <a:noFill/>
          <a:ln/>
        </p:spPr>
        <p:txBody>
          <a:bodyPr wrap="square" lIns="0" tIns="0" rIns="0" bIns="0" rtlCol="0" anchor="t"/>
          <a:lstStyle/>
          <a:p>
            <a:pPr marL="0" indent="0" algn="l">
              <a:buNone/>
            </a:pPr>
            <a:r>
              <a:rPr lang="en-US" sz="1400" b="1" dirty="0">
                <a:solidFill>
                  <a:srgbClr val="C94C4C"/>
                </a:solidFill>
                <a:latin typeface="Aptos" pitchFamily="34" charset="0"/>
                <a:ea typeface="Aptos" pitchFamily="34" charset="-122"/>
                <a:cs typeface="Aptos" pitchFamily="34" charset="-120"/>
              </a:rPr>
              <a:t>Noise-specific policy</a:t>
            </a:r>
            <a:endParaRPr lang="en-US" sz="1300" dirty="0"/>
          </a:p>
        </p:txBody>
      </p:sp>
      <p:sp>
        <p:nvSpPr>
          <p:cNvPr id="19" name="Text 17"/>
          <p:cNvSpPr/>
          <p:nvPr/>
        </p:nvSpPr>
        <p:spPr>
          <a:xfrm>
            <a:off x="6236208" y="3694176"/>
            <a:ext cx="4480560" cy="329184"/>
          </a:xfrm>
          <a:prstGeom prst="rect">
            <a:avLst/>
          </a:prstGeom>
          <a:noFill/>
          <a:ln/>
        </p:spPr>
        <p:txBody>
          <a:bodyPr wrap="square" lIns="0" tIns="0" rIns="0" bIns="0" rtlCol="0" anchor="t">
            <a:noAutofit/>
          </a:bodyPr>
          <a:lstStyle/>
          <a:p>
            <a:pPr marL="0" indent="0" algn="l">
              <a:buNone/>
            </a:pPr>
            <a:r>
              <a:rPr lang="en-US" sz="1400" dirty="0">
                <a:solidFill>
                  <a:srgbClr val="52616B"/>
                </a:solidFill>
                <a:latin typeface="Aptos" pitchFamily="34" charset="0"/>
                <a:ea typeface="Aptos" pitchFamily="34" charset="-122"/>
                <a:cs typeface="Aptos" pitchFamily="34" charset="-120"/>
              </a:rPr>
              <a:t>Deploy repair selectively: typo/incomplete questions may benefit; overgeneralized or ambiguous prompts may need clarification instead.</a:t>
            </a:r>
            <a:endParaRPr lang="en-US" sz="1400" dirty="0"/>
          </a:p>
        </p:txBody>
      </p:sp>
      <p:sp>
        <p:nvSpPr>
          <p:cNvPr id="20" name="Text 18"/>
          <p:cNvSpPr/>
          <p:nvPr/>
        </p:nvSpPr>
        <p:spPr>
          <a:xfrm>
            <a:off x="475488" y="5166360"/>
            <a:ext cx="9875520" cy="347472"/>
          </a:xfrm>
          <a:prstGeom prst="rect">
            <a:avLst/>
          </a:prstGeom>
          <a:noFill/>
          <a:ln/>
        </p:spPr>
        <p:txBody>
          <a:bodyPr wrap="square" lIns="635" tIns="635" rIns="635" bIns="635" rtlCol="0" anchor="t">
            <a:normAutofit/>
          </a:bodyPr>
          <a:lstStyle/>
          <a:p>
            <a:pPr marL="0" indent="0" algn="l">
              <a:buNone/>
            </a:pPr>
            <a:r>
              <a:rPr lang="en-US" sz="1500" b="1" dirty="0">
                <a:solidFill>
                  <a:srgbClr val="25323D"/>
                </a:solidFill>
                <a:latin typeface="Aptos" pitchFamily="34" charset="0"/>
                <a:ea typeface="Aptos" pitchFamily="34" charset="-122"/>
                <a:cs typeface="Aptos" pitchFamily="34" charset="-120"/>
              </a:rPr>
              <a:t>Practical takeaway: prompt repair should be evaluated as a conditional tool, not assumed to be a universal safety layer.</a:t>
            </a:r>
            <a:endParaRPr lang="en-US" sz="1500" dirty="0"/>
          </a:p>
        </p:txBody>
      </p:sp>
      <p:sp>
        <p:nvSpPr>
          <p:cNvPr id="21" name="Oval 20"/>
          <p:cNvSpPr/>
          <p:nvPr/>
        </p:nvSpPr>
        <p:spPr>
          <a:xfrm>
            <a:off x="475488" y="274320"/>
            <a:ext cx="384048" cy="384048"/>
          </a:xfrm>
          <a:prstGeom prst="ellipse">
            <a:avLst/>
          </a:prstGeom>
          <a:solidFill>
            <a:srgbClr val="127C7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ptos"/>
              </a:rPr>
              <a:t>17</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5323D"/>
        </a:solidFill>
        <a:effectLst/>
      </p:bgPr>
    </p:bg>
    <p:spTree>
      <p:nvGrpSpPr>
        <p:cNvPr id="1" name=""/>
        <p:cNvGrpSpPr/>
        <p:nvPr/>
      </p:nvGrpSpPr>
      <p:grpSpPr>
        <a:xfrm>
          <a:off x="0" y="0"/>
          <a:ext cx="0" cy="0"/>
          <a:chOff x="0" y="0"/>
          <a:chExt cx="0" cy="0"/>
        </a:xfrm>
      </p:grpSpPr>
      <p:sp>
        <p:nvSpPr>
          <p:cNvPr id="2" name="Text 0"/>
          <p:cNvSpPr/>
          <p:nvPr/>
        </p:nvSpPr>
        <p:spPr>
          <a:xfrm>
            <a:off x="475488" y="1417320"/>
            <a:ext cx="4389120" cy="713232"/>
          </a:xfrm>
          <a:prstGeom prst="rect">
            <a:avLst/>
          </a:prstGeom>
          <a:noFill/>
          <a:ln/>
        </p:spPr>
        <p:txBody>
          <a:bodyPr wrap="square" lIns="0" tIns="0" rIns="0" bIns="0" rtlCol="0" anchor="t"/>
          <a:lstStyle/>
          <a:p>
            <a:pPr marL="0" indent="0" algn="l">
              <a:buNone/>
            </a:pPr>
            <a:r>
              <a:rPr lang="en-US" sz="5400" b="1" dirty="0">
                <a:solidFill>
                  <a:srgbClr val="FFFFFF"/>
                </a:solidFill>
                <a:latin typeface="Aptos" pitchFamily="34" charset="0"/>
                <a:ea typeface="Aptos" pitchFamily="34" charset="-122"/>
                <a:cs typeface="Aptos" pitchFamily="34" charset="-120"/>
              </a:rPr>
              <a:t>Thank you.</a:t>
            </a:r>
            <a:endParaRPr lang="en-US" sz="4200" dirty="0"/>
          </a:p>
        </p:txBody>
      </p:sp>
      <p:sp>
        <p:nvSpPr>
          <p:cNvPr id="3" name="Text 1"/>
          <p:cNvSpPr/>
          <p:nvPr/>
        </p:nvSpPr>
        <p:spPr>
          <a:xfrm>
            <a:off x="475488" y="2395728"/>
            <a:ext cx="5486400" cy="292608"/>
          </a:xfrm>
          <a:prstGeom prst="rect">
            <a:avLst/>
          </a:prstGeom>
          <a:noFill/>
          <a:ln/>
        </p:spPr>
        <p:txBody>
          <a:bodyPr wrap="square" lIns="0" tIns="0" rIns="0" bIns="0" rtlCol="0" anchor="t"/>
          <a:lstStyle/>
          <a:p>
            <a:pPr marL="0" indent="0" algn="l">
              <a:buNone/>
            </a:pPr>
            <a:r>
              <a:rPr lang="en-US" sz="1400" i="1" dirty="0">
                <a:solidFill>
                  <a:srgbClr val="DCE9ED"/>
                </a:solidFill>
                <a:latin typeface="Aptos" pitchFamily="34" charset="0"/>
                <a:ea typeface="Aptos" pitchFamily="34" charset="-122"/>
                <a:cs typeface="Aptos" pitchFamily="34" charset="-120"/>
              </a:rPr>
              <a:t>Questions, pushback, and especially counter-evidence welcome.</a:t>
            </a:r>
            <a:endParaRPr lang="en-US" sz="1400" dirty="0"/>
          </a:p>
        </p:txBody>
      </p:sp>
      <p:sp>
        <p:nvSpPr>
          <p:cNvPr id="4" name="Text 2"/>
          <p:cNvSpPr/>
          <p:nvPr/>
        </p:nvSpPr>
        <p:spPr>
          <a:xfrm>
            <a:off x="475488" y="5120640"/>
            <a:ext cx="4206240" cy="201168"/>
          </a:xfrm>
          <a:prstGeom prst="rect">
            <a:avLst/>
          </a:prstGeom>
          <a:noFill/>
          <a:ln/>
        </p:spPr>
        <p:txBody>
          <a:bodyPr wrap="square" lIns="0" tIns="0" rIns="0" bIns="0" rtlCol="0" anchor="t"/>
          <a:lstStyle/>
          <a:p>
            <a:pPr marL="0" indent="0" algn="l">
              <a:buNone/>
            </a:pPr>
            <a:r>
              <a:rPr lang="en-US" sz="1400" dirty="0">
                <a:solidFill>
                  <a:srgbClr val="FFFFFF"/>
                </a:solidFill>
                <a:latin typeface="Aptos" pitchFamily="34" charset="0"/>
                <a:ea typeface="Aptos" pitchFamily="34" charset="-122"/>
                <a:cs typeface="Aptos" pitchFamily="34" charset="-120"/>
              </a:rPr>
              <a:t>Group 2 | Practicum in LLM Evaluation</a:t>
            </a:r>
            <a:endParaRPr lang="en-US" sz="900" dirty="0"/>
          </a:p>
        </p:txBody>
      </p:sp>
      <p:sp>
        <p:nvSpPr>
          <p:cNvPr id="5" name="Text 3"/>
          <p:cNvSpPr/>
          <p:nvPr/>
        </p:nvSpPr>
        <p:spPr>
          <a:xfrm>
            <a:off x="475488" y="5440680"/>
            <a:ext cx="4206240" cy="201168"/>
          </a:xfrm>
          <a:prstGeom prst="rect">
            <a:avLst/>
          </a:prstGeom>
          <a:noFill/>
          <a:ln/>
        </p:spPr>
        <p:txBody>
          <a:bodyPr wrap="square" lIns="0" tIns="0" rIns="0" bIns="0" rtlCol="0" anchor="t"/>
          <a:lstStyle/>
          <a:p>
            <a:pPr marL="0" indent="0" algn="l">
              <a:buNone/>
            </a:pPr>
            <a:r>
              <a:rPr lang="en-US" sz="1400" dirty="0">
                <a:solidFill>
                  <a:srgbClr val="FFFFFF"/>
                </a:solidFill>
                <a:latin typeface="Aptos" pitchFamily="34" charset="0"/>
                <a:ea typeface="Aptos" pitchFamily="34" charset="-122"/>
                <a:cs typeface="Aptos" pitchFamily="34" charset="-120"/>
              </a:rPr>
              <a:t>MedQuAD Robustness | n=50 final presentation</a:t>
            </a:r>
            <a:endParaRPr lang="en-US" sz="900" dirty="0"/>
          </a:p>
        </p:txBody>
      </p:sp>
      <p:sp>
        <p:nvSpPr>
          <p:cNvPr id="6" name="Shape 4"/>
          <p:cNvSpPr/>
          <p:nvPr/>
        </p:nvSpPr>
        <p:spPr>
          <a:xfrm>
            <a:off x="6675120" y="1234440"/>
            <a:ext cx="4023360" cy="3108960"/>
          </a:xfrm>
          <a:prstGeom prst="roundRect">
            <a:avLst>
              <a:gd name="adj" fmla="val 1765"/>
            </a:avLst>
          </a:prstGeom>
          <a:solidFill>
            <a:srgbClr val="25323D"/>
          </a:solidFill>
          <a:ln w="8890">
            <a:solidFill>
              <a:srgbClr val="31424E"/>
            </a:solidFill>
            <a:prstDash val="solid"/>
          </a:ln>
        </p:spPr>
        <p:txBody>
          <a:bodyPr/>
          <a:lstStyle/>
          <a:p>
            <a:endParaRPr lang="en-US"/>
          </a:p>
        </p:txBody>
      </p:sp>
      <p:sp>
        <p:nvSpPr>
          <p:cNvPr id="7" name="Text 5"/>
          <p:cNvSpPr/>
          <p:nvPr/>
        </p:nvSpPr>
        <p:spPr>
          <a:xfrm>
            <a:off x="7086600" y="1691640"/>
            <a:ext cx="1828800" cy="237744"/>
          </a:xfrm>
          <a:prstGeom prst="rect">
            <a:avLst/>
          </a:prstGeom>
          <a:noFill/>
          <a:ln/>
        </p:spPr>
        <p:txBody>
          <a:bodyPr wrap="square" lIns="0" tIns="0" rIns="0" bIns="0" rtlCol="0" anchor="t"/>
          <a:lstStyle/>
          <a:p>
            <a:pPr marL="0" indent="0" algn="l">
              <a:buNone/>
            </a:pPr>
            <a:r>
              <a:rPr lang="en-US" sz="1400" b="1" dirty="0">
                <a:solidFill>
                  <a:srgbClr val="FFFFFF"/>
                </a:solidFill>
                <a:latin typeface="Aptos" pitchFamily="34" charset="0"/>
                <a:ea typeface="Aptos" pitchFamily="34" charset="-122"/>
                <a:cs typeface="Aptos" pitchFamily="34" charset="-120"/>
              </a:rPr>
              <a:t>Main answer</a:t>
            </a:r>
            <a:endParaRPr lang="en-US" sz="1300" dirty="0"/>
          </a:p>
        </p:txBody>
      </p:sp>
      <p:sp>
        <p:nvSpPr>
          <p:cNvPr id="8" name="Text 6"/>
          <p:cNvSpPr/>
          <p:nvPr/>
        </p:nvSpPr>
        <p:spPr>
          <a:xfrm>
            <a:off x="7086600" y="2148840"/>
            <a:ext cx="3063240" cy="960120"/>
          </a:xfrm>
          <a:prstGeom prst="rect">
            <a:avLst/>
          </a:prstGeom>
          <a:noFill/>
          <a:ln/>
        </p:spPr>
        <p:txBody>
          <a:bodyPr wrap="square" lIns="0" tIns="0" rIns="0" bIns="0" rtlCol="0" anchor="t">
            <a:normAutofit/>
          </a:bodyPr>
          <a:lstStyle/>
          <a:p>
            <a:pPr marL="0" indent="0" algn="l">
              <a:buNone/>
            </a:pPr>
            <a:r>
              <a:rPr lang="en-US" sz="1600" b="1" dirty="0">
                <a:solidFill>
                  <a:srgbClr val="E0A13A"/>
                </a:solidFill>
                <a:latin typeface="Aptos" pitchFamily="34" charset="0"/>
                <a:ea typeface="Aptos" pitchFamily="34" charset="-122"/>
                <a:cs typeface="Aptos" pitchFamily="34" charset="-120"/>
              </a:rPr>
              <a:t>Repair improved question intent in every model, but it did not systematically improve medical QA answer quality in the completed n=50 pilot.</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3024</Words>
  <Application>Microsoft Office PowerPoint</Application>
  <PresentationFormat>Widescreen</PresentationFormat>
  <Paragraphs>390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Columbia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Medical LLM Robustness to Noisy User Inputs</dc:title>
  <dc:subject>MedQuAD Robustness n=50 Experiments</dc:subject>
  <dc:creator>Group 2</dc:creator>
  <cp:lastModifiedBy>Michael Li</cp:lastModifiedBy>
  <cp:revision>1</cp:revision>
  <dcterms:created xsi:type="dcterms:W3CDTF">2026-04-28T02:25:16Z</dcterms:created>
  <dcterms:modified xsi:type="dcterms:W3CDTF">2026-04-28T04:13:43Z</dcterms:modified>
</cp:coreProperties>
</file>