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A3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595360" y="0"/>
            <a:ext cx="3566160" cy="68580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595360" y="4206240"/>
            <a:ext cx="3566160" cy="26517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595360" y="5486400"/>
            <a:ext cx="3566160" cy="13716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PRACTICUM IN LLM EVALUATION  •  FINAL PRESENTATION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Medical LLM Robustness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 Noisy User Inputs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402336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Does prompt repair restore accuracy when real users ask messy medical questions?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566928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Dataset: MedQuAD  •  Models: 10  •  Pilot: 50 questions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869680" y="60350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Group 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01  •  PROBLEM &amp; MOTIVATION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658368"/>
            <a:ext cx="11247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Real users do not ask clean questions.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17373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The gap between benchmark inputs and real-world inputs.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2377440"/>
            <a:ext cx="54864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Medical QA models are evaluated on clean, well-formed questions, but real patients type messy ones — typos, slang, vague symptoms, missing context.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the input degrades, does the answer degrade too? And can a lightweight prompt-repair step recover what was lost?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4937760"/>
            <a:ext cx="5486400" cy="1371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57200" y="4937760"/>
            <a:ext cx="73152" cy="1371600"/>
          </a:xfrm>
          <a:prstGeom prst="rect">
            <a:avLst/>
          </a:prstGeom>
          <a:solidFill>
            <a:srgbClr val="F76C5E"/>
          </a:solidFill>
          <a:ln cap="flat" cmpd="sng" w="12700">
            <a:solidFill>
              <a:srgbClr val="F76C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85800" y="50292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6C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6C5E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85800" y="534924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 healthcare, a wrong or hallucinated answer to a vague question is not a UX bug — it is a safety problem. Robustness under noisy input is a safety requirement, not a nice-to-have.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583680" y="1737360"/>
            <a:ext cx="5120640" cy="4572000"/>
          </a:xfrm>
          <a:prstGeom prst="rect">
            <a:avLst/>
          </a:prstGeom>
          <a:solidFill>
            <a:srgbClr val="0F2A3F"/>
          </a:solidFill>
          <a:ln cap="flat" cmpd="sng" w="12700">
            <a:solidFill>
              <a:srgbClr val="0F2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858000" y="19202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858000" y="23774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RQ1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858000" y="28346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do different noise types affect LLM performance on medical QA?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858000" y="40233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RQ2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858000" y="448056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Does a prompt-repair step recover that lost performance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 for which kinds of noise?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858000" y="57607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Pipeline:  Clean Q  →  Add Noise  →  Repair  →  Model Answer  →  Evaluate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MedQuAD Robustness  •  Group 2  •  Practicum LLM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02  •  APPROACH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7200" y="658368"/>
            <a:ext cx="11247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Three pipelines, five noise types, one controlled comparison.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57200" y="1783080"/>
            <a:ext cx="2103120" cy="7772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57200" y="185623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 Q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21945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MedQuAD 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514600" y="1828800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724912" y="1783080"/>
            <a:ext cx="2103120" cy="77724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2724912" y="185623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Noise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724912" y="21945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noise 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782312" y="1828800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992624" y="1783080"/>
            <a:ext cx="2103120" cy="77724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992624" y="185623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Repair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992624" y="21945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GPT-5.4 rewrite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050024" y="1828800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7260336" y="1783080"/>
            <a:ext cx="2103120" cy="77724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7260336" y="185623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260336" y="21945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under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9317736" y="1828800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528048" y="1783080"/>
            <a:ext cx="2103120" cy="777240"/>
          </a:xfrm>
          <a:prstGeom prst="rect">
            <a:avLst/>
          </a:prstGeom>
          <a:solidFill>
            <a:srgbClr val="F76C5E"/>
          </a:solidFill>
          <a:ln cap="flat" cmpd="sng" w="12700">
            <a:solidFill>
              <a:srgbClr val="F76C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9528048" y="185623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9528048" y="21945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BERTScore, G-Eval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" y="29260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DATA  &amp;  EXPERIMENTAL 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57200" y="3246120"/>
            <a:ext cx="5486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Dataset: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MedQuAD — curated medical Q&amp;A from NIH/NLM sources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Pilot size: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50 questions × 10 models  (full target: 1,000)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Models tested: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GPT family, LLaMA, Qwen, Gemma, and others (10 total)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Generators: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GPT-5.4 (repair) · GPT-5.4-mini (noise + judge)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Modes: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end_to_end · fixed_repair · self_repair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Metrics: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BLEU, chrF, ROUGE-L, token F1, BERTScore, G-Eval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309360" y="29260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FIVE NOISE 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309360" y="3291840"/>
            <a:ext cx="5486400" cy="56692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309360" y="3291840"/>
            <a:ext cx="73152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492240" y="3328416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Typos / grammar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686800" y="3328416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spelling, spacing, casing slips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309360" y="3931920"/>
            <a:ext cx="5486400" cy="56692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309360" y="3931920"/>
            <a:ext cx="73152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492240" y="3968496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Layperson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8686800" y="3968496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swap technical terms for patient phrasing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309360" y="4572000"/>
            <a:ext cx="5486400" cy="56692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309360" y="4572000"/>
            <a:ext cx="73152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492240" y="4608576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Ambiguity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686800" y="4608576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blur a key medical detail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309360" y="5212080"/>
            <a:ext cx="5486400" cy="56692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309360" y="5212080"/>
            <a:ext cx="73152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492240" y="5248656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Incomplete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686800" y="5248656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drop condition, body part, or timeframe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309360" y="5852160"/>
            <a:ext cx="5486400" cy="56692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309360" y="5852160"/>
            <a:ext cx="73152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492240" y="5888736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Overgeneralization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686800" y="5888736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broaden a specific question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MedQuAD Robustness  •  Group 2  •  Practicum LLM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03  •  OUTPUTS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57200" y="658368"/>
            <a:ext cx="11247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What the noise &amp; repair actually look like.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57200" y="1691640"/>
            <a:ext cx="11247120" cy="23317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57200" y="1691640"/>
            <a:ext cx="73152" cy="23317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85800" y="18013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Example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77240" y="219456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77240" y="2487168"/>
            <a:ext cx="352044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 you have information about A1C?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434840" y="219456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6C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76C5E"/>
                </a:solidFill>
                <a:latin typeface="Calibri"/>
                <a:ea typeface="Calibri"/>
                <a:cs typeface="Calibri"/>
                <a:sym typeface="Calibri"/>
              </a:rPr>
              <a:t>NOISY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434840" y="2487168"/>
            <a:ext cx="352044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 need some info 'bout my glucose levels test, is it called AIC?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092440" y="219456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REPAIRED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092440" y="2487168"/>
            <a:ext cx="352044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Is the glucose level test you're referring to known as Hemoglobin A1c (HbA1c)?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57200" y="4206240"/>
            <a:ext cx="11247120" cy="23317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57200" y="4206240"/>
            <a:ext cx="73152" cy="23317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85800" y="43159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Example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77240" y="470916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77240" y="5001768"/>
            <a:ext cx="352044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is (are) Abdominal Pain?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434840" y="470916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6C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76C5E"/>
                </a:solidFill>
                <a:latin typeface="Calibri"/>
                <a:ea typeface="Calibri"/>
                <a:cs typeface="Calibri"/>
                <a:sym typeface="Calibri"/>
              </a:rPr>
              <a:t>NOISY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434840" y="5001768"/>
            <a:ext cx="352044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Whats da abdominel pane? Its somethin that hurts in der belly area, na?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092440" y="470916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REPAIRED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8092440" y="5001768"/>
            <a:ext cx="352044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is abdominal pain? It refers to discomfort located in the stomach/belly region.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MedQuAD Robustness  •  Group 2  •  Practicum LLM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04  •  KEY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7200" y="658368"/>
            <a:ext cx="11247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Noise hurts — but not all noise hurts equally.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17373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Degradation by noise type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57200" y="224028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G-Eval drop from clean → noisy (lower bar = larger drop in answer quality, averaged across the 10 models in the pilot).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7200" y="3291840"/>
            <a:ext cx="4572000" cy="1280160"/>
          </a:xfrm>
          <a:prstGeom prst="rect">
            <a:avLst/>
          </a:prstGeom>
          <a:solidFill>
            <a:srgbClr val="0F2A3F"/>
          </a:solidFill>
          <a:ln cap="flat" cmpd="sng" w="12700">
            <a:solidFill>
              <a:srgbClr val="0F2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640080" y="3383280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6C5E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76C5E"/>
                </a:solidFill>
                <a:latin typeface="Georgia"/>
                <a:ea typeface="Georgia"/>
                <a:cs typeface="Georgia"/>
                <a:sym typeface="Georgia"/>
              </a:rPr>
              <a:t>−0.84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2423160" y="342900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G-Eval drop on layperson noise — the worst offender, even after repair.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57200" y="4709160"/>
            <a:ext cx="4572000" cy="12801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40080" y="4800600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+0.10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2423160" y="484632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G-Eval recovery from repair on typo / grammar noise — surface fixes 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691640"/>
            <a:ext cx="6492240" cy="438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5303520" y="6126480"/>
            <a:ext cx="6492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Illustrative pilot averages (n=50, 10 models). Negative = quality dropped under noise.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MedQuAD Robustness  •  Group 2  •  Practicum LLM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04  •  KEY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658368"/>
            <a:ext cx="11247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Repair only meaningfully recovers surface-level noise.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91640"/>
            <a:ext cx="768096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8503920" y="1691640"/>
            <a:ext cx="3291840" cy="4480560"/>
          </a:xfrm>
          <a:prstGeom prst="rect">
            <a:avLst/>
          </a:prstGeom>
          <a:solidFill>
            <a:srgbClr val="0F2A3F"/>
          </a:solidFill>
          <a:ln cap="flat" cmpd="sng" w="12700">
            <a:solidFill>
              <a:srgbClr val="0F2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8686800" y="18288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WHAT THIS SAYS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686800" y="2194560"/>
            <a:ext cx="30175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Typos &amp; grammar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Repair almost fully recovers performance.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76C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6C5E"/>
                </a:solidFill>
                <a:latin typeface="Calibri"/>
                <a:ea typeface="Calibri"/>
                <a:cs typeface="Calibri"/>
                <a:sym typeface="Calibri"/>
              </a:rPr>
              <a:t>Layperson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Repair gives ~zero recovery — the meaning gap survives the rewrite.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Ambiguity / incomplete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Partial recovery — depends on whether the missing detail can be inferred.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MedQuAD Robustness  •  Group 2  •  Practicum LLM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04  •  KEY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57200" y="658368"/>
            <a:ext cx="11247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BERTScore is misleading: it barely moves while answer quality collapses.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20240"/>
            <a:ext cx="557784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1920240"/>
            <a:ext cx="557784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/>
          <p:nvPr/>
        </p:nvSpPr>
        <p:spPr>
          <a:xfrm>
            <a:off x="457200" y="5715000"/>
            <a:ext cx="11247120" cy="640080"/>
          </a:xfrm>
          <a:prstGeom prst="rect">
            <a:avLst/>
          </a:prstGeom>
          <a:solidFill>
            <a:srgbClr val="0F2A3F"/>
          </a:solidFill>
          <a:ln cap="flat" cmpd="sng" w="12700">
            <a:solidFill>
              <a:srgbClr val="0F2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Takeaway: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Surface similarity metrics like BERTScore can declare an answer “fine” while the model has lost the medical meaning. Use semantic / judge-based eval for medical QA.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MedQuAD Robustness  •  Group 2  •  Practicum LLM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05  •  INSIGHTS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57200" y="658368"/>
            <a:ext cx="11247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What we learned — and what surprised us.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57200" y="1691640"/>
            <a:ext cx="3657600" cy="45720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457200" y="1691640"/>
            <a:ext cx="3657600" cy="1097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731520" y="20116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INSIGHT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731520" y="2377440"/>
            <a:ext cx="3108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Repair is a bandage, not a cure.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731520" y="406908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 fixes typos and clumsy phrasing, but it cannot recover information the user never gave. If the noisy version is missing a key clinical detail, the repaired version usually is too.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389120" y="1691640"/>
            <a:ext cx="3657600" cy="45720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4389120" y="1691640"/>
            <a:ext cx="3657600" cy="109728"/>
          </a:xfrm>
          <a:prstGeom prst="rect">
            <a:avLst/>
          </a:prstGeom>
          <a:solidFill>
            <a:srgbClr val="F76C5E"/>
          </a:solidFill>
          <a:ln cap="flat" cmpd="sng" w="12700">
            <a:solidFill>
              <a:srgbClr val="F76C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4663440" y="20116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6C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76C5E"/>
                </a:solidFill>
                <a:latin typeface="Calibri"/>
                <a:ea typeface="Calibri"/>
                <a:cs typeface="Calibri"/>
                <a:sym typeface="Calibri"/>
              </a:rPr>
              <a:t>INSIGHT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663440" y="2377440"/>
            <a:ext cx="3108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Layperson framing is the hardest noise.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663440" y="406908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Patient-style wording isn't just stylistically different — it shifts what the model thinks is being asked. Repair models tend to preserve the lay framing, so the answer model still drifts.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8321040" y="1691640"/>
            <a:ext cx="3657600" cy="45720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8321040" y="1691640"/>
            <a:ext cx="3657600" cy="10972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8595360" y="20116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INSIGHT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8595360" y="2377440"/>
            <a:ext cx="3108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Your eval metric decides your story.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8595360" y="406908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 only BERTScore and you would conclude noise barely matters. Run G-Eval and the picture flips. Surprised us most: a metric choice is also a safety choice.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MedQuAD Robustness  •  Group 2  •  Practicum LLM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06  •  LIMITATIONS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57200" y="658368"/>
            <a:ext cx="11247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Honest about what this study cannot yet claim.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57200" y="1783080"/>
            <a:ext cx="350520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457200" y="1783080"/>
            <a:ext cx="73152" cy="2103120"/>
          </a:xfrm>
          <a:prstGeom prst="rect">
            <a:avLst/>
          </a:prstGeom>
          <a:solidFill>
            <a:srgbClr val="F76C5E"/>
          </a:solidFill>
          <a:ln cap="flat" cmpd="sng" w="12700">
            <a:solidFill>
              <a:srgbClr val="F76C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685800" y="1965960"/>
            <a:ext cx="3093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Pilot scale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85800" y="2423160"/>
            <a:ext cx="3093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Numbers are from 50 questions × 10 models. The full 1,000-question run is in progress; effect sizes may shrink or shift.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328160" y="1783080"/>
            <a:ext cx="350520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4328160" y="1783080"/>
            <a:ext cx="73152" cy="2103120"/>
          </a:xfrm>
          <a:prstGeom prst="rect">
            <a:avLst/>
          </a:prstGeom>
          <a:solidFill>
            <a:srgbClr val="F76C5E"/>
          </a:solidFill>
          <a:ln cap="flat" cmpd="sng" w="12700">
            <a:solidFill>
              <a:srgbClr val="F76C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4556760" y="1965960"/>
            <a:ext cx="3093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Single 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556760" y="2423160"/>
            <a:ext cx="3093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MedQuAD is curated NIH/NLM content. It is not representative of patient-portal messages, EHR notes, or non-English medical questions.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8199120" y="1783080"/>
            <a:ext cx="350520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8199120" y="1783080"/>
            <a:ext cx="73152" cy="2103120"/>
          </a:xfrm>
          <a:prstGeom prst="rect">
            <a:avLst/>
          </a:prstGeom>
          <a:solidFill>
            <a:srgbClr val="F76C5E"/>
          </a:solidFill>
          <a:ln cap="flat" cmpd="sng" w="12700">
            <a:solidFill>
              <a:srgbClr val="F76C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8427720" y="1965960"/>
            <a:ext cx="3093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Synthetic noise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8427720" y="2423160"/>
            <a:ext cx="3093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 use LLM-generated noisy variants. Real user noise is messier, more correlated across categories, and includes images/voice.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57200" y="4160520"/>
            <a:ext cx="350520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457200" y="4160520"/>
            <a:ext cx="73152" cy="2103120"/>
          </a:xfrm>
          <a:prstGeom prst="rect">
            <a:avLst/>
          </a:prstGeom>
          <a:solidFill>
            <a:srgbClr val="F76C5E"/>
          </a:solidFill>
          <a:ln cap="flat" cmpd="sng" w="12700">
            <a:solidFill>
              <a:srgbClr val="F76C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685800" y="4343400"/>
            <a:ext cx="3093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Judge bias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685800" y="4800600"/>
            <a:ext cx="3093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G-Eval uses GPT-5.4-mini as judge. The same family generates noise and repairs — risk of stylistic preference toward its own outputs.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328160" y="4160520"/>
            <a:ext cx="350520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4328160" y="4160520"/>
            <a:ext cx="73152" cy="2103120"/>
          </a:xfrm>
          <a:prstGeom prst="rect">
            <a:avLst/>
          </a:prstGeom>
          <a:solidFill>
            <a:srgbClr val="F76C5E"/>
          </a:solidFill>
          <a:ln cap="flat" cmpd="sng" w="12700">
            <a:solidFill>
              <a:srgbClr val="F76C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4556760" y="4343400"/>
            <a:ext cx="3093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No clinical safety scoring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556760" y="4800600"/>
            <a:ext cx="3093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 measure answer quality, not clinical harm. A “mostly correct” answer can still be dangerous in a medical setting.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8199120" y="4160520"/>
            <a:ext cx="350520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8199120" y="4160520"/>
            <a:ext cx="73152" cy="2103120"/>
          </a:xfrm>
          <a:prstGeom prst="rect">
            <a:avLst/>
          </a:prstGeom>
          <a:solidFill>
            <a:srgbClr val="F76C5E"/>
          </a:solidFill>
          <a:ln cap="flat" cmpd="sng" w="12700">
            <a:solidFill>
              <a:srgbClr val="F76C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8427720" y="4343400"/>
            <a:ext cx="3093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Single repair prompt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8427720" y="4800600"/>
            <a:ext cx="3093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repair prompt template. Performance ceiling for repair is unknown — better prompts or task-specific repair could move results.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MedQuAD Robustness  •  Group 2  •  Practicum LLM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07  •  FINAL TAKEAWAYS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57200" y="658368"/>
            <a:ext cx="11247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What we want you to remember.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457200" y="1737360"/>
            <a:ext cx="11247120" cy="1371600"/>
          </a:xfrm>
          <a:prstGeom prst="rect">
            <a:avLst/>
          </a:prstGeom>
          <a:solidFill>
            <a:srgbClr val="0F2A3F"/>
          </a:solidFill>
          <a:ln cap="flat" cmpd="sng" w="12700">
            <a:solidFill>
              <a:srgbClr val="0F2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731520" y="178308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Prompt repair is useful — but bounded.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731520" y="246888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It buys you back surface-level noise. It does not buy you back missing clinical meaning, and it cannot rescue a model from a misleading layperson framing.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57200" y="3383280"/>
            <a:ext cx="3657600" cy="28346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731520" y="356616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731520" y="42976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Robustness ≠ accuracy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731520" y="484632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clean-input score tells you nothing about how a medical LLM behaves with a real, messy patient.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4389120" y="3383280"/>
            <a:ext cx="3657600" cy="28346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4663440" y="356616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663440" y="42976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Eval choice is a safety choice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4663440" y="484632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Surface metrics underreport failures. Pair semantic / judge-based eval with human review for medical QA.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8321040" y="3383280"/>
            <a:ext cx="3657600" cy="28346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8595360" y="356616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8595360" y="42976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Don't oversell repair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8595360" y="484632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Repair helps, but presenting it as a fix-all overstates the case — especially for layperson and incomplete inputs.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MedQuAD Robustness  •  Group 2  •  Practicum LLM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08  • 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457200" y="658368"/>
            <a:ext cx="11247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What we'd do with more time.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457200" y="1783080"/>
            <a:ext cx="2606040" cy="457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457200" y="1783080"/>
            <a:ext cx="2606040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685800" y="19476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685800" y="265176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Finish 1,000-Q run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685800" y="3840480"/>
            <a:ext cx="2148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Scale the pilot from 50 → 1,000 MedQuAD questions across all 10 models, with bootstrapped CIs.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3337560" y="1783080"/>
            <a:ext cx="2606040" cy="457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3337560" y="1783080"/>
            <a:ext cx="2606040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3566160" y="19476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3566160" y="265176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Better repair prompts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3566160" y="3840480"/>
            <a:ext cx="2148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medically-grounded repair templates and few-shot variants; measure recovery ceiling per noise type.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6217920" y="1783080"/>
            <a:ext cx="2606040" cy="457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6217920" y="1783080"/>
            <a:ext cx="2606040" cy="59436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6446520" y="19476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6446520" y="265176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Realistic noise sources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6446520" y="3840480"/>
            <a:ext cx="2148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Move from synthetic noise to anonymized patient-portal messages; check whether trends survive real users.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9098280" y="1783080"/>
            <a:ext cx="2606040" cy="457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9098280" y="1783080"/>
            <a:ext cx="2606040" cy="59436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9326880" y="19476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9326880" y="265176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Clinical safety eval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9326880" y="3840480"/>
            <a:ext cx="2148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a harm-tier rubric (e.g., misleading vs dangerous vs life-threatening) reviewed by a clinician.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MedQuAD Robustness  •  Group 2  •  Practicum LLM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A3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0" y="0"/>
            <a:ext cx="457200" cy="22860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>
            <a:off x="1097280" y="21945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eorgia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you.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1097280" y="35661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Georgia"/>
              <a:buNone/>
            </a:pPr>
            <a:r>
              <a:rPr b="0" i="1" lang="en-US" sz="20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Questions, pushback, and especially counter-evidence welcome.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1097280" y="57607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2  •  Practicum in LLM Evaluation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MedQuAD Robustness — Final Presentation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