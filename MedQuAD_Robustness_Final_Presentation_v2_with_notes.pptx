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48"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Li" userId="cf1f55cc47d0a442" providerId="LiveId" clId="{45806EC9-31E0-4934-BC3B-47E31944A0AE}"/>
    <pc:docChg chg="undo custSel modSld">
      <pc:chgData name="Michael Li" userId="cf1f55cc47d0a442" providerId="LiveId" clId="{45806EC9-31E0-4934-BC3B-47E31944A0AE}" dt="2026-04-28T04:13:40.857" v="15" actId="14100"/>
      <pc:docMkLst>
        <pc:docMk/>
      </pc:docMkLst>
      <pc:sldChg chg="modSp mod">
        <pc:chgData name="Michael Li" userId="cf1f55cc47d0a442" providerId="LiveId" clId="{45806EC9-31E0-4934-BC3B-47E31944A0AE}" dt="2026-04-28T04:10:02.419" v="3" actId="1076"/>
        <pc:sldMkLst>
          <pc:docMk/>
          <pc:sldMk cId="0" sldId="262"/>
        </pc:sldMkLst>
        <pc:spChg chg="mod">
          <ac:chgData name="Michael Li" userId="cf1f55cc47d0a442" providerId="LiveId" clId="{45806EC9-31E0-4934-BC3B-47E31944A0AE}" dt="2026-04-28T04:10:02.419" v="3" actId="1076"/>
          <ac:spMkLst>
            <pc:docMk/>
            <pc:sldMk cId="0" sldId="262"/>
            <ac:spMk id="27" creationId="{00000000-0000-0000-0000-000000000000}"/>
          </ac:spMkLst>
        </pc:spChg>
      </pc:sldChg>
      <pc:sldChg chg="modSp mod">
        <pc:chgData name="Michael Li" userId="cf1f55cc47d0a442" providerId="LiveId" clId="{45806EC9-31E0-4934-BC3B-47E31944A0AE}" dt="2026-04-28T02:52:13.342" v="0" actId="1076"/>
        <pc:sldMkLst>
          <pc:docMk/>
          <pc:sldMk cId="0" sldId="263"/>
        </pc:sldMkLst>
        <pc:spChg chg="mod">
          <ac:chgData name="Michael Li" userId="cf1f55cc47d0a442" providerId="LiveId" clId="{45806EC9-31E0-4934-BC3B-47E31944A0AE}" dt="2026-04-28T02:52:13.342" v="0" actId="1076"/>
          <ac:spMkLst>
            <pc:docMk/>
            <pc:sldMk cId="0" sldId="263"/>
            <ac:spMk id="4" creationId="{00000000-0000-0000-0000-000000000000}"/>
          </ac:spMkLst>
        </pc:spChg>
      </pc:sldChg>
      <pc:sldChg chg="addSp delSp mod">
        <pc:chgData name="Michael Li" userId="cf1f55cc47d0a442" providerId="LiveId" clId="{45806EC9-31E0-4934-BC3B-47E31944A0AE}" dt="2026-04-28T04:13:23.984" v="11" actId="478"/>
        <pc:sldMkLst>
          <pc:docMk/>
          <pc:sldMk cId="0" sldId="265"/>
        </pc:sldMkLst>
        <pc:spChg chg="add del">
          <ac:chgData name="Michael Li" userId="cf1f55cc47d0a442" providerId="LiveId" clId="{45806EC9-31E0-4934-BC3B-47E31944A0AE}" dt="2026-04-28T04:13:23.984" v="11" actId="478"/>
          <ac:spMkLst>
            <pc:docMk/>
            <pc:sldMk cId="0" sldId="265"/>
            <ac:spMk id="9" creationId="{00000000-0000-0000-0000-000000000000}"/>
          </ac:spMkLst>
        </pc:spChg>
      </pc:sldChg>
      <pc:sldChg chg="modSp mod">
        <pc:chgData name="Michael Li" userId="cf1f55cc47d0a442" providerId="LiveId" clId="{45806EC9-31E0-4934-BC3B-47E31944A0AE}" dt="2026-04-28T04:13:40.857" v="15" actId="14100"/>
        <pc:sldMkLst>
          <pc:docMk/>
          <pc:sldMk cId="0" sldId="273"/>
        </pc:sldMkLst>
        <pc:spChg chg="mod">
          <ac:chgData name="Michael Li" userId="cf1f55cc47d0a442" providerId="LiveId" clId="{45806EC9-31E0-4934-BC3B-47E31944A0AE}" dt="2026-04-28T04:13:40.857" v="15" actId="14100"/>
          <ac:spMkLst>
            <pc:docMk/>
            <pc:sldMk cId="0" sldId="273"/>
            <ac:spMk id="14" creationId="{00000000-0000-0000-0000-000000000000}"/>
          </ac:spMkLst>
        </pc:spChg>
        <pc:spChg chg="mod">
          <ac:chgData name="Michael Li" userId="cf1f55cc47d0a442" providerId="LiveId" clId="{45806EC9-31E0-4934-BC3B-47E31944A0AE}" dt="2026-04-28T04:13:37.849" v="14" actId="14100"/>
          <ac:spMkLst>
            <pc:docMk/>
            <pc:sldMk cId="0" sldId="273"/>
            <ac:spMk id="17" creationId="{00000000-0000-0000-0000-000000000000}"/>
          </ac:spMkLst>
        </pc:spChg>
        <pc:spChg chg="mod">
          <ac:chgData name="Michael Li" userId="cf1f55cc47d0a442" providerId="LiveId" clId="{45806EC9-31E0-4934-BC3B-47E31944A0AE}" dt="2026-04-28T04:13:33.599" v="13" actId="255"/>
          <ac:spMkLst>
            <pc:docMk/>
            <pc:sldMk cId="0" sldId="273"/>
            <ac:spMk id="19"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Clean</c:v>
                </c:pt>
              </c:strCache>
            </c:strRef>
          </c:tx>
          <c:spPr>
            <a:solidFill>
              <a:srgbClr val="127C7A"/>
            </a:solidFill>
            <a:ln>
              <a:noFill/>
            </a:ln>
            <a:effectLst/>
          </c:spPr>
          <c:invertIfNegative val="0"/>
          <c:cat>
            <c:strRef>
              <c:f>Sheet1!$A$2:$A$3</c:f>
              <c:strCache>
                <c:ptCount val="2"/>
                <c:pt idx="0">
                  <c:v>fixed_repair</c:v>
                </c:pt>
                <c:pt idx="1">
                  <c:v>self_repair</c:v>
                </c:pt>
              </c:strCache>
            </c:strRef>
          </c:cat>
          <c:val>
            <c:numRef>
              <c:f>Sheet1!$B$2:$B$3</c:f>
              <c:numCache>
                <c:formatCode>General</c:formatCode>
                <c:ptCount val="2"/>
                <c:pt idx="0">
                  <c:v>3.7272727272727271</c:v>
                </c:pt>
                <c:pt idx="1">
                  <c:v>3.7272727272727271</c:v>
                </c:pt>
              </c:numCache>
            </c:numRef>
          </c:val>
          <c:extLst>
            <c:ext xmlns:c16="http://schemas.microsoft.com/office/drawing/2014/chart" uri="{C3380CC4-5D6E-409C-BE32-E72D297353CC}">
              <c16:uniqueId val="{00000000-BB29-46C3-9600-710EA9EE5BC7}"/>
            </c:ext>
          </c:extLst>
        </c:ser>
        <c:ser>
          <c:idx val="1"/>
          <c:order val="1"/>
          <c:tx>
            <c:strRef>
              <c:f>Sheet1!$C$1</c:f>
              <c:strCache>
                <c:ptCount val="1"/>
                <c:pt idx="0">
                  <c:v>Noisy</c:v>
                </c:pt>
              </c:strCache>
            </c:strRef>
          </c:tx>
          <c:spPr>
            <a:solidFill>
              <a:srgbClr val="52616B"/>
            </a:solidFill>
            <a:ln>
              <a:noFill/>
            </a:ln>
            <a:effectLst/>
          </c:spPr>
          <c:invertIfNegative val="0"/>
          <c:cat>
            <c:strRef>
              <c:f>Sheet1!$A$2:$A$3</c:f>
              <c:strCache>
                <c:ptCount val="2"/>
                <c:pt idx="0">
                  <c:v>fixed_repair</c:v>
                </c:pt>
                <c:pt idx="1">
                  <c:v>self_repair</c:v>
                </c:pt>
              </c:strCache>
            </c:strRef>
          </c:cat>
          <c:val>
            <c:numRef>
              <c:f>Sheet1!$C$2:$C$3</c:f>
              <c:numCache>
                <c:formatCode>General</c:formatCode>
                <c:ptCount val="2"/>
                <c:pt idx="0">
                  <c:v>3.4727272727272727</c:v>
                </c:pt>
                <c:pt idx="1">
                  <c:v>3.4727272727272727</c:v>
                </c:pt>
              </c:numCache>
            </c:numRef>
          </c:val>
          <c:extLst>
            <c:ext xmlns:c16="http://schemas.microsoft.com/office/drawing/2014/chart" uri="{C3380CC4-5D6E-409C-BE32-E72D297353CC}">
              <c16:uniqueId val="{00000001-BB29-46C3-9600-710EA9EE5BC7}"/>
            </c:ext>
          </c:extLst>
        </c:ser>
        <c:ser>
          <c:idx val="2"/>
          <c:order val="2"/>
          <c:tx>
            <c:strRef>
              <c:f>Sheet1!$D$1</c:f>
              <c:strCache>
                <c:ptCount val="1"/>
                <c:pt idx="0">
                  <c:v>Repaired</c:v>
                </c:pt>
              </c:strCache>
            </c:strRef>
          </c:tx>
          <c:spPr>
            <a:solidFill>
              <a:srgbClr val="E0A13A"/>
            </a:solidFill>
            <a:ln>
              <a:noFill/>
            </a:ln>
            <a:effectLst/>
          </c:spPr>
          <c:invertIfNegative val="0"/>
          <c:cat>
            <c:strRef>
              <c:f>Sheet1!$A$2:$A$3</c:f>
              <c:strCache>
                <c:ptCount val="2"/>
                <c:pt idx="0">
                  <c:v>fixed_repair</c:v>
                </c:pt>
                <c:pt idx="1">
                  <c:v>self_repair</c:v>
                </c:pt>
              </c:strCache>
            </c:strRef>
          </c:cat>
          <c:val>
            <c:numRef>
              <c:f>Sheet1!$D$2:$D$3</c:f>
              <c:numCache>
                <c:formatCode>General</c:formatCode>
                <c:ptCount val="2"/>
                <c:pt idx="0">
                  <c:v>3.3527272727272726</c:v>
                </c:pt>
                <c:pt idx="1">
                  <c:v>3.4090909090909092</c:v>
                </c:pt>
              </c:numCache>
            </c:numRef>
          </c:val>
          <c:extLst>
            <c:ext xmlns:c16="http://schemas.microsoft.com/office/drawing/2014/chart" uri="{C3380CC4-5D6E-409C-BE32-E72D297353CC}">
              <c16:uniqueId val="{00000002-BB29-46C3-9600-710EA9EE5BC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5323D"/>
                </a:solidFill>
                <a:latin typeface="Aptos"/>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6350" cap="flat">
              <a:solidFill>
                <a:srgbClr val="DCE9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5323D"/>
                </a:solidFill>
                <a:latin typeface="Aptos"/>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fixed_repair</c:v>
                </c:pt>
              </c:strCache>
            </c:strRef>
          </c:tx>
          <c:spPr>
            <a:solidFill>
              <a:srgbClr val="127C7A"/>
            </a:solidFill>
            <a:ln>
              <a:noFill/>
            </a:ln>
          </c:spPr>
          <c:invertIfNegative val="0"/>
          <c:dPt>
            <c:idx val="0"/>
            <c:invertIfNegative val="0"/>
            <c:bubble3D val="0"/>
            <c:spPr>
              <a:solidFill>
                <a:srgbClr val="C94C4C"/>
              </a:solidFill>
              <a:ln>
                <a:noFill/>
              </a:ln>
            </c:spPr>
            <c:extLst>
              <c:ext xmlns:c16="http://schemas.microsoft.com/office/drawing/2014/chart" uri="{C3380CC4-5D6E-409C-BE32-E72D297353CC}">
                <c16:uniqueId val="{00000001-F4F3-4FCE-A28E-6FC555EAF53B}"/>
              </c:ext>
            </c:extLst>
          </c:dPt>
          <c:dPt>
            <c:idx val="1"/>
            <c:invertIfNegative val="0"/>
            <c:bubble3D val="0"/>
            <c:spPr>
              <a:solidFill>
                <a:srgbClr val="C94C4C"/>
              </a:solidFill>
              <a:ln>
                <a:noFill/>
              </a:ln>
            </c:spPr>
            <c:extLst>
              <c:ext xmlns:c16="http://schemas.microsoft.com/office/drawing/2014/chart" uri="{C3380CC4-5D6E-409C-BE32-E72D297353CC}">
                <c16:uniqueId val="{00000003-F4F3-4FCE-A28E-6FC555EAF53B}"/>
              </c:ext>
            </c:extLst>
          </c:dPt>
          <c:dPt>
            <c:idx val="2"/>
            <c:invertIfNegative val="0"/>
            <c:bubble3D val="0"/>
            <c:spPr>
              <a:solidFill>
                <a:srgbClr val="C94C4C"/>
              </a:solidFill>
              <a:ln>
                <a:noFill/>
              </a:ln>
            </c:spPr>
            <c:extLst>
              <c:ext xmlns:c16="http://schemas.microsoft.com/office/drawing/2014/chart" uri="{C3380CC4-5D6E-409C-BE32-E72D297353CC}">
                <c16:uniqueId val="{00000005-F4F3-4FCE-A28E-6FC555EAF53B}"/>
              </c:ext>
            </c:extLst>
          </c:dPt>
          <c:dPt>
            <c:idx val="3"/>
            <c:invertIfNegative val="0"/>
            <c:bubble3D val="0"/>
            <c:spPr>
              <a:solidFill>
                <a:srgbClr val="C94C4C"/>
              </a:solidFill>
              <a:ln>
                <a:noFill/>
              </a:ln>
            </c:spPr>
            <c:extLst>
              <c:ext xmlns:c16="http://schemas.microsoft.com/office/drawing/2014/chart" uri="{C3380CC4-5D6E-409C-BE32-E72D297353CC}">
                <c16:uniqueId val="{00000007-F4F3-4FCE-A28E-6FC555EAF53B}"/>
              </c:ext>
            </c:extLst>
          </c:dPt>
          <c:dPt>
            <c:idx val="4"/>
            <c:invertIfNegative val="0"/>
            <c:bubble3D val="0"/>
            <c:spPr>
              <a:solidFill>
                <a:srgbClr val="C94C4C"/>
              </a:solidFill>
              <a:ln>
                <a:noFill/>
              </a:ln>
            </c:spPr>
            <c:extLst>
              <c:ext xmlns:c16="http://schemas.microsoft.com/office/drawing/2014/chart" uri="{C3380CC4-5D6E-409C-BE32-E72D297353CC}">
                <c16:uniqueId val="{00000009-F4F3-4FCE-A28E-6FC555EAF53B}"/>
              </c:ext>
            </c:extLst>
          </c:dPt>
          <c:dPt>
            <c:idx val="5"/>
            <c:invertIfNegative val="0"/>
            <c:bubble3D val="0"/>
            <c:spPr>
              <a:solidFill>
                <a:srgbClr val="C94C4C"/>
              </a:solidFill>
              <a:ln>
                <a:noFill/>
              </a:ln>
            </c:spPr>
            <c:extLst>
              <c:ext xmlns:c16="http://schemas.microsoft.com/office/drawing/2014/chart" uri="{C3380CC4-5D6E-409C-BE32-E72D297353CC}">
                <c16:uniqueId val="{0000000B-F4F3-4FCE-A28E-6FC555EAF53B}"/>
              </c:ext>
            </c:extLst>
          </c:dPt>
          <c:dPt>
            <c:idx val="8"/>
            <c:invertIfNegative val="0"/>
            <c:bubble3D val="0"/>
            <c:spPr>
              <a:solidFill>
                <a:srgbClr val="C94C4C"/>
              </a:solidFill>
              <a:ln>
                <a:noFill/>
              </a:ln>
            </c:spPr>
            <c:extLst>
              <c:ext xmlns:c16="http://schemas.microsoft.com/office/drawing/2014/chart" uri="{C3380CC4-5D6E-409C-BE32-E72D297353CC}">
                <c16:uniqueId val="{0000000D-F4F3-4FCE-A28E-6FC555EAF53B}"/>
              </c:ext>
            </c:extLst>
          </c:dPt>
          <c:dPt>
            <c:idx val="9"/>
            <c:invertIfNegative val="0"/>
            <c:bubble3D val="0"/>
            <c:spPr>
              <a:solidFill>
                <a:srgbClr val="C94C4C"/>
              </a:solidFill>
              <a:ln>
                <a:noFill/>
              </a:ln>
            </c:spPr>
            <c:extLst>
              <c:ext xmlns:c16="http://schemas.microsoft.com/office/drawing/2014/chart" uri="{C3380CC4-5D6E-409C-BE32-E72D297353CC}">
                <c16:uniqueId val="{0000000F-F4F3-4FCE-A28E-6FC555EAF53B}"/>
              </c:ext>
            </c:extLst>
          </c:dPt>
          <c:cat>
            <c:strRef>
              <c:f>Sheet1!$A$2:$A$12</c:f>
              <c:strCache>
                <c:ptCount val="11"/>
                <c:pt idx="0">
                  <c:v>Phi-3 med</c:v>
                </c:pt>
                <c:pt idx="1">
                  <c:v>Gemma 4 31B</c:v>
                </c:pt>
                <c:pt idx="2">
                  <c:v>Mistral 7B</c:v>
                </c:pt>
                <c:pt idx="3">
                  <c:v>Qwen2.5 32B</c:v>
                </c:pt>
                <c:pt idx="4">
                  <c:v>Llama 3.1 8B</c:v>
                </c:pt>
                <c:pt idx="5">
                  <c:v>Qwen2.5 14B</c:v>
                </c:pt>
                <c:pt idx="6">
                  <c:v>Gemma 2 9B</c:v>
                </c:pt>
                <c:pt idx="7">
                  <c:v>BioMistral</c:v>
                </c:pt>
                <c:pt idx="8">
                  <c:v>GPT-5.4</c:v>
                </c:pt>
                <c:pt idx="9">
                  <c:v>Mixtral 8x7B</c:v>
                </c:pt>
                <c:pt idx="10">
                  <c:v>Qwen3 32B</c:v>
                </c:pt>
              </c:strCache>
            </c:strRef>
          </c:cat>
          <c:val>
            <c:numRef>
              <c:f>Sheet1!$B$2:$B$12</c:f>
              <c:numCache>
                <c:formatCode>General</c:formatCode>
                <c:ptCount val="11"/>
                <c:pt idx="0">
                  <c:v>-0.3400000000000003</c:v>
                </c:pt>
                <c:pt idx="1">
                  <c:v>-0.33999999999999986</c:v>
                </c:pt>
                <c:pt idx="2">
                  <c:v>-0.18000000000000016</c:v>
                </c:pt>
                <c:pt idx="3">
                  <c:v>-0.16000000000000014</c:v>
                </c:pt>
                <c:pt idx="4">
                  <c:v>-0.13999999999999968</c:v>
                </c:pt>
                <c:pt idx="5">
                  <c:v>-0.11999999999999966</c:v>
                </c:pt>
                <c:pt idx="6">
                  <c:v>0</c:v>
                </c:pt>
                <c:pt idx="7">
                  <c:v>2.0000000000000018E-2</c:v>
                </c:pt>
                <c:pt idx="8">
                  <c:v>-8.0000000000000071E-2</c:v>
                </c:pt>
                <c:pt idx="9">
                  <c:v>-0.33999999999999986</c:v>
                </c:pt>
                <c:pt idx="10">
                  <c:v>0.35999999999999988</c:v>
                </c:pt>
              </c:numCache>
            </c:numRef>
          </c:val>
          <c:extLst>
            <c:ext xmlns:c16="http://schemas.microsoft.com/office/drawing/2014/chart" uri="{C3380CC4-5D6E-409C-BE32-E72D297353CC}">
              <c16:uniqueId val="{00000010-F4F3-4FCE-A28E-6FC555EAF53B}"/>
            </c:ext>
          </c:extLst>
        </c:ser>
        <c:ser>
          <c:idx val="1"/>
          <c:order val="1"/>
          <c:tx>
            <c:strRef>
              <c:f>Sheet1!$C$1</c:f>
              <c:strCache>
                <c:ptCount val="1"/>
                <c:pt idx="0">
                  <c:v>self_repair</c:v>
                </c:pt>
              </c:strCache>
            </c:strRef>
          </c:tx>
          <c:spPr>
            <a:solidFill>
              <a:srgbClr val="E0A13A"/>
            </a:solidFill>
            <a:ln>
              <a:noFill/>
            </a:ln>
          </c:spPr>
          <c:invertIfNegative val="0"/>
          <c:dPt>
            <c:idx val="0"/>
            <c:invertIfNegative val="0"/>
            <c:bubble3D val="0"/>
            <c:spPr>
              <a:solidFill>
                <a:srgbClr val="C94C4C"/>
              </a:solidFill>
              <a:ln>
                <a:noFill/>
              </a:ln>
            </c:spPr>
            <c:extLst>
              <c:ext xmlns:c16="http://schemas.microsoft.com/office/drawing/2014/chart" uri="{C3380CC4-5D6E-409C-BE32-E72D297353CC}">
                <c16:uniqueId val="{00000012-F4F3-4FCE-A28E-6FC555EAF53B}"/>
              </c:ext>
            </c:extLst>
          </c:dPt>
          <c:dPt>
            <c:idx val="1"/>
            <c:invertIfNegative val="0"/>
            <c:bubble3D val="0"/>
            <c:spPr>
              <a:solidFill>
                <a:srgbClr val="C94C4C"/>
              </a:solidFill>
              <a:ln>
                <a:noFill/>
              </a:ln>
            </c:spPr>
            <c:extLst>
              <c:ext xmlns:c16="http://schemas.microsoft.com/office/drawing/2014/chart" uri="{C3380CC4-5D6E-409C-BE32-E72D297353CC}">
                <c16:uniqueId val="{00000014-F4F3-4FCE-A28E-6FC555EAF53B}"/>
              </c:ext>
            </c:extLst>
          </c:dPt>
          <c:dPt>
            <c:idx val="2"/>
            <c:invertIfNegative val="0"/>
            <c:bubble3D val="0"/>
            <c:spPr>
              <a:solidFill>
                <a:srgbClr val="C94C4C"/>
              </a:solidFill>
              <a:ln>
                <a:noFill/>
              </a:ln>
            </c:spPr>
            <c:extLst>
              <c:ext xmlns:c16="http://schemas.microsoft.com/office/drawing/2014/chart" uri="{C3380CC4-5D6E-409C-BE32-E72D297353CC}">
                <c16:uniqueId val="{00000016-F4F3-4FCE-A28E-6FC555EAF53B}"/>
              </c:ext>
            </c:extLst>
          </c:dPt>
          <c:dPt>
            <c:idx val="3"/>
            <c:invertIfNegative val="0"/>
            <c:bubble3D val="0"/>
            <c:spPr>
              <a:solidFill>
                <a:srgbClr val="C94C4C"/>
              </a:solidFill>
              <a:ln>
                <a:noFill/>
              </a:ln>
            </c:spPr>
            <c:extLst>
              <c:ext xmlns:c16="http://schemas.microsoft.com/office/drawing/2014/chart" uri="{C3380CC4-5D6E-409C-BE32-E72D297353CC}">
                <c16:uniqueId val="{00000018-F4F3-4FCE-A28E-6FC555EAF53B}"/>
              </c:ext>
            </c:extLst>
          </c:dPt>
          <c:dPt>
            <c:idx val="4"/>
            <c:invertIfNegative val="0"/>
            <c:bubble3D val="0"/>
            <c:spPr>
              <a:solidFill>
                <a:srgbClr val="C94C4C"/>
              </a:solidFill>
              <a:ln>
                <a:noFill/>
              </a:ln>
            </c:spPr>
            <c:extLst>
              <c:ext xmlns:c16="http://schemas.microsoft.com/office/drawing/2014/chart" uri="{C3380CC4-5D6E-409C-BE32-E72D297353CC}">
                <c16:uniqueId val="{0000001A-F4F3-4FCE-A28E-6FC555EAF53B}"/>
              </c:ext>
            </c:extLst>
          </c:dPt>
          <c:dPt>
            <c:idx val="5"/>
            <c:invertIfNegative val="0"/>
            <c:bubble3D val="0"/>
            <c:spPr>
              <a:solidFill>
                <a:srgbClr val="C94C4C"/>
              </a:solidFill>
              <a:ln>
                <a:noFill/>
              </a:ln>
            </c:spPr>
            <c:extLst>
              <c:ext xmlns:c16="http://schemas.microsoft.com/office/drawing/2014/chart" uri="{C3380CC4-5D6E-409C-BE32-E72D297353CC}">
                <c16:uniqueId val="{0000001C-F4F3-4FCE-A28E-6FC555EAF53B}"/>
              </c:ext>
            </c:extLst>
          </c:dPt>
          <c:dPt>
            <c:idx val="6"/>
            <c:invertIfNegative val="0"/>
            <c:bubble3D val="0"/>
            <c:spPr>
              <a:solidFill>
                <a:srgbClr val="C94C4C"/>
              </a:solidFill>
              <a:ln>
                <a:noFill/>
              </a:ln>
            </c:spPr>
            <c:extLst>
              <c:ext xmlns:c16="http://schemas.microsoft.com/office/drawing/2014/chart" uri="{C3380CC4-5D6E-409C-BE32-E72D297353CC}">
                <c16:uniqueId val="{0000001E-F4F3-4FCE-A28E-6FC555EAF53B}"/>
              </c:ext>
            </c:extLst>
          </c:dPt>
          <c:dPt>
            <c:idx val="7"/>
            <c:invertIfNegative val="0"/>
            <c:bubble3D val="0"/>
            <c:spPr>
              <a:solidFill>
                <a:srgbClr val="C94C4C"/>
              </a:solidFill>
              <a:ln>
                <a:noFill/>
              </a:ln>
            </c:spPr>
            <c:extLst>
              <c:ext xmlns:c16="http://schemas.microsoft.com/office/drawing/2014/chart" uri="{C3380CC4-5D6E-409C-BE32-E72D297353CC}">
                <c16:uniqueId val="{00000020-F4F3-4FCE-A28E-6FC555EAF53B}"/>
              </c:ext>
            </c:extLst>
          </c:dPt>
          <c:dPt>
            <c:idx val="8"/>
            <c:invertIfNegative val="0"/>
            <c:bubble3D val="0"/>
            <c:spPr>
              <a:solidFill>
                <a:srgbClr val="C94C4C"/>
              </a:solidFill>
              <a:ln>
                <a:noFill/>
              </a:ln>
            </c:spPr>
            <c:extLst>
              <c:ext xmlns:c16="http://schemas.microsoft.com/office/drawing/2014/chart" uri="{C3380CC4-5D6E-409C-BE32-E72D297353CC}">
                <c16:uniqueId val="{00000022-F4F3-4FCE-A28E-6FC555EAF53B}"/>
              </c:ext>
            </c:extLst>
          </c:dPt>
          <c:cat>
            <c:strRef>
              <c:f>Sheet1!$A$2:$A$12</c:f>
              <c:strCache>
                <c:ptCount val="11"/>
                <c:pt idx="0">
                  <c:v>Phi-3 med</c:v>
                </c:pt>
                <c:pt idx="1">
                  <c:v>Gemma 4 31B</c:v>
                </c:pt>
                <c:pt idx="2">
                  <c:v>Mistral 7B</c:v>
                </c:pt>
                <c:pt idx="3">
                  <c:v>Qwen2.5 32B</c:v>
                </c:pt>
                <c:pt idx="4">
                  <c:v>Llama 3.1 8B</c:v>
                </c:pt>
                <c:pt idx="5">
                  <c:v>Qwen2.5 14B</c:v>
                </c:pt>
                <c:pt idx="6">
                  <c:v>Gemma 2 9B</c:v>
                </c:pt>
                <c:pt idx="7">
                  <c:v>BioMistral</c:v>
                </c:pt>
                <c:pt idx="8">
                  <c:v>GPT-5.4</c:v>
                </c:pt>
                <c:pt idx="9">
                  <c:v>Mixtral 8x7B</c:v>
                </c:pt>
                <c:pt idx="10">
                  <c:v>Qwen3 32B</c:v>
                </c:pt>
              </c:strCache>
            </c:strRef>
          </c:cat>
          <c:val>
            <c:numRef>
              <c:f>Sheet1!$C$2:$C$12</c:f>
              <c:numCache>
                <c:formatCode>General</c:formatCode>
                <c:ptCount val="11"/>
                <c:pt idx="0">
                  <c:v>-0.56000000000000005</c:v>
                </c:pt>
                <c:pt idx="1">
                  <c:v>-0.52</c:v>
                </c:pt>
                <c:pt idx="2">
                  <c:v>-0.48</c:v>
                </c:pt>
                <c:pt idx="3">
                  <c:v>-0.31999999999999984</c:v>
                </c:pt>
                <c:pt idx="4">
                  <c:v>-0.23999999999999977</c:v>
                </c:pt>
                <c:pt idx="5">
                  <c:v>-0.23999999999999977</c:v>
                </c:pt>
                <c:pt idx="6">
                  <c:v>-0.20000000000000018</c:v>
                </c:pt>
                <c:pt idx="7">
                  <c:v>-0.10000000000000009</c:v>
                </c:pt>
                <c:pt idx="8">
                  <c:v>-2.0000000000000018E-2</c:v>
                </c:pt>
                <c:pt idx="9">
                  <c:v>0.6599999999999997</c:v>
                </c:pt>
                <c:pt idx="10">
                  <c:v>1.3200000000000003</c:v>
                </c:pt>
              </c:numCache>
            </c:numRef>
          </c:val>
          <c:extLst>
            <c:ext xmlns:c16="http://schemas.microsoft.com/office/drawing/2014/chart" uri="{C3380CC4-5D6E-409C-BE32-E72D297353CC}">
              <c16:uniqueId val="{00000023-F4F3-4FCE-A28E-6FC555EAF53B}"/>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100">
                <a:solidFill>
                  <a:srgbClr val="25323D"/>
                </a:solidFill>
              </a:defRPr>
            </a:pPr>
            <a:endParaRPr lang="en-US"/>
          </a:p>
        </c:txPr>
        <c:crossAx val="-2113994440"/>
        <c:crosses val="autoZero"/>
        <c:auto val="1"/>
        <c:lblAlgn val="ctr"/>
        <c:lblOffset val="100"/>
        <c:noMultiLvlLbl val="0"/>
      </c:catAx>
      <c:valAx>
        <c:axId val="-2113994440"/>
        <c:scaling>
          <c:orientation val="minMax"/>
        </c:scaling>
        <c:delete val="0"/>
        <c:axPos val="b"/>
        <c:majorGridlines>
          <c:spPr>
            <a:ln w="6350">
              <a:solidFill>
                <a:srgbClr val="DCE9ED"/>
              </a:solidFill>
            </a:ln>
          </c:spPr>
        </c:majorGridlines>
        <c:numFmt formatCode="General" sourceLinked="1"/>
        <c:majorTickMark val="out"/>
        <c:minorTickMark val="none"/>
        <c:tickLblPos val="nextTo"/>
        <c:txPr>
          <a:bodyPr/>
          <a:lstStyle/>
          <a:p>
            <a:pPr>
              <a:defRPr sz="1100">
                <a:solidFill>
                  <a:srgbClr val="25323D"/>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fixed_repair</c:v>
                </c:pt>
              </c:strCache>
            </c:strRef>
          </c:tx>
          <c:spPr>
            <a:solidFill>
              <a:srgbClr val="127C7A"/>
            </a:solidFill>
            <a:ln>
              <a:noFill/>
            </a:ln>
          </c:spPr>
          <c:invertIfNegative val="0"/>
          <c:dPt>
            <c:idx val="0"/>
            <c:invertIfNegative val="0"/>
            <c:bubble3D val="0"/>
            <c:spPr>
              <a:solidFill>
                <a:srgbClr val="C94C4C"/>
              </a:solidFill>
              <a:ln>
                <a:noFill/>
              </a:ln>
            </c:spPr>
            <c:extLst>
              <c:ext xmlns:c16="http://schemas.microsoft.com/office/drawing/2014/chart" uri="{C3380CC4-5D6E-409C-BE32-E72D297353CC}">
                <c16:uniqueId val="{00000001-614A-4E1E-9689-835FF2CE7676}"/>
              </c:ext>
            </c:extLst>
          </c:dPt>
          <c:dPt>
            <c:idx val="1"/>
            <c:invertIfNegative val="0"/>
            <c:bubble3D val="0"/>
            <c:spPr>
              <a:solidFill>
                <a:srgbClr val="C94C4C"/>
              </a:solidFill>
              <a:ln>
                <a:noFill/>
              </a:ln>
            </c:spPr>
            <c:extLst>
              <c:ext xmlns:c16="http://schemas.microsoft.com/office/drawing/2014/chart" uri="{C3380CC4-5D6E-409C-BE32-E72D297353CC}">
                <c16:uniqueId val="{00000003-614A-4E1E-9689-835FF2CE7676}"/>
              </c:ext>
            </c:extLst>
          </c:dPt>
          <c:dPt>
            <c:idx val="3"/>
            <c:invertIfNegative val="0"/>
            <c:bubble3D val="0"/>
            <c:spPr>
              <a:solidFill>
                <a:srgbClr val="C94C4C"/>
              </a:solidFill>
              <a:ln>
                <a:noFill/>
              </a:ln>
            </c:spPr>
            <c:extLst>
              <c:ext xmlns:c16="http://schemas.microsoft.com/office/drawing/2014/chart" uri="{C3380CC4-5D6E-409C-BE32-E72D297353CC}">
                <c16:uniqueId val="{00000005-614A-4E1E-9689-835FF2CE7676}"/>
              </c:ext>
            </c:extLst>
          </c:dPt>
          <c:dPt>
            <c:idx val="4"/>
            <c:invertIfNegative val="0"/>
            <c:bubble3D val="0"/>
            <c:spPr>
              <a:solidFill>
                <a:srgbClr val="C94C4C"/>
              </a:solidFill>
              <a:ln>
                <a:noFill/>
              </a:ln>
            </c:spPr>
            <c:extLst>
              <c:ext xmlns:c16="http://schemas.microsoft.com/office/drawing/2014/chart" uri="{C3380CC4-5D6E-409C-BE32-E72D297353CC}">
                <c16:uniqueId val="{00000007-614A-4E1E-9689-835FF2CE7676}"/>
              </c:ext>
            </c:extLst>
          </c:dPt>
          <c:cat>
            <c:strRef>
              <c:f>Sheet1!$A$2:$A$6</c:f>
              <c:strCache>
                <c:ptCount val="5"/>
                <c:pt idx="0">
                  <c:v>layperson</c:v>
                </c:pt>
                <c:pt idx="1">
                  <c:v>overgeneralization</c:v>
                </c:pt>
                <c:pt idx="2">
                  <c:v>ambiguity</c:v>
                </c:pt>
                <c:pt idx="3">
                  <c:v>incomplete</c:v>
                </c:pt>
                <c:pt idx="4">
                  <c:v>typos grammar</c:v>
                </c:pt>
              </c:strCache>
            </c:strRef>
          </c:cat>
          <c:val>
            <c:numRef>
              <c:f>Sheet1!$B$2:$B$6</c:f>
              <c:numCache>
                <c:formatCode>General</c:formatCode>
                <c:ptCount val="5"/>
                <c:pt idx="0">
                  <c:v>-0.19090909090909092</c:v>
                </c:pt>
                <c:pt idx="1">
                  <c:v>-0.23636363636363636</c:v>
                </c:pt>
                <c:pt idx="2">
                  <c:v>6.363636363636363E-2</c:v>
                </c:pt>
                <c:pt idx="3">
                  <c:v>-1.8181818181818181E-2</c:v>
                </c:pt>
                <c:pt idx="4">
                  <c:v>-0.21818181818181817</c:v>
                </c:pt>
              </c:numCache>
            </c:numRef>
          </c:val>
          <c:extLst>
            <c:ext xmlns:c16="http://schemas.microsoft.com/office/drawing/2014/chart" uri="{C3380CC4-5D6E-409C-BE32-E72D297353CC}">
              <c16:uniqueId val="{00000008-614A-4E1E-9689-835FF2CE7676}"/>
            </c:ext>
          </c:extLst>
        </c:ser>
        <c:ser>
          <c:idx val="1"/>
          <c:order val="1"/>
          <c:tx>
            <c:strRef>
              <c:f>Sheet1!$C$1</c:f>
              <c:strCache>
                <c:ptCount val="1"/>
                <c:pt idx="0">
                  <c:v>self_repair</c:v>
                </c:pt>
              </c:strCache>
            </c:strRef>
          </c:tx>
          <c:spPr>
            <a:solidFill>
              <a:srgbClr val="E0A13A"/>
            </a:solidFill>
            <a:ln>
              <a:noFill/>
            </a:ln>
          </c:spPr>
          <c:invertIfNegative val="0"/>
          <c:dPt>
            <c:idx val="0"/>
            <c:invertIfNegative val="0"/>
            <c:bubble3D val="0"/>
            <c:spPr>
              <a:solidFill>
                <a:srgbClr val="C94C4C"/>
              </a:solidFill>
              <a:ln>
                <a:noFill/>
              </a:ln>
            </c:spPr>
            <c:extLst>
              <c:ext xmlns:c16="http://schemas.microsoft.com/office/drawing/2014/chart" uri="{C3380CC4-5D6E-409C-BE32-E72D297353CC}">
                <c16:uniqueId val="{0000000A-614A-4E1E-9689-835FF2CE7676}"/>
              </c:ext>
            </c:extLst>
          </c:dPt>
          <c:dPt>
            <c:idx val="1"/>
            <c:invertIfNegative val="0"/>
            <c:bubble3D val="0"/>
            <c:spPr>
              <a:solidFill>
                <a:srgbClr val="C94C4C"/>
              </a:solidFill>
              <a:ln>
                <a:noFill/>
              </a:ln>
            </c:spPr>
            <c:extLst>
              <c:ext xmlns:c16="http://schemas.microsoft.com/office/drawing/2014/chart" uri="{C3380CC4-5D6E-409C-BE32-E72D297353CC}">
                <c16:uniqueId val="{0000000C-614A-4E1E-9689-835FF2CE7676}"/>
              </c:ext>
            </c:extLst>
          </c:dPt>
          <c:dPt>
            <c:idx val="2"/>
            <c:invertIfNegative val="0"/>
            <c:bubble3D val="0"/>
            <c:spPr>
              <a:solidFill>
                <a:srgbClr val="C94C4C"/>
              </a:solidFill>
              <a:ln>
                <a:noFill/>
              </a:ln>
            </c:spPr>
            <c:extLst>
              <c:ext xmlns:c16="http://schemas.microsoft.com/office/drawing/2014/chart" uri="{C3380CC4-5D6E-409C-BE32-E72D297353CC}">
                <c16:uniqueId val="{0000000E-614A-4E1E-9689-835FF2CE7676}"/>
              </c:ext>
            </c:extLst>
          </c:dPt>
          <c:cat>
            <c:strRef>
              <c:f>Sheet1!$A$2:$A$6</c:f>
              <c:strCache>
                <c:ptCount val="5"/>
                <c:pt idx="0">
                  <c:v>layperson</c:v>
                </c:pt>
                <c:pt idx="1">
                  <c:v>overgeneralization</c:v>
                </c:pt>
                <c:pt idx="2">
                  <c:v>ambiguity</c:v>
                </c:pt>
                <c:pt idx="3">
                  <c:v>incomplete</c:v>
                </c:pt>
                <c:pt idx="4">
                  <c:v>typos grammar</c:v>
                </c:pt>
              </c:strCache>
            </c:strRef>
          </c:cat>
          <c:val>
            <c:numRef>
              <c:f>Sheet1!$C$2:$C$6</c:f>
              <c:numCache>
                <c:formatCode>General</c:formatCode>
                <c:ptCount val="5"/>
                <c:pt idx="0">
                  <c:v>-0.2818181818181818</c:v>
                </c:pt>
                <c:pt idx="1">
                  <c:v>-0.1</c:v>
                </c:pt>
                <c:pt idx="2">
                  <c:v>-8.1818181818181818E-2</c:v>
                </c:pt>
                <c:pt idx="3">
                  <c:v>7.2727272727272724E-2</c:v>
                </c:pt>
                <c:pt idx="4">
                  <c:v>7.2727272727272724E-2</c:v>
                </c:pt>
              </c:numCache>
            </c:numRef>
          </c:val>
          <c:extLst>
            <c:ext xmlns:c16="http://schemas.microsoft.com/office/drawing/2014/chart" uri="{C3380CC4-5D6E-409C-BE32-E72D297353CC}">
              <c16:uniqueId val="{0000000F-614A-4E1E-9689-835FF2CE7676}"/>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100">
                <a:solidFill>
                  <a:srgbClr val="25323D"/>
                </a:solidFill>
              </a:defRPr>
            </a:pPr>
            <a:endParaRPr lang="en-US"/>
          </a:p>
        </c:txPr>
        <c:crossAx val="-2113994440"/>
        <c:crosses val="autoZero"/>
        <c:auto val="1"/>
        <c:lblAlgn val="ctr"/>
        <c:lblOffset val="100"/>
        <c:noMultiLvlLbl val="0"/>
      </c:catAx>
      <c:valAx>
        <c:axId val="-2113994440"/>
        <c:scaling>
          <c:orientation val="minMax"/>
        </c:scaling>
        <c:delete val="0"/>
        <c:axPos val="b"/>
        <c:majorGridlines>
          <c:spPr>
            <a:ln w="6350">
              <a:solidFill>
                <a:srgbClr val="DCE9ED"/>
              </a:solidFill>
            </a:ln>
          </c:spPr>
        </c:majorGridlines>
        <c:numFmt formatCode="General" sourceLinked="1"/>
        <c:majorTickMark val="out"/>
        <c:minorTickMark val="none"/>
        <c:tickLblPos val="nextTo"/>
        <c:txPr>
          <a:bodyPr/>
          <a:lstStyle/>
          <a:p>
            <a:pPr>
              <a:defRPr sz="1100">
                <a:solidFill>
                  <a:srgbClr val="25323D"/>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3446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 we're Group 2 — Medical LLM Robustness.</a:t>
            </a:r>
            <a:endParaRPr lang="en-US" dirty="0"/>
          </a:p>
          <a:p>
            <a:r>
              <a:t/>
            </a:r>
          </a:p>
          <a:p>
            <a:r>
              <a:t>We tested whether a prompt-repair step actually helps medical QA models answer messy real-user questions, or whether it just looks like it helps.</a:t>
            </a:r>
          </a:p>
          <a:p>
            <a:r>
              <a:t/>
            </a:r>
          </a:p>
          <a:p>
            <a:r>
              <a:t>This is the n=50 pilot: 11 answer models, 5 noise types, two repair pipelines (fixed_repair and self_repair). About 16 minutes of content.</a:t>
            </a:r>
          </a:p>
          <a:p>
            <a:r>
              <a:t/>
            </a:r>
          </a:p>
          <a:p>
            <a:r>
              <a:t>→ Move to the problem.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motivation is simple. Real users don't ask clean benchmark questions.</a:t>
            </a:r>
            <a:endParaRPr lang="en-US" dirty="0"/>
          </a:p>
          <a:p>
            <a:r>
              <a:t/>
            </a:r>
          </a:p>
          <a:p>
            <a:r>
              <a:t>MedQuAD is curated NIH/NLM content — careful, well-formed phrasing. Patients in the wild type at midnight: typos, vague wording, missing context, layperson terms.</a:t>
            </a:r>
          </a:p>
          <a:p>
            <a:r>
              <a:t/>
            </a:r>
          </a:p>
          <a:p>
            <a:r>
              <a:t>In healthcare that isn't just a UX problem. Vague phrasing changes which medical concepts a model retrieves, which risks it surfaces, and how confident the user feels in the response.</a:t>
            </a:r>
          </a:p>
          <a:p>
            <a:r>
              <a:t/>
            </a:r>
          </a:p>
          <a:p>
            <a:r>
              <a:t>So our research question: **Can a prompt-repair step recover the answer quality lost under noisy user input?**</a:t>
            </a:r>
          </a:p>
          <a:p>
            <a:r>
              <a:t/>
            </a:r>
          </a:p>
          <a:p>
            <a:r>
              <a:t>The numbers up top: 11 models, 50 questions per model, 5 noise types — that's the scale we're working with.</a:t>
            </a:r>
          </a:p>
          <a:p>
            <a:r>
              <a:t/>
            </a:r>
          </a:p>
          <a:p>
            <a:r>
              <a:t>→ Before methodology, let's make sure we share vocabulary.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One-sentence version: we take real medical questions, make them messy like real-user input, try to repair them, then check whether the LLM answer gets better or worse.</a:t>
            </a:r>
            <a:endParaRPr lang="en-US" dirty="0"/>
          </a:p>
          <a:p>
            <a:r>
              <a:t/>
            </a:r>
          </a:p>
          <a:p>
            <a:r>
              <a:t>The flow at the top is the pipeline: clean question → noisy version → repaired version → model answer → score vs reference.</a:t>
            </a:r>
          </a:p>
          <a:p>
            <a:r>
              <a:t/>
            </a:r>
          </a:p>
          <a:p>
            <a:r>
              <a:t>Four terms to keep in mind:</a:t>
            </a:r>
          </a:p>
          <a:p>
            <a:r>
              <a:t>• **Noise** — a controlled way of making the question harder (typo, vague phrasing, missing detail, layperson wording, overgeneralization).</a:t>
            </a:r>
          </a:p>
          <a:p>
            <a:r>
              <a:t>• **Repair** — a rewrite step that tries to make the messy question clearer WITHOUT answering it.</a:t>
            </a:r>
          </a:p>
          <a:p>
            <a:r>
              <a:t>• **Robustness** — does the model still answer well when input is messy?</a:t>
            </a:r>
          </a:p>
          <a:p>
            <a:r>
              <a:t>• **Recovery** — does repair pull the answer back toward what we'd get on the clean question?</a:t>
            </a:r>
          </a:p>
          <a:p>
            <a:r>
              <a:t/>
            </a:r>
          </a:p>
          <a:p>
            <a:r>
              <a:t>These four words cover everything in the rest of the talk.</a:t>
            </a:r>
          </a:p>
          <a:p>
            <a:r>
              <a:t/>
            </a:r>
          </a:p>
          <a:p>
            <a:r>
              <a:t>→ With shared vocabulary, here's the actual experimental design.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pipelines per question:</a:t>
            </a:r>
            <a:endParaRPr lang="en-US" dirty="0"/>
          </a:p>
          <a:p>
            <a:r>
              <a:t>• Clean → answer model → clean answer (our baseline).</a:t>
            </a:r>
          </a:p>
          <a:p>
            <a:r>
              <a:t>• Noisy → answer model → noisy answer (the degradation).</a:t>
            </a:r>
          </a:p>
          <a:p>
            <a:r>
              <a:t>• Noisy → repair → answer model → repaired answer (the recovery test).</a:t>
            </a:r>
          </a:p>
          <a:p>
            <a:r>
              <a:t/>
            </a:r>
          </a:p>
          <a:p>
            <a:r>
              <a:t>We ran this structure in two modes, on purpose, because they answer different questions.</a:t>
            </a:r>
          </a:p>
          <a:p>
            <a:r>
              <a:t/>
            </a:r>
          </a:p>
          <a:p>
            <a:r>
              <a:t>**fixed_repair**: GPT-5.4 generates ONE shared noisy set and ONE shared repaired set. All 11 models see identical inputs. Best for fairness — every model is judged on the same prompts.</a:t>
            </a:r>
          </a:p>
          <a:p>
            <a:r>
              <a:t/>
            </a:r>
          </a:p>
          <a:p>
            <a:r>
              <a:t>**self_repair**: all models see the same noisy questions, but each model repairs its own. That's closer to a deployed system where the answer model also handles repair.</a:t>
            </a:r>
          </a:p>
          <a:p>
            <a:r>
              <a:t/>
            </a:r>
          </a:p>
          <a:p>
            <a:r>
              <a:t>The two modes give us a controlled comparison and a realistic comparison.</a:t>
            </a:r>
          </a:p>
          <a:p>
            <a:r>
              <a:t/>
            </a:r>
          </a:p>
          <a:p>
            <a:r>
              <a:t>→ Here's exactly what was tested.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scale: 11 answer models × 50 questions × 5 noise types = 550 rows per mode, evenly distributed by round-robin so every model sees 10 examples of each noise type.</a:t>
            </a:r>
            <a:endParaRPr lang="en-US" dirty="0"/>
          </a:p>
          <a:p>
            <a:r>
              <a:t/>
            </a:r>
          </a:p>
          <a:p>
            <a:r>
              <a:t>Models span four families:</a:t>
            </a:r>
          </a:p>
          <a:p>
            <a:r>
              <a:t>• Closed API: GPT-5.4.</a:t>
            </a:r>
          </a:p>
          <a:p>
            <a:r>
              <a:t>• Open-weight instruction-tuned: Llama 3.1, Mistral 7B, Mixtral 8x7B, Qwen2.5 14B/32B, Qwen3 32B, Gemma 2 9B, Gemma 4 31B, Phi-3 med.</a:t>
            </a:r>
          </a:p>
          <a:p>
            <a:r>
              <a:t>• Medical-domain: BioMistral-7B.</a:t>
            </a:r>
          </a:p>
          <a:p>
            <a:r>
              <a:t>• Quantized local variants — 4-bit and Q6_K — to test whether quantization changes robustness behavior.</a:t>
            </a:r>
          </a:p>
          <a:p>
            <a:r>
              <a:t/>
            </a:r>
          </a:p>
          <a:p>
            <a:r>
              <a:t>Noise types simulate the five most common failure modes we see in real user questions: typos and grammar slips, ambiguity, layperson rewording, incomplete prompts, and overgeneralization. Noise itself is generated by GPT-5.4-mini using fixed templates.</a:t>
            </a:r>
          </a:p>
          <a:p>
            <a:r>
              <a:t/>
            </a:r>
          </a:p>
          <a:p>
            <a:r>
              <a:t>→ How we evaluate is its own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use 11 metrics across 5 families. No single metric captures medical QA robustness, so we layer them.</a:t>
            </a:r>
            <a:endParaRPr lang="en-US" dirty="0"/>
          </a:p>
          <a:p>
            <a:r>
              <a:t/>
            </a:r>
          </a:p>
          <a:p>
            <a:r>
              <a:t>• **Lexical overlap** — BLEU, chrF, ROUGE-L, Token F1, Exact Match. Each tolerant of different surface variations. Exact Match is mostly zero for free-form QA, included for completeness.</a:t>
            </a:r>
          </a:p>
          <a:p>
            <a:r>
              <a:t>• **Semantic answer** — BERTScore. Catches paraphrase that lexical metrics miss.</a:t>
            </a:r>
          </a:p>
          <a:p>
            <a:r>
              <a:t>• **Question intent** — embedding similarity between the clean question and the noisy/repaired version. Tells us whether the user's actual ask was preserved.</a:t>
            </a:r>
          </a:p>
          <a:p>
            <a:r>
              <a:t>• **Judge score** — G-Eval, where GPT-5.4-mini scores 1–5 on answer quality given question, reference, and answer.</a:t>
            </a:r>
          </a:p>
          <a:p>
            <a:r>
              <a:t>• **Medical content** — coverage, precision, and F1 of medical terms vs the reference, using a MedQuAD-derived lexicon.</a:t>
            </a:r>
          </a:p>
          <a:p>
            <a:r>
              <a:t/>
            </a:r>
          </a:p>
          <a:p>
            <a:r>
              <a:t>Don't memorize all of them — the next slide tells you which ones to actually watch.</a:t>
            </a:r>
          </a:p>
          <a:p>
            <a:r>
              <a:t/>
            </a:r>
          </a:p>
          <a:p>
            <a:r>
              <a:t>→ One reading rule before results.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the most important interpretation rule in the talk.</a:t>
            </a:r>
            <a:endParaRPr lang="en-US" dirty="0"/>
          </a:p>
          <a:p>
            <a:r>
              <a:t/>
            </a:r>
          </a:p>
          <a:p>
            <a:r>
              <a:t>**Repair can clean up the question while still hurting the answer.**</a:t>
            </a:r>
          </a:p>
          <a:p>
            <a:r>
              <a:t/>
            </a:r>
          </a:p>
          <a:p>
            <a:r>
              <a:t>Intent metrics will improve almost by definition — repair's job is to clarify the user's ask, so similarity to the clean question goes up.</a:t>
            </a:r>
          </a:p>
          <a:p>
            <a:r>
              <a:t/>
            </a:r>
          </a:p>
          <a:p>
            <a:r>
              <a:t>But a cleaner question doesn't guarantee a better answer. The model can still drop medical content, drift to a different topic, or lose specificity. We'll see all three failure modes in the evidence examples.</a:t>
            </a:r>
          </a:p>
          <a:p>
            <a:r>
              <a:t/>
            </a:r>
          </a:p>
          <a:p>
            <a:r>
              <a:t>So we never rely on one metric. We pair intent with answer quality (G-Eval) and medical content (med_coverage / med_f1). When those agree, the story is clean. When they diverge, that divergence IS the story.</a:t>
            </a:r>
          </a:p>
          <a:p>
            <a:r>
              <a:t/>
            </a:r>
          </a:p>
          <a:p>
            <a:r>
              <a:t>→ With that said — here's the headline.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headline of the n=50 pilot: repair did not systematically improve answer quality.</a:t>
            </a:r>
            <a:endParaRPr lang="en-US" dirty="0"/>
          </a:p>
          <a:p>
            <a:r>
              <a:t/>
            </a:r>
          </a:p>
          <a:p>
            <a:r>
              <a:t>Walk through the numbers: clean G-Eval averages 3.73. Noise drops it to 3.47. Repair pulls it back to **3.35 in fixed_repair** and **3.41 in self_repair** — both BELOW the noisy baseline.</a:t>
            </a:r>
          </a:p>
          <a:p>
            <a:r>
              <a:t/>
            </a:r>
          </a:p>
          <a:p>
            <a:r>
              <a:t>Read that twice. On average, repair did NOT recover what noise took away. In fixed_repair it actually made things slightly worse on average.</a:t>
            </a:r>
          </a:p>
          <a:p>
            <a:r>
              <a:t/>
            </a:r>
          </a:p>
          <a:p>
            <a:r>
              <a:t>(Pause for a beat — this is the counterintuitive moment.)</a:t>
            </a:r>
          </a:p>
          <a:p>
            <a:r>
              <a:t/>
            </a:r>
          </a:p>
          <a:p>
            <a:r>
              <a:t>Important caveat: averages mask variance. Some models recovered strongly. Some got much worse. We'll show that distribution next.</a:t>
            </a:r>
          </a:p>
          <a:p>
            <a:r>
              <a:t/>
            </a:r>
          </a:p>
          <a:p>
            <a:r>
              <a:t>And: this finding is the OPPOSITE of what intent metrics show — those improved everywhere. That gap between intent and answer quality is the actual finding.</a:t>
            </a:r>
          </a:p>
          <a:p>
            <a:r>
              <a:t/>
            </a:r>
          </a:p>
          <a:p>
            <a:r>
              <a:t>→ Let's open up the average per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Bars show repaired-minus-noisy G-Eval — positive means repair helped, negative means repair hurt. Top of the chart sorted to put the biggest self_repair winners first.</a:t>
            </a:r>
            <a:endParaRPr lang="en-US" dirty="0"/>
          </a:p>
          <a:p>
            <a:r>
              <a:t/>
            </a:r>
          </a:p>
          <a:p>
            <a:r>
              <a:t>Two clear positive outliers in self_repair:</a:t>
            </a:r>
          </a:p>
          <a:p>
            <a:r>
              <a:t>• **Qwen3 32B at +1.32** — biggest gain in the study.</a:t>
            </a:r>
          </a:p>
          <a:p>
            <a:r>
              <a:t>• **Mixtral 8x7B at +0.66**.</a:t>
            </a:r>
          </a:p>
          <a:p>
            <a:r>
              <a:t/>
            </a:r>
          </a:p>
          <a:p>
            <a:r>
              <a:t>Both of these models can rewrite their own bad input usefully. Their fixed_repair gain is much smaller, which suggests it's the SELF-rewriting capability that helps, not just having a cleaner prompt.</a:t>
            </a:r>
          </a:p>
          <a:p>
            <a:r>
              <a:t/>
            </a:r>
          </a:p>
          <a:p>
            <a:r>
              <a:t>Most other models — Phi-3 med, Gemma 4 31B, Mistral 7B, Qwen2.5, Llama, GPT-5.4 — are flat or worse after repair. Several lose 0.3 to 0.6 G-Eval points.</a:t>
            </a:r>
          </a:p>
          <a:p>
            <a:r>
              <a:t/>
            </a:r>
          </a:p>
          <a:p>
            <a:r>
              <a:t>Fixed-repair (the controlled mode) is even more conservative: only Qwen3 and BioMistral marginally improve.</a:t>
            </a:r>
          </a:p>
          <a:p>
            <a:r>
              <a:t/>
            </a:r>
          </a:p>
          <a:p>
            <a:r>
              <a:t>Takeaway: **repair effectiveness is model-specific.** It is not a free lunch you can apply across the board.</a:t>
            </a:r>
          </a:p>
          <a:p>
            <a:r>
              <a:t/>
            </a:r>
          </a:p>
          <a:p>
            <a:r>
              <a:t>→ It's also not just about model — noise type matters.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delta — repaired minus noisy — broken down by noise type instead of by model.</a:t>
            </a:r>
            <a:endParaRPr lang="en-US" dirty="0"/>
          </a:p>
          <a:p>
            <a:r>
              <a:t/>
            </a:r>
          </a:p>
          <a:p>
            <a:r>
              <a:t>Self-repair helps slightly on **typos/grammar** and **incomplete** questions. These are surface-level issues; once the question is cleaned up, the model can answer.</a:t>
            </a:r>
          </a:p>
          <a:p>
            <a:r>
              <a:t/>
            </a:r>
          </a:p>
          <a:p>
            <a:r>
              <a:t>Layperson phrasing and overgeneralization stay difficult — repair often locks in the wrong framing or broadens too far. We'll see exactly that in slide 13.</a:t>
            </a:r>
          </a:p>
          <a:p>
            <a:r>
              <a:t/>
            </a:r>
          </a:p>
          <a:p>
            <a:r>
              <a:t>Practical implication: repair should be CONDITIONAL. Apply it to typos and incomplete prompts; don't apply it blindly to ambiguous or overgeneralized prompts where it might commit to the wrong interpretation.</a:t>
            </a:r>
          </a:p>
          <a:p>
            <a:r>
              <a:t/>
            </a:r>
          </a:p>
          <a:p>
            <a:r>
              <a:t>→ And here's the deeper pattern across the full metric stack.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is the core finding compressed into one view.</a:t>
            </a:r>
            <a:endParaRPr lang="en-US" dirty="0"/>
          </a:p>
          <a:p>
            <a:r>
              <a:t/>
            </a:r>
          </a:p>
          <a:p>
            <a:r>
              <a:t>For each metric we count, across the 11 models: how many improved, how many got worse, how many stayed flat after repair.</a:t>
            </a:r>
          </a:p>
          <a:p>
            <a:r>
              <a:t/>
            </a:r>
          </a:p>
          <a:p>
            <a:r>
              <a:t>The standout row is at the bottom: **Intent preservation — 11 / 0 / 0** in BOTH modes. Every single model's repaired question was closer to the clean question than its noisy version. Repair, in that narrow sense, always works.</a:t>
            </a:r>
          </a:p>
          <a:p>
            <a:r>
              <a:t/>
            </a:r>
          </a:p>
          <a:p>
            <a:r>
              <a:t>Now look at every other row:</a:t>
            </a:r>
          </a:p>
          <a:p>
            <a:r>
              <a:t>• G-Eval: 2 improved / 8 worse in fixed mode. 2/9 in self mode.</a:t>
            </a:r>
          </a:p>
          <a:p>
            <a:r>
              <a:t>• BERTScore: 2/9 / 3/8.</a:t>
            </a:r>
          </a:p>
          <a:p>
            <a:r>
              <a:t>• **med_coverage in self_repair: 0/11/0.** Every single model lost medical-term coverage.</a:t>
            </a:r>
          </a:p>
          <a:p>
            <a:r>
              <a:t>• med_f1: 4/7 in fixed, 1/10 in self.</a:t>
            </a:r>
          </a:p>
          <a:p>
            <a:r>
              <a:t/>
            </a:r>
          </a:p>
          <a:p>
            <a:r>
              <a:t>**Core pattern**: repair makes the question better, but not the answer. If we had only reported intent, we'd be telling a misleadingly positive story.</a:t>
            </a:r>
          </a:p>
          <a:p>
            <a:r>
              <a:t/>
            </a:r>
          </a:p>
          <a:p>
            <a:r>
              <a:t>→ Now let me show concrete examples of what's actually happening.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GPT-5.4, incomplete-noise question.</a:t>
            </a:r>
            <a:endParaRPr lang="en-US" dirty="0"/>
          </a:p>
          <a:p>
            <a:r>
              <a:t/>
            </a:r>
          </a:p>
          <a:p>
            <a:r>
              <a:t>Clean question: "Do you have information about Air Pollution." Noisy: "do u have any info on bad air stuff and what it can do."</a:t>
            </a:r>
          </a:p>
          <a:p>
            <a:r>
              <a:t/>
            </a:r>
          </a:p>
          <a:p>
            <a:r>
              <a:t>Look at the noisy answer: literal one-line fragment. "Yes — bad air." G-Eval crashes from 4 to 1. med_coverage from 27 to 2.</a:t>
            </a:r>
          </a:p>
          <a:p>
            <a:r>
              <a:t/>
            </a:r>
          </a:p>
          <a:p>
            <a:r>
              <a:t>Repair turns the question into "What health effects can poor air quality or air pollution have on the body" — a clean medical ask. The answer comes back: irritation, asthma, COPD, lung function. G-Eval back to 4. med_coverage recovers to 16.7.</a:t>
            </a:r>
          </a:p>
          <a:p>
            <a:r>
              <a:t/>
            </a:r>
          </a:p>
          <a:p>
            <a:r>
              <a:t>**This is repair working as designed.** Most of the lost medical content came back. This is the kind of case that makes you think repair is a safety layer.</a:t>
            </a:r>
          </a:p>
          <a:p>
            <a:r>
              <a:t/>
            </a:r>
          </a:p>
          <a:p>
            <a:r>
              <a:t>→ But it doesn't always work this cleanly.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model, same noise type, different question — and the failure mode shows up.</a:t>
            </a:r>
            <a:endParaRPr lang="en-US" dirty="0"/>
          </a:p>
          <a:p>
            <a:r>
              <a:t/>
            </a:r>
          </a:p>
          <a:p>
            <a:r>
              <a:t>Clean topic: "Anabolic Steroids." Noisy: "those muscle-building stuff." Repair rewrites it as "health risks of muscle-building supplements OR anabolic steroids."</a:t>
            </a:r>
          </a:p>
          <a:p>
            <a:r>
              <a:t/>
            </a:r>
          </a:p>
          <a:p>
            <a:r>
              <a:t>**Notice what just happened.** Repair widened the question. The original clean topic was anabolic steroids specifically — a regulated, prescription-context medical concept. The repaired version now ALSO includes generic supplements like protein powder.</a:t>
            </a:r>
          </a:p>
          <a:p>
            <a:r>
              <a:t/>
            </a:r>
          </a:p>
          <a:p>
            <a:r>
              <a:t>The answer drifts. The repaired answer talks mostly about protein powder, creatine, pre-workouts. The medical concept shifted before the answer model ever saw the question.</a:t>
            </a:r>
          </a:p>
          <a:p>
            <a:r>
              <a:t/>
            </a:r>
          </a:p>
          <a:p>
            <a:r>
              <a:t>G-Eval is 3 — slightly better than the noisy 2 — but med_coverage went 28 → 7 → 13. We never recover the original medical specificity.</a:t>
            </a:r>
          </a:p>
          <a:p>
            <a:r>
              <a:t/>
            </a:r>
          </a:p>
          <a:p>
            <a:r>
              <a:t>**This is the central failure mode**: question repair commits to the wrong interpretation. The answer model is now answering a different question.</a:t>
            </a:r>
          </a:p>
          <a:p>
            <a:r>
              <a:t/>
            </a:r>
          </a:p>
          <a:p>
            <a:r>
              <a:t>→ Layperson noise has the same trap.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Layperson noise. The clean question is just "What is abortion." The noisy version is a long patient-language paraphrase: "what does it mean when a pregnancy gets ended early or the baby is not kept…"</a:t>
            </a:r>
            <a:endParaRPr lang="en-US" dirty="0"/>
          </a:p>
          <a:p>
            <a:r>
              <a:t/>
            </a:r>
          </a:p>
          <a:p>
            <a:r>
              <a:t>Repair handles this well. It restores a concise medical distinction: spontaneous abortion (miscarriage) versus induced abortion. The answer comes back tight and clinically accurate. G-Eval recovers to 4. med_coverage holds at 23.</a:t>
            </a:r>
          </a:p>
          <a:p>
            <a:r>
              <a:t/>
            </a:r>
          </a:p>
          <a:p>
            <a:r>
              <a:t>The takeaway here is the contrast with the previous slide: layperson noise CAN be repaired well, but only when repair correctly identifies the medical category. When the layperson framing is ambiguous, repair has to guess — and sometimes guesses wrong.</a:t>
            </a:r>
          </a:p>
          <a:p>
            <a:r>
              <a:t/>
            </a:r>
          </a:p>
          <a:p>
            <a:r>
              <a:t>→ One more example, showing why we don't trust G-Eval alone.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Mixtral 8x7B, typos-noise question on anal disorders. The judge G-Eval scored the repaired answer **5 — a perfect score**.</a:t>
            </a:r>
            <a:endParaRPr lang="en-US" dirty="0"/>
          </a:p>
          <a:p>
            <a:r>
              <a:t/>
            </a:r>
          </a:p>
          <a:p>
            <a:r>
              <a:t>But look at med_coverage: **22.2 → 19.4 → 16.7**. Coverage falls steadily through both noise AND repair, even as G-Eval improves.</a:t>
            </a:r>
          </a:p>
          <a:p>
            <a:r>
              <a:t/>
            </a:r>
          </a:p>
          <a:p>
            <a:r>
              <a:t>The repaired answer reads as fluent and well-organized, which is what GPT-5.4-mini judges on. But the medical content audit sees fewer specific terms — fewer named conditions, less precision.</a:t>
            </a:r>
          </a:p>
          <a:p>
            <a:r>
              <a:t/>
            </a:r>
          </a:p>
          <a:p>
            <a:r>
              <a:t>**This is exactly why we layer metrics.** A judge alone would tell us the system improved. The medical lens says we lost specificity. Both are true. Whether that matters clinically depends on what's missing.</a:t>
            </a:r>
          </a:p>
          <a:p>
            <a:r>
              <a:t/>
            </a:r>
          </a:p>
          <a:p>
            <a:r>
              <a:t>→ So what does all this evidence add up to?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things from the n=50 evidence.</a:t>
            </a:r>
            <a:endParaRPr lang="en-US" dirty="0"/>
          </a:p>
          <a:p>
            <a:r>
              <a:t/>
            </a:r>
          </a:p>
          <a:p>
            <a:r>
              <a:t>**One: repair is useful but bounded.** It can fix surface noise — typos, missing words, layperson terms. It cannot reliably recover medical meaning once the prompt has actually drifted in topic.</a:t>
            </a:r>
          </a:p>
          <a:p>
            <a:r>
              <a:t/>
            </a:r>
          </a:p>
          <a:p>
            <a:r>
              <a:t>**Two: question repair adds another failure mode.** The repair model can commit to the wrong interpretation, broaden the target, or shift the medical category — all BEFORE the answer model ever sees the question. Slide 13 was the textbook case.</a:t>
            </a:r>
          </a:p>
          <a:p>
            <a:r>
              <a:t/>
            </a:r>
          </a:p>
          <a:p>
            <a:r>
              <a:t>**Three: metric choice changes the story.** Intent metrics improve across the board. Judge scores sometimes improve. Medical content quietly falls. Multi-lens evaluation isn't optional in this domain.</a:t>
            </a:r>
          </a:p>
          <a:p>
            <a:r>
              <a:t/>
            </a:r>
          </a:p>
          <a:p>
            <a:r>
              <a:t>If you want a one-line answer to the research question: **prompt repair is a conditional tool, not a safety layer.**</a:t>
            </a:r>
          </a:p>
          <a:p>
            <a:r>
              <a:t/>
            </a:r>
          </a:p>
          <a:p>
            <a:r>
              <a:t>→ We're being deliberately conservative about what this pilot can claim.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this pilot CANNOT yet claim, on purpose.</a:t>
            </a:r>
            <a:endParaRPr lang="en-US" dirty="0"/>
          </a:p>
          <a:p>
            <a:r>
              <a:t/>
            </a:r>
          </a:p>
          <a:p>
            <a:r>
              <a:t>• **Pilot scale.** 50 questions per model is enough for signal-finding, not for confidence intervals on per-model effects.</a:t>
            </a:r>
          </a:p>
          <a:p>
            <a:r>
              <a:t>• **Synthetic noise.** GPT-generated noise is consistent and controlled. Real patient language is messier, multimodal, and includes things like image attachments and EHR context.</a:t>
            </a:r>
          </a:p>
          <a:p>
            <a:r>
              <a:t>• **Single dataset.** MedQuAD is curated NIH/NLM content. Patient portal messages, telehealth chats, and EHR notes look different and would likely show different repair behavior.</a:t>
            </a:r>
          </a:p>
          <a:p>
            <a:r>
              <a:t>• **Judge model overlap.** G-Eval uses GPT-5.4-mini; our repair/noise stack also uses GPT-family components. Not fully independent — possible self-favoring bias.</a:t>
            </a:r>
          </a:p>
          <a:p>
            <a:r>
              <a:t>• **Domain metric limits.** med_coverage catches lost terms but doesn't judge whether a missing term would matter clinically.</a:t>
            </a:r>
          </a:p>
          <a:p>
            <a:r>
              <a:t/>
            </a:r>
          </a:p>
          <a:p>
            <a:r>
              <a:t>These aren't excuses — they're the boundaries of what the n=50 evidence can support. Per-model effects need scale, real noise needs real data, and clinical safety needs human review.</a:t>
            </a:r>
          </a:p>
          <a:p>
            <a:r>
              <a:t/>
            </a:r>
          </a:p>
          <a:p>
            <a:r>
              <a:t>→ Here's how we'd address those.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things to turn this from pilot into a stronger study.</a:t>
            </a:r>
            <a:endParaRPr lang="en-US" dirty="0"/>
          </a:p>
          <a:p>
            <a:r>
              <a:t/>
            </a:r>
          </a:p>
          <a:p>
            <a:r>
              <a:t>• **Scale to n=1000.** Same fixed_repair and self_repair structure with confidence intervals. Lets us make per-model claims with statistical support.</a:t>
            </a:r>
          </a:p>
          <a:p>
            <a:r>
              <a:t>• **Validate repair outputs.** Reject rewrites that answer the question, ask for clarification, or inject facts not in the noisy input. Right now repair is a free-text rewrite — we should constrain it.</a:t>
            </a:r>
          </a:p>
          <a:p>
            <a:r>
              <a:t>• **Human or clinical review.** Pair the automatic metrics with a harm-tier rubric for misleading, unsafe, or clinically dangerous answers. The judge can't catch what would actually hurt a patient.</a:t>
            </a:r>
          </a:p>
          <a:p>
            <a:r>
              <a:t>• **Noise-specific policy.** Apply repair selectively. Typos and incomplete questions probably benefit. Overgeneralized or ambiguous prompts probably need a clarifying question instead of a rewrite.</a:t>
            </a:r>
          </a:p>
          <a:p>
            <a:r>
              <a:t/>
            </a:r>
          </a:p>
          <a:p>
            <a:r>
              <a:t>The bottom line — and this is what we'd want a deployment team to take away:</a:t>
            </a:r>
          </a:p>
          <a:p>
            <a:r>
              <a:t/>
            </a:r>
          </a:p>
          <a:p>
            <a:r>
              <a:t>**Prompt repair should be evaluated as a CONDITIONAL tool, not assumed to be a universal safety layer.**</a:t>
            </a:r>
          </a:p>
          <a:p>
            <a:r>
              <a:t/>
            </a:r>
          </a:p>
          <a:p>
            <a:r>
              <a:t>→ That's the talk.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answer in one sentence:</a:t>
            </a:r>
            <a:endParaRPr lang="en-US" dirty="0"/>
          </a:p>
          <a:p>
            <a:r>
              <a:t/>
            </a:r>
          </a:p>
          <a:p>
            <a:r>
              <a:t>Repair improved question intent in every model, but did NOT systematically improve medical QA answer quality in the completed n=50 pilot.</a:t>
            </a:r>
          </a:p>
          <a:p>
            <a:r>
              <a:t/>
            </a:r>
          </a:p>
          <a:p>
            <a:r>
              <a:t>Happy to take questions — and especially counter-evidence. If anyone has examples of patient-portal data, deployment experience, or domain feedback we should be paying attention to, we'd love to hear it.</a:t>
            </a:r>
          </a:p>
          <a:p>
            <a:r>
              <a:t/>
            </a:r>
          </a:p>
          <a:p>
            <a:r>
              <a:t>Thank you.</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323D"/>
        </a:solidFill>
        <a:effectLst/>
      </p:bgPr>
    </p:bg>
    <p:spTree>
      <p:nvGrpSpPr>
        <p:cNvPr id="1" name=""/>
        <p:cNvGrpSpPr/>
        <p:nvPr/>
      </p:nvGrpSpPr>
      <p:grpSpPr>
        <a:xfrm>
          <a:off x="0" y="0"/>
          <a:ext cx="0" cy="0"/>
          <a:chOff x="0" y="0"/>
          <a:chExt cx="0" cy="0"/>
        </a:xfrm>
      </p:grpSpPr>
      <p:sp>
        <p:nvSpPr>
          <p:cNvPr id="2" name="Text 0"/>
          <p:cNvSpPr/>
          <p:nvPr/>
        </p:nvSpPr>
        <p:spPr>
          <a:xfrm>
            <a:off x="475488" y="411480"/>
            <a:ext cx="4846320" cy="219456"/>
          </a:xfrm>
          <a:prstGeom prst="rect">
            <a:avLst/>
          </a:prstGeom>
          <a:noFill/>
          <a:ln/>
        </p:spPr>
        <p:txBody>
          <a:bodyPr wrap="square" lIns="0" tIns="0" rIns="0" bIns="0" rtlCol="0" anchor="t"/>
          <a:lstStyle/>
          <a:p>
            <a:pPr marL="0" indent="0" algn="l">
              <a:buNone/>
            </a:pPr>
            <a:r>
              <a:rPr lang="en-US" sz="1400" b="1" dirty="0">
                <a:solidFill>
                  <a:srgbClr val="FFFFFF"/>
                </a:solidFill>
                <a:latin typeface="Aptos" pitchFamily="34" charset="0"/>
                <a:ea typeface="Aptos" pitchFamily="34" charset="-122"/>
                <a:cs typeface="Aptos" pitchFamily="34" charset="-120"/>
              </a:rPr>
              <a:t>PRACTICUM IN LLM EVALUATION | FINAL PRESENTATION</a:t>
            </a:r>
            <a:endParaRPr lang="en-US" sz="800" dirty="0"/>
          </a:p>
        </p:txBody>
      </p:sp>
      <p:sp>
        <p:nvSpPr>
          <p:cNvPr id="3" name="Text 1"/>
          <p:cNvSpPr/>
          <p:nvPr/>
        </p:nvSpPr>
        <p:spPr>
          <a:xfrm>
            <a:off x="475488" y="987552"/>
            <a:ext cx="5394960" cy="1325880"/>
          </a:xfrm>
          <a:prstGeom prst="rect">
            <a:avLst/>
          </a:prstGeom>
          <a:noFill/>
          <a:ln/>
        </p:spPr>
        <p:txBody>
          <a:bodyPr wrap="square" lIns="0" tIns="0" rIns="0" bIns="0" rtlCol="0" anchor="t">
            <a:normAutofit/>
          </a:bodyPr>
          <a:lstStyle/>
          <a:p>
            <a:pPr marL="0" indent="0" algn="l">
              <a:buNone/>
            </a:pPr>
            <a:r>
              <a:rPr lang="en-US" sz="3800" b="1" dirty="0">
                <a:solidFill>
                  <a:srgbClr val="FFFFFF"/>
                </a:solidFill>
                <a:latin typeface="Aptos" pitchFamily="34" charset="0"/>
                <a:ea typeface="Aptos" pitchFamily="34" charset="-122"/>
                <a:cs typeface="Aptos" pitchFamily="34" charset="-120"/>
              </a:rPr>
              <a:t>Medical LLM</a:t>
            </a:r>
            <a:endParaRPr lang="en-US" sz="3800" dirty="0"/>
          </a:p>
          <a:p>
            <a:pPr marL="0" indent="0" algn="l">
              <a:buNone/>
            </a:pPr>
            <a:r>
              <a:rPr lang="en-US" sz="3800" b="1" dirty="0">
                <a:solidFill>
                  <a:srgbClr val="FFFFFF"/>
                </a:solidFill>
                <a:latin typeface="Aptos" pitchFamily="34" charset="0"/>
                <a:ea typeface="Aptos" pitchFamily="34" charset="-122"/>
                <a:cs typeface="Aptos" pitchFamily="34" charset="-120"/>
              </a:rPr>
              <a:t>Robustness</a:t>
            </a:r>
            <a:endParaRPr lang="en-US" sz="3800" dirty="0"/>
          </a:p>
        </p:txBody>
      </p:sp>
      <p:sp>
        <p:nvSpPr>
          <p:cNvPr id="4" name="Text 2"/>
          <p:cNvSpPr/>
          <p:nvPr/>
        </p:nvSpPr>
        <p:spPr>
          <a:xfrm>
            <a:off x="475488" y="2331720"/>
            <a:ext cx="4206240" cy="329184"/>
          </a:xfrm>
          <a:prstGeom prst="rect">
            <a:avLst/>
          </a:prstGeom>
          <a:noFill/>
          <a:ln/>
        </p:spPr>
        <p:txBody>
          <a:bodyPr wrap="square" lIns="0" tIns="0" rIns="0" bIns="0" rtlCol="0" anchor="t"/>
          <a:lstStyle/>
          <a:p>
            <a:pPr marL="0" indent="0" algn="l">
              <a:buNone/>
            </a:pPr>
            <a:r>
              <a:rPr lang="en-US" sz="1700" dirty="0">
                <a:solidFill>
                  <a:srgbClr val="FFFFFF"/>
                </a:solidFill>
                <a:latin typeface="Aptos" pitchFamily="34" charset="0"/>
                <a:ea typeface="Aptos" pitchFamily="34" charset="-122"/>
                <a:cs typeface="Aptos" pitchFamily="34" charset="-120"/>
              </a:rPr>
              <a:t>to noisy user inputs</a:t>
            </a:r>
            <a:endParaRPr lang="en-US" sz="1700" dirty="0"/>
          </a:p>
        </p:txBody>
      </p:sp>
      <p:sp>
        <p:nvSpPr>
          <p:cNvPr id="5" name="Text 3"/>
          <p:cNvSpPr/>
          <p:nvPr/>
        </p:nvSpPr>
        <p:spPr>
          <a:xfrm>
            <a:off x="475488" y="3063240"/>
            <a:ext cx="4937760" cy="676656"/>
          </a:xfrm>
          <a:prstGeom prst="rect">
            <a:avLst/>
          </a:prstGeom>
          <a:noFill/>
          <a:ln/>
        </p:spPr>
        <p:txBody>
          <a:bodyPr wrap="square" lIns="0" tIns="0" rIns="0" bIns="0" rtlCol="0" anchor="t">
            <a:normAutofit/>
          </a:bodyPr>
          <a:lstStyle/>
          <a:p>
            <a:pPr marL="0" indent="0" algn="l">
              <a:buNone/>
            </a:pPr>
            <a:r>
              <a:rPr lang="en-US" sz="1400" dirty="0">
                <a:solidFill>
                  <a:srgbClr val="FFFFFF"/>
                </a:solidFill>
                <a:latin typeface="Aptos" pitchFamily="34" charset="0"/>
                <a:ea typeface="Aptos" pitchFamily="34" charset="-122"/>
                <a:cs typeface="Aptos" pitchFamily="34" charset="-120"/>
              </a:rPr>
              <a:t>We test whether prompt repair actually helps medical QA models answer messy real-user questions.</a:t>
            </a:r>
            <a:endParaRPr lang="en-US" sz="1400" dirty="0"/>
          </a:p>
        </p:txBody>
      </p:sp>
      <p:sp>
        <p:nvSpPr>
          <p:cNvPr id="6" name="Shape 4"/>
          <p:cNvSpPr/>
          <p:nvPr/>
        </p:nvSpPr>
        <p:spPr>
          <a:xfrm>
            <a:off x="6537960" y="777240"/>
            <a:ext cx="4480560" cy="4480560"/>
          </a:xfrm>
          <a:prstGeom prst="rect">
            <a:avLst/>
          </a:prstGeom>
          <a:solidFill>
            <a:srgbClr val="2F3F4D"/>
          </a:solidFill>
          <a:ln w="8890">
            <a:noFill/>
            <a:prstDash val="solid"/>
          </a:ln>
        </p:spPr>
        <p:txBody>
          <a:bodyPr/>
          <a:lstStyle/>
          <a:p>
            <a:endParaRPr lang="en-US"/>
          </a:p>
        </p:txBody>
      </p:sp>
      <p:sp>
        <p:nvSpPr>
          <p:cNvPr id="7" name="Shape 5"/>
          <p:cNvSpPr/>
          <p:nvPr/>
        </p:nvSpPr>
        <p:spPr>
          <a:xfrm>
            <a:off x="6903720" y="1143000"/>
            <a:ext cx="3749040" cy="502920"/>
          </a:xfrm>
          <a:prstGeom prst="roundRect">
            <a:avLst>
              <a:gd name="adj" fmla="val 10909"/>
            </a:avLst>
          </a:prstGeom>
          <a:solidFill>
            <a:srgbClr val="127C7A"/>
          </a:solidFill>
          <a:ln w="8890">
            <a:noFill/>
            <a:prstDash val="solid"/>
          </a:ln>
        </p:spPr>
        <p:txBody>
          <a:bodyPr/>
          <a:lstStyle/>
          <a:p>
            <a:endParaRPr lang="en-US"/>
          </a:p>
        </p:txBody>
      </p:sp>
      <p:sp>
        <p:nvSpPr>
          <p:cNvPr id="8" name="Text 6"/>
          <p:cNvSpPr/>
          <p:nvPr/>
        </p:nvSpPr>
        <p:spPr>
          <a:xfrm>
            <a:off x="7114032" y="1298448"/>
            <a:ext cx="2377440" cy="155448"/>
          </a:xfrm>
          <a:prstGeom prst="rect">
            <a:avLst/>
          </a:prstGeom>
          <a:noFill/>
          <a:ln/>
        </p:spPr>
        <p:txBody>
          <a:bodyPr wrap="square" lIns="0" tIns="0" rIns="0" bIns="0" rtlCol="0" anchor="t"/>
          <a:lstStyle/>
          <a:p>
            <a:pPr marL="0" indent="0" algn="l">
              <a:buNone/>
            </a:pPr>
            <a:r>
              <a:rPr lang="en-US" sz="1400" b="1" dirty="0">
                <a:solidFill>
                  <a:srgbClr val="FFFFFF"/>
                </a:solidFill>
                <a:latin typeface="Aptos" pitchFamily="34" charset="0"/>
                <a:ea typeface="Aptos" pitchFamily="34" charset="-122"/>
                <a:cs typeface="Aptos" pitchFamily="34" charset="-120"/>
              </a:rPr>
              <a:t>Clean medical question</a:t>
            </a:r>
            <a:endParaRPr lang="en-US" sz="900" dirty="0"/>
          </a:p>
        </p:txBody>
      </p:sp>
      <p:sp>
        <p:nvSpPr>
          <p:cNvPr id="9" name="Shape 7"/>
          <p:cNvSpPr/>
          <p:nvPr/>
        </p:nvSpPr>
        <p:spPr>
          <a:xfrm>
            <a:off x="6903720" y="1938528"/>
            <a:ext cx="3749040" cy="502920"/>
          </a:xfrm>
          <a:prstGeom prst="roundRect">
            <a:avLst>
              <a:gd name="adj" fmla="val 10909"/>
            </a:avLst>
          </a:prstGeom>
          <a:solidFill>
            <a:srgbClr val="127C7A"/>
          </a:solidFill>
          <a:ln w="8890">
            <a:noFill/>
            <a:prstDash val="solid"/>
          </a:ln>
        </p:spPr>
        <p:txBody>
          <a:bodyPr/>
          <a:lstStyle/>
          <a:p>
            <a:endParaRPr lang="en-US"/>
          </a:p>
        </p:txBody>
      </p:sp>
      <p:sp>
        <p:nvSpPr>
          <p:cNvPr id="10" name="Text 8"/>
          <p:cNvSpPr/>
          <p:nvPr/>
        </p:nvSpPr>
        <p:spPr>
          <a:xfrm>
            <a:off x="7114032" y="2093976"/>
            <a:ext cx="2377440" cy="155448"/>
          </a:xfrm>
          <a:prstGeom prst="rect">
            <a:avLst/>
          </a:prstGeom>
          <a:noFill/>
          <a:ln/>
        </p:spPr>
        <p:txBody>
          <a:bodyPr wrap="square" lIns="0" tIns="0" rIns="0" bIns="0" rtlCol="0" anchor="t"/>
          <a:lstStyle/>
          <a:p>
            <a:pPr marL="0" indent="0" algn="l">
              <a:buNone/>
            </a:pPr>
            <a:r>
              <a:rPr lang="en-US" sz="1400" b="1" dirty="0">
                <a:solidFill>
                  <a:srgbClr val="FFFFFF"/>
                </a:solidFill>
                <a:latin typeface="Aptos" pitchFamily="34" charset="0"/>
                <a:ea typeface="Aptos" pitchFamily="34" charset="-122"/>
                <a:cs typeface="Aptos" pitchFamily="34" charset="-120"/>
              </a:rPr>
              <a:t>Messy user question</a:t>
            </a:r>
            <a:endParaRPr lang="en-US" sz="900" dirty="0"/>
          </a:p>
        </p:txBody>
      </p:sp>
      <p:sp>
        <p:nvSpPr>
          <p:cNvPr id="11" name="Shape 9"/>
          <p:cNvSpPr/>
          <p:nvPr/>
        </p:nvSpPr>
        <p:spPr>
          <a:xfrm>
            <a:off x="6903720" y="2734056"/>
            <a:ext cx="3749040" cy="502920"/>
          </a:xfrm>
          <a:prstGeom prst="roundRect">
            <a:avLst>
              <a:gd name="adj" fmla="val 10909"/>
            </a:avLst>
          </a:prstGeom>
          <a:solidFill>
            <a:srgbClr val="127C7A"/>
          </a:solidFill>
          <a:ln w="8890">
            <a:noFill/>
            <a:prstDash val="solid"/>
          </a:ln>
        </p:spPr>
        <p:txBody>
          <a:bodyPr/>
          <a:lstStyle/>
          <a:p>
            <a:endParaRPr lang="en-US"/>
          </a:p>
        </p:txBody>
      </p:sp>
      <p:sp>
        <p:nvSpPr>
          <p:cNvPr id="12" name="Text 10"/>
          <p:cNvSpPr/>
          <p:nvPr/>
        </p:nvSpPr>
        <p:spPr>
          <a:xfrm>
            <a:off x="7114032" y="2889504"/>
            <a:ext cx="2377440" cy="155448"/>
          </a:xfrm>
          <a:prstGeom prst="rect">
            <a:avLst/>
          </a:prstGeom>
          <a:noFill/>
          <a:ln/>
        </p:spPr>
        <p:txBody>
          <a:bodyPr wrap="square" lIns="0" tIns="0" rIns="0" bIns="0" rtlCol="0" anchor="t"/>
          <a:lstStyle/>
          <a:p>
            <a:pPr marL="0" indent="0" algn="l">
              <a:buNone/>
            </a:pPr>
            <a:r>
              <a:rPr lang="en-US" sz="1400" b="1" dirty="0">
                <a:solidFill>
                  <a:srgbClr val="FFFFFF"/>
                </a:solidFill>
                <a:latin typeface="Aptos" pitchFamily="34" charset="0"/>
                <a:ea typeface="Aptos" pitchFamily="34" charset="-122"/>
                <a:cs typeface="Aptos" pitchFamily="34" charset="-120"/>
              </a:rPr>
              <a:t>Repair rewrite</a:t>
            </a:r>
            <a:endParaRPr lang="en-US" sz="900" dirty="0"/>
          </a:p>
        </p:txBody>
      </p:sp>
      <p:sp>
        <p:nvSpPr>
          <p:cNvPr id="13" name="Shape 11"/>
          <p:cNvSpPr/>
          <p:nvPr/>
        </p:nvSpPr>
        <p:spPr>
          <a:xfrm>
            <a:off x="6903720" y="3529584"/>
            <a:ext cx="3749040" cy="502920"/>
          </a:xfrm>
          <a:prstGeom prst="roundRect">
            <a:avLst>
              <a:gd name="adj" fmla="val 10909"/>
            </a:avLst>
          </a:prstGeom>
          <a:solidFill>
            <a:srgbClr val="127C7A"/>
          </a:solidFill>
          <a:ln w="8890">
            <a:noFill/>
            <a:prstDash val="solid"/>
          </a:ln>
        </p:spPr>
        <p:txBody>
          <a:bodyPr/>
          <a:lstStyle/>
          <a:p>
            <a:endParaRPr lang="en-US"/>
          </a:p>
        </p:txBody>
      </p:sp>
      <p:sp>
        <p:nvSpPr>
          <p:cNvPr id="14" name="Text 12"/>
          <p:cNvSpPr/>
          <p:nvPr/>
        </p:nvSpPr>
        <p:spPr>
          <a:xfrm>
            <a:off x="7114032" y="3685032"/>
            <a:ext cx="2377440" cy="155448"/>
          </a:xfrm>
          <a:prstGeom prst="rect">
            <a:avLst/>
          </a:prstGeom>
          <a:noFill/>
          <a:ln/>
        </p:spPr>
        <p:txBody>
          <a:bodyPr wrap="square" lIns="0" tIns="0" rIns="0" bIns="0" rtlCol="0" anchor="t"/>
          <a:lstStyle/>
          <a:p>
            <a:pPr marL="0" indent="0" algn="l">
              <a:buNone/>
            </a:pPr>
            <a:r>
              <a:rPr lang="en-US" sz="1400" b="1" dirty="0">
                <a:solidFill>
                  <a:srgbClr val="FFFFFF"/>
                </a:solidFill>
                <a:latin typeface="Aptos" pitchFamily="34" charset="0"/>
                <a:ea typeface="Aptos" pitchFamily="34" charset="-122"/>
                <a:cs typeface="Aptos" pitchFamily="34" charset="-120"/>
              </a:rPr>
              <a:t>Answer + evaluate</a:t>
            </a:r>
            <a:endParaRPr lang="en-US" sz="900" dirty="0"/>
          </a:p>
        </p:txBody>
      </p:sp>
      <p:sp>
        <p:nvSpPr>
          <p:cNvPr id="15" name="Text 13"/>
          <p:cNvSpPr/>
          <p:nvPr/>
        </p:nvSpPr>
        <p:spPr>
          <a:xfrm>
            <a:off x="475488" y="5440680"/>
            <a:ext cx="4846320" cy="292608"/>
          </a:xfrm>
          <a:prstGeom prst="rect">
            <a:avLst/>
          </a:prstGeom>
          <a:noFill/>
          <a:ln/>
        </p:spPr>
        <p:txBody>
          <a:bodyPr wrap="square" lIns="0" tIns="0" rIns="0" bIns="0" rtlCol="0" anchor="t"/>
          <a:lstStyle/>
          <a:p>
            <a:pPr marL="0" indent="0" algn="l">
              <a:buNone/>
            </a:pPr>
            <a:r>
              <a:rPr lang="en-US" sz="1400" b="1" dirty="0">
                <a:solidFill>
                  <a:srgbClr val="FFFFFF"/>
                </a:solidFill>
                <a:latin typeface="Aptos" pitchFamily="34" charset="0"/>
                <a:ea typeface="Aptos" pitchFamily="34" charset="-122"/>
                <a:cs typeface="Aptos" pitchFamily="34" charset="-120"/>
              </a:rPr>
              <a:t>n=50 pilot | 11 models | fixed_repair + self_repair</a:t>
            </a:r>
            <a:endParaRPr lang="en-US" sz="1200" dirty="0"/>
          </a:p>
        </p:txBody>
      </p:sp>
      <p:sp>
        <p:nvSpPr>
          <p:cNvPr id="16" name="Text 14"/>
          <p:cNvSpPr/>
          <p:nvPr/>
        </p:nvSpPr>
        <p:spPr>
          <a:xfrm>
            <a:off x="475488" y="5806440"/>
            <a:ext cx="3657600" cy="237744"/>
          </a:xfrm>
          <a:prstGeom prst="rect">
            <a:avLst/>
          </a:prstGeom>
          <a:noFill/>
          <a:ln/>
        </p:spPr>
        <p:txBody>
          <a:bodyPr wrap="square" lIns="0" tIns="0" rIns="0" bIns="0" rtlCol="0" anchor="t"/>
          <a:lstStyle/>
          <a:p>
            <a:pPr marL="0" indent="0" algn="l">
              <a:buNone/>
            </a:pPr>
            <a:r>
              <a:rPr lang="en-US" sz="1400" dirty="0">
                <a:solidFill>
                  <a:srgbClr val="FFFFFF"/>
                </a:solidFill>
                <a:latin typeface="Aptos" pitchFamily="34" charset="0"/>
                <a:ea typeface="Aptos" pitchFamily="34" charset="-122"/>
                <a:cs typeface="Aptos" pitchFamily="34" charset="-120"/>
              </a:rPr>
              <a:t>Group 2 | Columbia University</a:t>
            </a:r>
            <a:endParaRPr lang="en-US" sz="900" dirty="0"/>
          </a:p>
        </p:txBody>
      </p:sp>
      <p:sp>
        <p:nvSpPr>
          <p:cNvPr id="17" name="Rectangle 16"/>
          <p:cNvSpPr/>
          <p:nvPr/>
        </p:nvSpPr>
        <p:spPr>
          <a:xfrm>
            <a:off x="475488" y="2286000"/>
            <a:ext cx="1097280" cy="54864"/>
          </a:xfrm>
          <a:prstGeom prst="rect">
            <a:avLst/>
          </a:prstGeom>
          <a:solidFill>
            <a:srgbClr val="E0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Problem</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Real users do not ask clean benchmark questions.</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Medical QA systems see typos, vague wording, missing context, and patient-language phrasing.</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2 / 19</a:t>
            </a:r>
            <a:endParaRPr lang="en-US" sz="680" dirty="0"/>
          </a:p>
        </p:txBody>
      </p:sp>
      <p:sp>
        <p:nvSpPr>
          <p:cNvPr id="8" name="Text 6"/>
          <p:cNvSpPr/>
          <p:nvPr/>
        </p:nvSpPr>
        <p:spPr>
          <a:xfrm>
            <a:off x="475488" y="1737360"/>
            <a:ext cx="5394960" cy="786384"/>
          </a:xfrm>
          <a:prstGeom prst="rect">
            <a:avLst/>
          </a:prstGeom>
          <a:noFill/>
          <a:ln/>
        </p:spPr>
        <p:txBody>
          <a:bodyPr wrap="square" lIns="635" tIns="635" rIns="635" bIns="635" rtlCol="0" anchor="t">
            <a:normAutofit/>
          </a:bodyPr>
          <a:lstStyle/>
          <a:p>
            <a:pPr marL="0" indent="0" algn="l">
              <a:buNone/>
            </a:pPr>
            <a:r>
              <a:rPr lang="en-US" sz="1700" b="1" dirty="0">
                <a:solidFill>
                  <a:srgbClr val="25323D"/>
                </a:solidFill>
                <a:latin typeface="Aptos" pitchFamily="34" charset="0"/>
                <a:ea typeface="Aptos" pitchFamily="34" charset="-122"/>
                <a:cs typeface="Aptos" pitchFamily="34" charset="-120"/>
              </a:rPr>
              <a:t>A clean-input score tells us how a model behaves in the lab. It does not tell us what happens when a patient asks a messy question at midnight.</a:t>
            </a:r>
            <a:endParaRPr lang="en-US" sz="1700" dirty="0"/>
          </a:p>
        </p:txBody>
      </p:sp>
      <p:sp>
        <p:nvSpPr>
          <p:cNvPr id="9" name="Shape 7"/>
          <p:cNvSpPr/>
          <p:nvPr/>
        </p:nvSpPr>
        <p:spPr>
          <a:xfrm>
            <a:off x="6492240" y="1572768"/>
            <a:ext cx="4663440" cy="3886200"/>
          </a:xfrm>
          <a:prstGeom prst="roundRect">
            <a:avLst>
              <a:gd name="adj" fmla="val 1412"/>
            </a:avLst>
          </a:prstGeom>
          <a:solidFill>
            <a:srgbClr val="FFFFFF"/>
          </a:solidFill>
          <a:ln w="8890">
            <a:solidFill>
              <a:srgbClr val="D9E2E8"/>
            </a:solidFill>
            <a:prstDash val="solid"/>
          </a:ln>
        </p:spPr>
        <p:txBody>
          <a:bodyPr/>
          <a:lstStyle/>
          <a:p>
            <a:endParaRPr lang="en-US"/>
          </a:p>
        </p:txBody>
      </p:sp>
      <p:sp>
        <p:nvSpPr>
          <p:cNvPr id="10" name="Text 8"/>
          <p:cNvSpPr/>
          <p:nvPr/>
        </p:nvSpPr>
        <p:spPr>
          <a:xfrm>
            <a:off x="6812280" y="1874520"/>
            <a:ext cx="2377440" cy="274320"/>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Why this matters</a:t>
            </a:r>
            <a:endParaRPr lang="en-US" sz="1400" dirty="0"/>
          </a:p>
        </p:txBody>
      </p:sp>
      <p:sp>
        <p:nvSpPr>
          <p:cNvPr id="11" name="Text 9"/>
          <p:cNvSpPr/>
          <p:nvPr/>
        </p:nvSpPr>
        <p:spPr>
          <a:xfrm>
            <a:off x="6812280" y="2331720"/>
            <a:ext cx="3840480" cy="914400"/>
          </a:xfrm>
          <a:prstGeom prst="rect">
            <a:avLst/>
          </a:prstGeom>
          <a:noFill/>
          <a:ln/>
        </p:spPr>
        <p:txBody>
          <a:bodyPr wrap="square" lIns="635" tIns="635" rIns="635" bIns="635" rtlCol="0" anchor="t">
            <a:normAutofit/>
          </a:bodyPr>
          <a:lstStyle/>
          <a:p>
            <a:pPr marL="0" indent="0" algn="l">
              <a:buNone/>
            </a:pPr>
            <a:r>
              <a:rPr lang="en-US" sz="1400" dirty="0">
                <a:solidFill>
                  <a:srgbClr val="25323D"/>
                </a:solidFill>
                <a:latin typeface="Aptos" pitchFamily="34" charset="0"/>
                <a:ea typeface="Aptos" pitchFamily="34" charset="-122"/>
                <a:cs typeface="Aptos" pitchFamily="34" charset="-120"/>
              </a:rPr>
              <a:t>In healthcare, a vague or misread question is not just a UX problem. It can change the medical concepts the model retrieves, the risks it mentions, and the confidence a user takes away.</a:t>
            </a:r>
            <a:endParaRPr lang="en-US" sz="1200" dirty="0"/>
          </a:p>
        </p:txBody>
      </p:sp>
      <p:sp>
        <p:nvSpPr>
          <p:cNvPr id="12" name="Text 10"/>
          <p:cNvSpPr/>
          <p:nvPr/>
        </p:nvSpPr>
        <p:spPr>
          <a:xfrm>
            <a:off x="6812280" y="3703320"/>
            <a:ext cx="2560320" cy="256032"/>
          </a:xfrm>
          <a:prstGeom prst="rect">
            <a:avLst/>
          </a:prstGeom>
          <a:noFill/>
          <a:ln/>
        </p:spPr>
        <p:txBody>
          <a:bodyPr wrap="square" lIns="0" tIns="0" rIns="0" bIns="0" rtlCol="0" anchor="t"/>
          <a:lstStyle/>
          <a:p>
            <a:pPr marL="0" indent="0" algn="l">
              <a:buNone/>
            </a:pPr>
            <a:r>
              <a:rPr lang="en-US" sz="1400" b="1" dirty="0">
                <a:solidFill>
                  <a:srgbClr val="52616B"/>
                </a:solidFill>
                <a:latin typeface="Aptos" pitchFamily="34" charset="0"/>
                <a:ea typeface="Aptos" pitchFamily="34" charset="-122"/>
                <a:cs typeface="Aptos" pitchFamily="34" charset="-120"/>
              </a:rPr>
              <a:t>Research question</a:t>
            </a:r>
            <a:endParaRPr lang="en-US" sz="1000" dirty="0"/>
          </a:p>
        </p:txBody>
      </p:sp>
      <p:sp>
        <p:nvSpPr>
          <p:cNvPr id="13" name="Text 11"/>
          <p:cNvSpPr/>
          <p:nvPr/>
        </p:nvSpPr>
        <p:spPr>
          <a:xfrm>
            <a:off x="6812280" y="4023360"/>
            <a:ext cx="3931920" cy="640080"/>
          </a:xfrm>
          <a:prstGeom prst="rect">
            <a:avLst/>
          </a:prstGeom>
          <a:noFill/>
          <a:ln/>
        </p:spPr>
        <p:txBody>
          <a:bodyPr wrap="square" lIns="635" tIns="635" rIns="635" bIns="635" rtlCol="0" anchor="t">
            <a:normAutofit/>
          </a:bodyPr>
          <a:lstStyle/>
          <a:p>
            <a:pPr marL="0" indent="0" algn="l">
              <a:buNone/>
            </a:pPr>
            <a:r>
              <a:rPr lang="en-US" sz="1500" b="1" dirty="0">
                <a:solidFill>
                  <a:srgbClr val="25323D"/>
                </a:solidFill>
                <a:latin typeface="Aptos" pitchFamily="34" charset="0"/>
                <a:ea typeface="Aptos" pitchFamily="34" charset="-122"/>
                <a:cs typeface="Aptos" pitchFamily="34" charset="-120"/>
              </a:rPr>
              <a:t>Can a prompt-repair step recover answer quality lost under noisy user input?</a:t>
            </a:r>
            <a:endParaRPr lang="en-US" sz="1500" dirty="0"/>
          </a:p>
        </p:txBody>
      </p:sp>
      <p:sp>
        <p:nvSpPr>
          <p:cNvPr id="14" name="Text 12"/>
          <p:cNvSpPr/>
          <p:nvPr/>
        </p:nvSpPr>
        <p:spPr>
          <a:xfrm>
            <a:off x="475488" y="4389120"/>
            <a:ext cx="1371600" cy="502920"/>
          </a:xfrm>
          <a:prstGeom prst="rect">
            <a:avLst/>
          </a:prstGeom>
          <a:noFill/>
          <a:ln/>
        </p:spPr>
        <p:txBody>
          <a:bodyPr wrap="square" lIns="0" tIns="0" rIns="0" bIns="0" rtlCol="0" anchor="t"/>
          <a:lstStyle/>
          <a:p>
            <a:pPr marL="0" indent="0" algn="ctr">
              <a:buNone/>
            </a:pPr>
            <a:r>
              <a:rPr lang="en-US" sz="3600" b="1" dirty="0">
                <a:solidFill>
                  <a:srgbClr val="E0A13A"/>
                </a:solidFill>
                <a:latin typeface="Aptos" pitchFamily="34" charset="0"/>
                <a:ea typeface="Aptos" pitchFamily="34" charset="-122"/>
                <a:cs typeface="Aptos" pitchFamily="34" charset="-120"/>
              </a:rPr>
              <a:t>11</a:t>
            </a:r>
            <a:endParaRPr lang="en-US" sz="2000" dirty="0"/>
          </a:p>
        </p:txBody>
      </p:sp>
      <p:sp>
        <p:nvSpPr>
          <p:cNvPr id="15" name="Text 13"/>
          <p:cNvSpPr/>
          <p:nvPr/>
        </p:nvSpPr>
        <p:spPr>
          <a:xfrm>
            <a:off x="475488" y="4901184"/>
            <a:ext cx="1280160" cy="237744"/>
          </a:xfrm>
          <a:prstGeom prst="rect">
            <a:avLst/>
          </a:prstGeom>
          <a:noFill/>
          <a:ln/>
        </p:spPr>
        <p:txBody>
          <a:bodyPr wrap="square" lIns="0" tIns="0" rIns="0" bIns="0" rtlCol="0" anchor="t">
            <a:normAutofit/>
          </a:bodyPr>
          <a:lstStyle/>
          <a:p>
            <a:pPr marL="0" indent="0" algn="ctr">
              <a:buNone/>
            </a:pPr>
            <a:r>
              <a:rPr lang="en-US" sz="1400" dirty="0">
                <a:solidFill>
                  <a:srgbClr val="52616B"/>
                </a:solidFill>
                <a:latin typeface="Aptos" pitchFamily="34" charset="0"/>
                <a:ea typeface="Aptos" pitchFamily="34" charset="-122"/>
                <a:cs typeface="Aptos" pitchFamily="34" charset="-120"/>
              </a:rPr>
              <a:t>models</a:t>
            </a:r>
            <a:endParaRPr lang="en-US" sz="750" dirty="0"/>
          </a:p>
        </p:txBody>
      </p:sp>
      <p:sp>
        <p:nvSpPr>
          <p:cNvPr id="16" name="Text 14"/>
          <p:cNvSpPr/>
          <p:nvPr/>
        </p:nvSpPr>
        <p:spPr>
          <a:xfrm>
            <a:off x="2029968" y="4389120"/>
            <a:ext cx="1554480" cy="502920"/>
          </a:xfrm>
          <a:prstGeom prst="rect">
            <a:avLst/>
          </a:prstGeom>
          <a:noFill/>
          <a:ln/>
        </p:spPr>
        <p:txBody>
          <a:bodyPr wrap="square" lIns="0" tIns="0" rIns="0" bIns="0" rtlCol="0" anchor="t"/>
          <a:lstStyle/>
          <a:p>
            <a:pPr marL="0" indent="0" algn="ctr">
              <a:buNone/>
            </a:pPr>
            <a:r>
              <a:rPr lang="en-US" sz="3600" b="1" dirty="0">
                <a:solidFill>
                  <a:srgbClr val="E0A13A"/>
                </a:solidFill>
                <a:latin typeface="Aptos" pitchFamily="34" charset="0"/>
                <a:ea typeface="Aptos" pitchFamily="34" charset="-122"/>
                <a:cs typeface="Aptos" pitchFamily="34" charset="-120"/>
              </a:rPr>
              <a:t>50</a:t>
            </a:r>
            <a:endParaRPr lang="en-US" sz="2000" dirty="0"/>
          </a:p>
        </p:txBody>
      </p:sp>
      <p:sp>
        <p:nvSpPr>
          <p:cNvPr id="17" name="Text 15"/>
          <p:cNvSpPr/>
          <p:nvPr/>
        </p:nvSpPr>
        <p:spPr>
          <a:xfrm>
            <a:off x="2029968" y="4901184"/>
            <a:ext cx="1554480" cy="237744"/>
          </a:xfrm>
          <a:prstGeom prst="rect">
            <a:avLst/>
          </a:prstGeom>
          <a:noFill/>
          <a:ln/>
        </p:spPr>
        <p:txBody>
          <a:bodyPr wrap="square" lIns="0" tIns="0" rIns="0" bIns="0" rtlCol="0" anchor="t">
            <a:normAutofit/>
          </a:bodyPr>
          <a:lstStyle/>
          <a:p>
            <a:pPr marL="0" indent="0" algn="ctr">
              <a:buNone/>
            </a:pPr>
            <a:r>
              <a:rPr lang="en-US" sz="1400" dirty="0">
                <a:solidFill>
                  <a:srgbClr val="52616B"/>
                </a:solidFill>
                <a:latin typeface="Aptos" pitchFamily="34" charset="0"/>
                <a:ea typeface="Aptos" pitchFamily="34" charset="-122"/>
                <a:cs typeface="Aptos" pitchFamily="34" charset="-120"/>
              </a:rPr>
              <a:t>questions/model</a:t>
            </a:r>
            <a:endParaRPr lang="en-US" sz="750" dirty="0"/>
          </a:p>
        </p:txBody>
      </p:sp>
      <p:sp>
        <p:nvSpPr>
          <p:cNvPr id="18" name="Text 16"/>
          <p:cNvSpPr/>
          <p:nvPr/>
        </p:nvSpPr>
        <p:spPr>
          <a:xfrm>
            <a:off x="3858768" y="4389120"/>
            <a:ext cx="1371600" cy="502920"/>
          </a:xfrm>
          <a:prstGeom prst="rect">
            <a:avLst/>
          </a:prstGeom>
          <a:noFill/>
          <a:ln/>
        </p:spPr>
        <p:txBody>
          <a:bodyPr wrap="square" lIns="0" tIns="0" rIns="0" bIns="0" rtlCol="0" anchor="t"/>
          <a:lstStyle/>
          <a:p>
            <a:pPr marL="0" indent="0" algn="ctr">
              <a:buNone/>
            </a:pPr>
            <a:r>
              <a:rPr lang="en-US" sz="3600" b="1" dirty="0">
                <a:solidFill>
                  <a:srgbClr val="E0A13A"/>
                </a:solidFill>
                <a:latin typeface="Aptos" pitchFamily="34" charset="0"/>
                <a:ea typeface="Aptos" pitchFamily="34" charset="-122"/>
                <a:cs typeface="Aptos" pitchFamily="34" charset="-120"/>
              </a:rPr>
              <a:t>5</a:t>
            </a:r>
            <a:endParaRPr lang="en-US" sz="2000" dirty="0"/>
          </a:p>
        </p:txBody>
      </p:sp>
      <p:sp>
        <p:nvSpPr>
          <p:cNvPr id="19" name="Text 17"/>
          <p:cNvSpPr/>
          <p:nvPr/>
        </p:nvSpPr>
        <p:spPr>
          <a:xfrm>
            <a:off x="3858768" y="4901184"/>
            <a:ext cx="1280160" cy="237744"/>
          </a:xfrm>
          <a:prstGeom prst="rect">
            <a:avLst/>
          </a:prstGeom>
          <a:noFill/>
          <a:ln/>
        </p:spPr>
        <p:txBody>
          <a:bodyPr wrap="square" lIns="0" tIns="0" rIns="0" bIns="0" rtlCol="0" anchor="t">
            <a:normAutofit/>
          </a:bodyPr>
          <a:lstStyle/>
          <a:p>
            <a:pPr marL="0" indent="0" algn="ctr">
              <a:buNone/>
            </a:pPr>
            <a:r>
              <a:rPr lang="en-US" sz="1400" dirty="0">
                <a:solidFill>
                  <a:srgbClr val="52616B"/>
                </a:solidFill>
                <a:latin typeface="Aptos" pitchFamily="34" charset="0"/>
                <a:ea typeface="Aptos" pitchFamily="34" charset="-122"/>
                <a:cs typeface="Aptos" pitchFamily="34" charset="-120"/>
              </a:rPr>
              <a:t>noise types</a:t>
            </a:r>
            <a:endParaRPr lang="en-US" sz="750" dirty="0"/>
          </a:p>
        </p:txBody>
      </p:sp>
      <p:sp>
        <p:nvSpPr>
          <p:cNvPr id="20" name="Oval 19"/>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Audience bridge</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The project in one sentence</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We take real medical questions, make them messy like real user input, try to repair them, then test whether LLM answers get better or worse.</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3 / 19</a:t>
            </a:r>
            <a:endParaRPr lang="en-US" sz="680" dirty="0"/>
          </a:p>
        </p:txBody>
      </p:sp>
      <p:sp>
        <p:nvSpPr>
          <p:cNvPr id="8" name="Shape 6"/>
          <p:cNvSpPr/>
          <p:nvPr/>
        </p:nvSpPr>
        <p:spPr>
          <a:xfrm>
            <a:off x="475488" y="1828800"/>
            <a:ext cx="2137867" cy="658368"/>
          </a:xfrm>
          <a:prstGeom prst="roundRect">
            <a:avLst>
              <a:gd name="adj" fmla="val 8333"/>
            </a:avLst>
          </a:prstGeom>
          <a:solidFill>
            <a:srgbClr val="F2F6F7"/>
          </a:solidFill>
          <a:ln w="8890">
            <a:solidFill>
              <a:srgbClr val="3867D6"/>
            </a:solidFill>
            <a:prstDash val="solid"/>
          </a:ln>
        </p:spPr>
        <p:txBody>
          <a:bodyPr/>
          <a:lstStyle/>
          <a:p>
            <a:endParaRPr lang="en-US"/>
          </a:p>
        </p:txBody>
      </p:sp>
      <p:sp>
        <p:nvSpPr>
          <p:cNvPr id="9" name="Text 7"/>
          <p:cNvSpPr/>
          <p:nvPr/>
        </p:nvSpPr>
        <p:spPr>
          <a:xfrm>
            <a:off x="548640" y="2002536"/>
            <a:ext cx="1991563" cy="219456"/>
          </a:xfrm>
          <a:prstGeom prst="rect">
            <a:avLst/>
          </a:prstGeom>
          <a:noFill/>
          <a:ln/>
        </p:spPr>
        <p:txBody>
          <a:bodyPr wrap="square" lIns="0" tIns="0" rIns="0" bIns="0" rtlCol="0" anchor="t">
            <a:normAutofit/>
          </a:bodyPr>
          <a:lstStyle/>
          <a:p>
            <a:pPr marL="0" indent="0" algn="ctr">
              <a:buNone/>
            </a:pPr>
            <a:r>
              <a:rPr lang="en-US" sz="1400" b="1" dirty="0">
                <a:solidFill>
                  <a:srgbClr val="25323D"/>
                </a:solidFill>
                <a:latin typeface="Aptos" pitchFamily="34" charset="0"/>
                <a:ea typeface="Aptos" pitchFamily="34" charset="-122"/>
                <a:cs typeface="Aptos" pitchFamily="34" charset="-120"/>
              </a:rPr>
              <a:t>Clean medical question</a:t>
            </a:r>
            <a:endParaRPr lang="en-US" sz="810" dirty="0"/>
          </a:p>
        </p:txBody>
      </p:sp>
      <p:sp>
        <p:nvSpPr>
          <p:cNvPr id="10" name="Text 8"/>
          <p:cNvSpPr/>
          <p:nvPr/>
        </p:nvSpPr>
        <p:spPr>
          <a:xfrm>
            <a:off x="2645359" y="2011680"/>
            <a:ext cx="73152" cy="201168"/>
          </a:xfrm>
          <a:prstGeom prst="rect">
            <a:avLst/>
          </a:prstGeom>
          <a:noFill/>
          <a:ln/>
        </p:spPr>
        <p:txBody>
          <a:bodyPr wrap="square" lIns="0" tIns="0" rIns="0" bIns="0" rtlCol="0" anchor="t"/>
          <a:lstStyle/>
          <a:p>
            <a:pPr marL="0" indent="0" algn="l">
              <a:buNone/>
            </a:pPr>
            <a:r>
              <a:rPr lang="en-US" sz="1400" b="1" dirty="0">
                <a:solidFill>
                  <a:srgbClr val="52616B"/>
                </a:solidFill>
                <a:latin typeface="Aptos" pitchFamily="34" charset="0"/>
                <a:ea typeface="Aptos" pitchFamily="34" charset="-122"/>
                <a:cs typeface="Aptos" pitchFamily="34" charset="-120"/>
              </a:rPr>
              <a:t>&gt;</a:t>
            </a:r>
            <a:endParaRPr lang="en-US" sz="1200" dirty="0"/>
          </a:p>
        </p:txBody>
      </p:sp>
      <p:sp>
        <p:nvSpPr>
          <p:cNvPr id="11" name="Shape 9"/>
          <p:cNvSpPr/>
          <p:nvPr/>
        </p:nvSpPr>
        <p:spPr>
          <a:xfrm>
            <a:off x="2741371" y="1828800"/>
            <a:ext cx="2137867" cy="658368"/>
          </a:xfrm>
          <a:prstGeom prst="roundRect">
            <a:avLst>
              <a:gd name="adj" fmla="val 8333"/>
            </a:avLst>
          </a:prstGeom>
          <a:solidFill>
            <a:srgbClr val="F2F6F7"/>
          </a:solidFill>
          <a:ln w="8890">
            <a:solidFill>
              <a:srgbClr val="E0A13A"/>
            </a:solidFill>
            <a:prstDash val="solid"/>
          </a:ln>
        </p:spPr>
        <p:txBody>
          <a:bodyPr/>
          <a:lstStyle/>
          <a:p>
            <a:endParaRPr lang="en-US"/>
          </a:p>
        </p:txBody>
      </p:sp>
      <p:sp>
        <p:nvSpPr>
          <p:cNvPr id="12" name="Text 10"/>
          <p:cNvSpPr/>
          <p:nvPr/>
        </p:nvSpPr>
        <p:spPr>
          <a:xfrm>
            <a:off x="2814523" y="2002536"/>
            <a:ext cx="1991563" cy="219456"/>
          </a:xfrm>
          <a:prstGeom prst="rect">
            <a:avLst/>
          </a:prstGeom>
          <a:noFill/>
          <a:ln/>
        </p:spPr>
        <p:txBody>
          <a:bodyPr wrap="square" lIns="0" tIns="0" rIns="0" bIns="0" rtlCol="0" anchor="t">
            <a:normAutofit/>
          </a:bodyPr>
          <a:lstStyle/>
          <a:p>
            <a:pPr marL="0" indent="0" algn="ctr">
              <a:buNone/>
            </a:pPr>
            <a:r>
              <a:rPr lang="en-US" sz="1400" b="1" dirty="0">
                <a:solidFill>
                  <a:srgbClr val="25323D"/>
                </a:solidFill>
                <a:latin typeface="Aptos" pitchFamily="34" charset="0"/>
                <a:ea typeface="Aptos" pitchFamily="34" charset="-122"/>
                <a:cs typeface="Aptos" pitchFamily="34" charset="-120"/>
              </a:rPr>
              <a:t>Noisy user question</a:t>
            </a:r>
            <a:endParaRPr lang="en-US" sz="810" dirty="0"/>
          </a:p>
        </p:txBody>
      </p:sp>
      <p:sp>
        <p:nvSpPr>
          <p:cNvPr id="13" name="Text 11"/>
          <p:cNvSpPr/>
          <p:nvPr/>
        </p:nvSpPr>
        <p:spPr>
          <a:xfrm>
            <a:off x="4911242" y="2011680"/>
            <a:ext cx="73152" cy="201168"/>
          </a:xfrm>
          <a:prstGeom prst="rect">
            <a:avLst/>
          </a:prstGeom>
          <a:noFill/>
          <a:ln/>
        </p:spPr>
        <p:txBody>
          <a:bodyPr wrap="square" lIns="0" tIns="0" rIns="0" bIns="0" rtlCol="0" anchor="t"/>
          <a:lstStyle/>
          <a:p>
            <a:pPr marL="0" indent="0" algn="l">
              <a:buNone/>
            </a:pPr>
            <a:r>
              <a:rPr lang="en-US" sz="1400" b="1" dirty="0">
                <a:solidFill>
                  <a:srgbClr val="52616B"/>
                </a:solidFill>
                <a:latin typeface="Aptos" pitchFamily="34" charset="0"/>
                <a:ea typeface="Aptos" pitchFamily="34" charset="-122"/>
                <a:cs typeface="Aptos" pitchFamily="34" charset="-120"/>
              </a:rPr>
              <a:t>&gt;</a:t>
            </a:r>
            <a:endParaRPr lang="en-US" sz="1200" dirty="0"/>
          </a:p>
        </p:txBody>
      </p:sp>
      <p:sp>
        <p:nvSpPr>
          <p:cNvPr id="14" name="Shape 12"/>
          <p:cNvSpPr/>
          <p:nvPr/>
        </p:nvSpPr>
        <p:spPr>
          <a:xfrm>
            <a:off x="5007254" y="1828800"/>
            <a:ext cx="2137867" cy="658368"/>
          </a:xfrm>
          <a:prstGeom prst="roundRect">
            <a:avLst>
              <a:gd name="adj" fmla="val 8333"/>
            </a:avLst>
          </a:prstGeom>
          <a:solidFill>
            <a:srgbClr val="F2F6F7"/>
          </a:solidFill>
          <a:ln w="8890">
            <a:solidFill>
              <a:srgbClr val="127C7A"/>
            </a:solidFill>
            <a:prstDash val="solid"/>
          </a:ln>
        </p:spPr>
        <p:txBody>
          <a:bodyPr/>
          <a:lstStyle/>
          <a:p>
            <a:endParaRPr lang="en-US"/>
          </a:p>
        </p:txBody>
      </p:sp>
      <p:sp>
        <p:nvSpPr>
          <p:cNvPr id="15" name="Text 13"/>
          <p:cNvSpPr/>
          <p:nvPr/>
        </p:nvSpPr>
        <p:spPr>
          <a:xfrm>
            <a:off x="5080406" y="2002536"/>
            <a:ext cx="1991563" cy="219456"/>
          </a:xfrm>
          <a:prstGeom prst="rect">
            <a:avLst/>
          </a:prstGeom>
          <a:noFill/>
          <a:ln/>
        </p:spPr>
        <p:txBody>
          <a:bodyPr wrap="square" lIns="0" tIns="0" rIns="0" bIns="0" rtlCol="0" anchor="t">
            <a:normAutofit/>
          </a:bodyPr>
          <a:lstStyle/>
          <a:p>
            <a:pPr marL="0" indent="0" algn="ctr">
              <a:buNone/>
            </a:pPr>
            <a:r>
              <a:rPr lang="en-US" sz="1400" b="1" dirty="0">
                <a:solidFill>
                  <a:srgbClr val="25323D"/>
                </a:solidFill>
                <a:latin typeface="Aptos" pitchFamily="34" charset="0"/>
                <a:ea typeface="Aptos" pitchFamily="34" charset="-122"/>
                <a:cs typeface="Aptos" pitchFamily="34" charset="-120"/>
              </a:rPr>
              <a:t>Repaired question</a:t>
            </a:r>
            <a:endParaRPr lang="en-US" sz="810" dirty="0"/>
          </a:p>
        </p:txBody>
      </p:sp>
      <p:sp>
        <p:nvSpPr>
          <p:cNvPr id="16" name="Text 14"/>
          <p:cNvSpPr/>
          <p:nvPr/>
        </p:nvSpPr>
        <p:spPr>
          <a:xfrm>
            <a:off x="7177126" y="2011680"/>
            <a:ext cx="73152" cy="201168"/>
          </a:xfrm>
          <a:prstGeom prst="rect">
            <a:avLst/>
          </a:prstGeom>
          <a:noFill/>
          <a:ln/>
        </p:spPr>
        <p:txBody>
          <a:bodyPr wrap="square" lIns="0" tIns="0" rIns="0" bIns="0" rtlCol="0" anchor="t"/>
          <a:lstStyle/>
          <a:p>
            <a:pPr marL="0" indent="0" algn="l">
              <a:buNone/>
            </a:pPr>
            <a:r>
              <a:rPr lang="en-US" sz="1400" b="1" dirty="0">
                <a:solidFill>
                  <a:srgbClr val="52616B"/>
                </a:solidFill>
                <a:latin typeface="Aptos" pitchFamily="34" charset="0"/>
                <a:ea typeface="Aptos" pitchFamily="34" charset="-122"/>
                <a:cs typeface="Aptos" pitchFamily="34" charset="-120"/>
              </a:rPr>
              <a:t>&gt;</a:t>
            </a:r>
            <a:endParaRPr lang="en-US" sz="1200" dirty="0"/>
          </a:p>
        </p:txBody>
      </p:sp>
      <p:sp>
        <p:nvSpPr>
          <p:cNvPr id="17" name="Shape 15"/>
          <p:cNvSpPr/>
          <p:nvPr/>
        </p:nvSpPr>
        <p:spPr>
          <a:xfrm>
            <a:off x="7273138" y="1828800"/>
            <a:ext cx="2137867" cy="658368"/>
          </a:xfrm>
          <a:prstGeom prst="roundRect">
            <a:avLst>
              <a:gd name="adj" fmla="val 8333"/>
            </a:avLst>
          </a:prstGeom>
          <a:solidFill>
            <a:srgbClr val="F2F6F7"/>
          </a:solidFill>
          <a:ln w="8890">
            <a:solidFill>
              <a:srgbClr val="2D9D78"/>
            </a:solidFill>
            <a:prstDash val="solid"/>
          </a:ln>
        </p:spPr>
        <p:txBody>
          <a:bodyPr/>
          <a:lstStyle/>
          <a:p>
            <a:endParaRPr lang="en-US"/>
          </a:p>
        </p:txBody>
      </p:sp>
      <p:sp>
        <p:nvSpPr>
          <p:cNvPr id="18" name="Text 16"/>
          <p:cNvSpPr/>
          <p:nvPr/>
        </p:nvSpPr>
        <p:spPr>
          <a:xfrm>
            <a:off x="7346290" y="2002536"/>
            <a:ext cx="1991563" cy="219456"/>
          </a:xfrm>
          <a:prstGeom prst="rect">
            <a:avLst/>
          </a:prstGeom>
          <a:noFill/>
          <a:ln/>
        </p:spPr>
        <p:txBody>
          <a:bodyPr wrap="square" lIns="0" tIns="0" rIns="0" bIns="0" rtlCol="0" anchor="t">
            <a:normAutofit/>
          </a:bodyPr>
          <a:lstStyle/>
          <a:p>
            <a:pPr marL="0" indent="0" algn="ctr">
              <a:buNone/>
            </a:pPr>
            <a:r>
              <a:rPr lang="en-US" sz="1400" b="1" dirty="0">
                <a:solidFill>
                  <a:srgbClr val="25323D"/>
                </a:solidFill>
                <a:latin typeface="Aptos" pitchFamily="34" charset="0"/>
                <a:ea typeface="Aptos" pitchFamily="34" charset="-122"/>
                <a:cs typeface="Aptos" pitchFamily="34" charset="-120"/>
              </a:rPr>
              <a:t>Model answer</a:t>
            </a:r>
            <a:endParaRPr lang="en-US" sz="810" dirty="0"/>
          </a:p>
        </p:txBody>
      </p:sp>
      <p:sp>
        <p:nvSpPr>
          <p:cNvPr id="19" name="Text 17"/>
          <p:cNvSpPr/>
          <p:nvPr/>
        </p:nvSpPr>
        <p:spPr>
          <a:xfrm>
            <a:off x="9443009" y="2011680"/>
            <a:ext cx="73152" cy="201168"/>
          </a:xfrm>
          <a:prstGeom prst="rect">
            <a:avLst/>
          </a:prstGeom>
          <a:noFill/>
          <a:ln/>
        </p:spPr>
        <p:txBody>
          <a:bodyPr wrap="square" lIns="0" tIns="0" rIns="0" bIns="0" rtlCol="0" anchor="t"/>
          <a:lstStyle/>
          <a:p>
            <a:pPr marL="0" indent="0" algn="l">
              <a:buNone/>
            </a:pPr>
            <a:r>
              <a:rPr lang="en-US" sz="1400" b="1" dirty="0">
                <a:solidFill>
                  <a:srgbClr val="52616B"/>
                </a:solidFill>
                <a:latin typeface="Aptos" pitchFamily="34" charset="0"/>
                <a:ea typeface="Aptos" pitchFamily="34" charset="-122"/>
                <a:cs typeface="Aptos" pitchFamily="34" charset="-120"/>
              </a:rPr>
              <a:t>&gt;</a:t>
            </a:r>
            <a:endParaRPr lang="en-US" sz="1200" dirty="0"/>
          </a:p>
        </p:txBody>
      </p:sp>
      <p:sp>
        <p:nvSpPr>
          <p:cNvPr id="20" name="Shape 18"/>
          <p:cNvSpPr/>
          <p:nvPr/>
        </p:nvSpPr>
        <p:spPr>
          <a:xfrm>
            <a:off x="9539021" y="1828800"/>
            <a:ext cx="2137867" cy="658368"/>
          </a:xfrm>
          <a:prstGeom prst="roundRect">
            <a:avLst>
              <a:gd name="adj" fmla="val 8333"/>
            </a:avLst>
          </a:prstGeom>
          <a:solidFill>
            <a:srgbClr val="F2F6F7"/>
          </a:solidFill>
          <a:ln w="8890">
            <a:solidFill>
              <a:srgbClr val="C94C4C"/>
            </a:solidFill>
            <a:prstDash val="solid"/>
          </a:ln>
        </p:spPr>
        <p:txBody>
          <a:bodyPr/>
          <a:lstStyle/>
          <a:p>
            <a:endParaRPr lang="en-US"/>
          </a:p>
        </p:txBody>
      </p:sp>
      <p:sp>
        <p:nvSpPr>
          <p:cNvPr id="21" name="Text 19"/>
          <p:cNvSpPr/>
          <p:nvPr/>
        </p:nvSpPr>
        <p:spPr>
          <a:xfrm>
            <a:off x="9612173" y="2002536"/>
            <a:ext cx="1991563" cy="219456"/>
          </a:xfrm>
          <a:prstGeom prst="rect">
            <a:avLst/>
          </a:prstGeom>
          <a:noFill/>
          <a:ln/>
        </p:spPr>
        <p:txBody>
          <a:bodyPr wrap="square" lIns="0" tIns="0" rIns="0" bIns="0" rtlCol="0" anchor="t">
            <a:normAutofit/>
          </a:bodyPr>
          <a:lstStyle/>
          <a:p>
            <a:pPr marL="0" indent="0" algn="ctr">
              <a:buNone/>
            </a:pPr>
            <a:r>
              <a:rPr lang="en-US" sz="1400" b="1" dirty="0">
                <a:solidFill>
                  <a:srgbClr val="25323D"/>
                </a:solidFill>
                <a:latin typeface="Aptos" pitchFamily="34" charset="0"/>
                <a:ea typeface="Aptos" pitchFamily="34" charset="-122"/>
                <a:cs typeface="Aptos" pitchFamily="34" charset="-120"/>
              </a:rPr>
              <a:t>Score vs reference</a:t>
            </a:r>
            <a:endParaRPr lang="en-US" sz="810" dirty="0"/>
          </a:p>
        </p:txBody>
      </p:sp>
      <p:sp>
        <p:nvSpPr>
          <p:cNvPr id="22" name="Shape 20"/>
          <p:cNvSpPr/>
          <p:nvPr/>
        </p:nvSpPr>
        <p:spPr>
          <a:xfrm>
            <a:off x="475488" y="2971800"/>
            <a:ext cx="5166360" cy="822960"/>
          </a:xfrm>
          <a:prstGeom prst="roundRect">
            <a:avLst>
              <a:gd name="adj" fmla="val 6667"/>
            </a:avLst>
          </a:prstGeom>
          <a:solidFill>
            <a:srgbClr val="F2F6F7"/>
          </a:solidFill>
          <a:ln w="8890">
            <a:solidFill>
              <a:srgbClr val="E0A13A"/>
            </a:solidFill>
            <a:prstDash val="solid"/>
          </a:ln>
        </p:spPr>
        <p:txBody>
          <a:bodyPr/>
          <a:lstStyle/>
          <a:p>
            <a:endParaRPr lang="en-US"/>
          </a:p>
        </p:txBody>
      </p:sp>
      <p:sp>
        <p:nvSpPr>
          <p:cNvPr id="23" name="Text 21"/>
          <p:cNvSpPr/>
          <p:nvPr/>
        </p:nvSpPr>
        <p:spPr>
          <a:xfrm>
            <a:off x="640080" y="3127248"/>
            <a:ext cx="1188720" cy="201168"/>
          </a:xfrm>
          <a:prstGeom prst="rect">
            <a:avLst/>
          </a:prstGeom>
          <a:noFill/>
          <a:ln/>
        </p:spPr>
        <p:txBody>
          <a:bodyPr wrap="square" lIns="0" tIns="0" rIns="0" bIns="0" rtlCol="0" anchor="t"/>
          <a:lstStyle/>
          <a:p>
            <a:pPr marL="0" indent="0" algn="l">
              <a:buNone/>
            </a:pPr>
            <a:r>
              <a:rPr lang="en-US" sz="1400" b="1" dirty="0">
                <a:solidFill>
                  <a:srgbClr val="E0A13A"/>
                </a:solidFill>
                <a:latin typeface="Aptos" pitchFamily="34" charset="0"/>
                <a:ea typeface="Aptos" pitchFamily="34" charset="-122"/>
                <a:cs typeface="Aptos" pitchFamily="34" charset="-120"/>
              </a:rPr>
              <a:t>Noise</a:t>
            </a:r>
            <a:endParaRPr lang="en-US" sz="1100" dirty="0"/>
          </a:p>
        </p:txBody>
      </p:sp>
      <p:sp>
        <p:nvSpPr>
          <p:cNvPr id="24" name="Text 22"/>
          <p:cNvSpPr/>
          <p:nvPr/>
        </p:nvSpPr>
        <p:spPr>
          <a:xfrm>
            <a:off x="1773936" y="3099816"/>
            <a:ext cx="3611880" cy="402336"/>
          </a:xfrm>
          <a:prstGeom prst="rect">
            <a:avLst/>
          </a:prstGeom>
          <a:noFill/>
          <a:ln/>
        </p:spPr>
        <p:txBody>
          <a:bodyPr wrap="square" lIns="0" tIns="0" rIns="0" bIns="0" rtlCol="0" anchor="t">
            <a:normAutofit/>
          </a:bodyPr>
          <a:lstStyle/>
          <a:p>
            <a:pPr marL="0" indent="0" algn="l">
              <a:buNone/>
            </a:pPr>
            <a:r>
              <a:rPr lang="en-US" sz="1400" dirty="0">
                <a:solidFill>
                  <a:srgbClr val="25323D"/>
                </a:solidFill>
                <a:latin typeface="Aptos" pitchFamily="34" charset="0"/>
                <a:ea typeface="Aptos" pitchFamily="34" charset="-122"/>
                <a:cs typeface="Aptos" pitchFamily="34" charset="-120"/>
              </a:rPr>
              <a:t>A controlled way of making the question harder: typo, vague phrasing, missing detail, layperson wording, or overgeneralization.</a:t>
            </a:r>
            <a:endParaRPr lang="en-US" sz="880" dirty="0"/>
          </a:p>
        </p:txBody>
      </p:sp>
      <p:sp>
        <p:nvSpPr>
          <p:cNvPr id="25" name="Shape 23"/>
          <p:cNvSpPr/>
          <p:nvPr/>
        </p:nvSpPr>
        <p:spPr>
          <a:xfrm>
            <a:off x="6099048" y="2971800"/>
            <a:ext cx="5166360" cy="822960"/>
          </a:xfrm>
          <a:prstGeom prst="roundRect">
            <a:avLst>
              <a:gd name="adj" fmla="val 6667"/>
            </a:avLst>
          </a:prstGeom>
          <a:solidFill>
            <a:srgbClr val="F2F6F7"/>
          </a:solidFill>
          <a:ln w="8890">
            <a:solidFill>
              <a:srgbClr val="127C7A"/>
            </a:solidFill>
            <a:prstDash val="solid"/>
          </a:ln>
        </p:spPr>
        <p:txBody>
          <a:bodyPr/>
          <a:lstStyle/>
          <a:p>
            <a:endParaRPr lang="en-US"/>
          </a:p>
        </p:txBody>
      </p:sp>
      <p:sp>
        <p:nvSpPr>
          <p:cNvPr id="26" name="Text 24"/>
          <p:cNvSpPr/>
          <p:nvPr/>
        </p:nvSpPr>
        <p:spPr>
          <a:xfrm>
            <a:off x="6263640" y="3127248"/>
            <a:ext cx="1188720" cy="201168"/>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Repair</a:t>
            </a:r>
            <a:endParaRPr lang="en-US" sz="1100" dirty="0"/>
          </a:p>
        </p:txBody>
      </p:sp>
      <p:sp>
        <p:nvSpPr>
          <p:cNvPr id="27" name="Text 25"/>
          <p:cNvSpPr/>
          <p:nvPr/>
        </p:nvSpPr>
        <p:spPr>
          <a:xfrm>
            <a:off x="7397496" y="3099816"/>
            <a:ext cx="3611880" cy="402336"/>
          </a:xfrm>
          <a:prstGeom prst="rect">
            <a:avLst/>
          </a:prstGeom>
          <a:noFill/>
          <a:ln/>
        </p:spPr>
        <p:txBody>
          <a:bodyPr wrap="square" lIns="0" tIns="0" rIns="0" bIns="0" rtlCol="0" anchor="t">
            <a:normAutofit/>
          </a:bodyPr>
          <a:lstStyle/>
          <a:p>
            <a:pPr marL="0" indent="0" algn="l">
              <a:buNone/>
            </a:pPr>
            <a:r>
              <a:rPr lang="en-US" sz="1400" dirty="0">
                <a:solidFill>
                  <a:srgbClr val="25323D"/>
                </a:solidFill>
                <a:latin typeface="Aptos" pitchFamily="34" charset="0"/>
                <a:ea typeface="Aptos" pitchFamily="34" charset="-122"/>
                <a:cs typeface="Aptos" pitchFamily="34" charset="-120"/>
              </a:rPr>
              <a:t>A rewrite step that tries to make the messy question clearer without answering it.</a:t>
            </a:r>
            <a:endParaRPr lang="en-US" sz="880" dirty="0"/>
          </a:p>
        </p:txBody>
      </p:sp>
      <p:sp>
        <p:nvSpPr>
          <p:cNvPr id="28" name="Shape 26"/>
          <p:cNvSpPr/>
          <p:nvPr/>
        </p:nvSpPr>
        <p:spPr>
          <a:xfrm>
            <a:off x="475488" y="4206240"/>
            <a:ext cx="5166360" cy="822960"/>
          </a:xfrm>
          <a:prstGeom prst="roundRect">
            <a:avLst>
              <a:gd name="adj" fmla="val 6667"/>
            </a:avLst>
          </a:prstGeom>
          <a:solidFill>
            <a:srgbClr val="F2F6F7"/>
          </a:solidFill>
          <a:ln w="8890">
            <a:solidFill>
              <a:srgbClr val="3867D6"/>
            </a:solidFill>
            <a:prstDash val="solid"/>
          </a:ln>
        </p:spPr>
        <p:txBody>
          <a:bodyPr/>
          <a:lstStyle/>
          <a:p>
            <a:endParaRPr lang="en-US"/>
          </a:p>
        </p:txBody>
      </p:sp>
      <p:sp>
        <p:nvSpPr>
          <p:cNvPr id="29" name="Text 27"/>
          <p:cNvSpPr/>
          <p:nvPr/>
        </p:nvSpPr>
        <p:spPr>
          <a:xfrm>
            <a:off x="640080" y="4361688"/>
            <a:ext cx="1188720" cy="201168"/>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Robustness</a:t>
            </a:r>
            <a:endParaRPr lang="en-US" sz="1100" dirty="0"/>
          </a:p>
        </p:txBody>
      </p:sp>
      <p:sp>
        <p:nvSpPr>
          <p:cNvPr id="30" name="Text 28"/>
          <p:cNvSpPr/>
          <p:nvPr/>
        </p:nvSpPr>
        <p:spPr>
          <a:xfrm>
            <a:off x="1773936" y="4334256"/>
            <a:ext cx="3611880" cy="402336"/>
          </a:xfrm>
          <a:prstGeom prst="rect">
            <a:avLst/>
          </a:prstGeom>
          <a:noFill/>
          <a:ln/>
        </p:spPr>
        <p:txBody>
          <a:bodyPr wrap="square" lIns="0" tIns="0" rIns="0" bIns="0" rtlCol="0" anchor="t">
            <a:normAutofit/>
          </a:bodyPr>
          <a:lstStyle/>
          <a:p>
            <a:pPr marL="0" indent="0" algn="l">
              <a:buNone/>
            </a:pPr>
            <a:r>
              <a:rPr lang="en-US" sz="1400" dirty="0">
                <a:solidFill>
                  <a:srgbClr val="25323D"/>
                </a:solidFill>
                <a:latin typeface="Aptos" pitchFamily="34" charset="0"/>
                <a:ea typeface="Aptos" pitchFamily="34" charset="-122"/>
                <a:cs typeface="Aptos" pitchFamily="34" charset="-120"/>
              </a:rPr>
              <a:t>Whether the model still gives a good answer when the user question is messy.</a:t>
            </a:r>
            <a:endParaRPr lang="en-US" sz="880" dirty="0"/>
          </a:p>
        </p:txBody>
      </p:sp>
      <p:sp>
        <p:nvSpPr>
          <p:cNvPr id="31" name="Shape 29"/>
          <p:cNvSpPr/>
          <p:nvPr/>
        </p:nvSpPr>
        <p:spPr>
          <a:xfrm>
            <a:off x="6099048" y="4206240"/>
            <a:ext cx="5166360" cy="822960"/>
          </a:xfrm>
          <a:prstGeom prst="roundRect">
            <a:avLst>
              <a:gd name="adj" fmla="val 6667"/>
            </a:avLst>
          </a:prstGeom>
          <a:solidFill>
            <a:srgbClr val="F2F6F7"/>
          </a:solidFill>
          <a:ln w="8890">
            <a:solidFill>
              <a:srgbClr val="2D9D78"/>
            </a:solidFill>
            <a:prstDash val="solid"/>
          </a:ln>
        </p:spPr>
        <p:txBody>
          <a:bodyPr/>
          <a:lstStyle/>
          <a:p>
            <a:endParaRPr lang="en-US"/>
          </a:p>
        </p:txBody>
      </p:sp>
      <p:sp>
        <p:nvSpPr>
          <p:cNvPr id="32" name="Text 30"/>
          <p:cNvSpPr/>
          <p:nvPr/>
        </p:nvSpPr>
        <p:spPr>
          <a:xfrm>
            <a:off x="6263640" y="4361688"/>
            <a:ext cx="1188720" cy="201168"/>
          </a:xfrm>
          <a:prstGeom prst="rect">
            <a:avLst/>
          </a:prstGeom>
          <a:noFill/>
          <a:ln/>
        </p:spPr>
        <p:txBody>
          <a:bodyPr wrap="square" lIns="0" tIns="0" rIns="0" bIns="0" rtlCol="0" anchor="t"/>
          <a:lstStyle/>
          <a:p>
            <a:pPr marL="0" indent="0" algn="l">
              <a:buNone/>
            </a:pPr>
            <a:r>
              <a:rPr lang="en-US" sz="1400" b="1" dirty="0">
                <a:solidFill>
                  <a:srgbClr val="2D9D78"/>
                </a:solidFill>
                <a:latin typeface="Aptos" pitchFamily="34" charset="0"/>
                <a:ea typeface="Aptos" pitchFamily="34" charset="-122"/>
                <a:cs typeface="Aptos" pitchFamily="34" charset="-120"/>
              </a:rPr>
              <a:t>Recovery</a:t>
            </a:r>
            <a:endParaRPr lang="en-US" sz="1100" dirty="0"/>
          </a:p>
        </p:txBody>
      </p:sp>
      <p:sp>
        <p:nvSpPr>
          <p:cNvPr id="33" name="Text 31"/>
          <p:cNvSpPr/>
          <p:nvPr/>
        </p:nvSpPr>
        <p:spPr>
          <a:xfrm>
            <a:off x="7397496" y="4334256"/>
            <a:ext cx="3611880" cy="402336"/>
          </a:xfrm>
          <a:prstGeom prst="rect">
            <a:avLst/>
          </a:prstGeom>
          <a:noFill/>
          <a:ln/>
        </p:spPr>
        <p:txBody>
          <a:bodyPr wrap="square" lIns="0" tIns="0" rIns="0" bIns="0" rtlCol="0" anchor="t">
            <a:normAutofit/>
          </a:bodyPr>
          <a:lstStyle/>
          <a:p>
            <a:pPr marL="0" indent="0" algn="l">
              <a:buNone/>
            </a:pPr>
            <a:r>
              <a:rPr lang="en-US" sz="1400" dirty="0">
                <a:solidFill>
                  <a:srgbClr val="25323D"/>
                </a:solidFill>
                <a:latin typeface="Aptos" pitchFamily="34" charset="0"/>
                <a:ea typeface="Aptos" pitchFamily="34" charset="-122"/>
                <a:cs typeface="Aptos" pitchFamily="34" charset="-120"/>
              </a:rPr>
              <a:t>Whether repair moves the answer back toward the clean-question answer and reference.</a:t>
            </a:r>
            <a:endParaRPr lang="en-US" sz="880" dirty="0"/>
          </a:p>
        </p:txBody>
      </p:sp>
      <p:sp>
        <p:nvSpPr>
          <p:cNvPr id="34" name="Oval 33"/>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Design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Two n=50 experiments separate fairness from realism.</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The project now compares a controlled repair setup with a practical self-repair workflow.</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4 / 19</a:t>
            </a:r>
            <a:endParaRPr lang="en-US" sz="680" dirty="0"/>
          </a:p>
        </p:txBody>
      </p:sp>
      <p:sp>
        <p:nvSpPr>
          <p:cNvPr id="8" name="Text 6"/>
          <p:cNvSpPr/>
          <p:nvPr/>
        </p:nvSpPr>
        <p:spPr>
          <a:xfrm>
            <a:off x="475488" y="1783080"/>
            <a:ext cx="1097280" cy="201168"/>
          </a:xfrm>
          <a:prstGeom prst="rect">
            <a:avLst/>
          </a:prstGeom>
          <a:noFill/>
          <a:ln/>
        </p:spPr>
        <p:txBody>
          <a:bodyPr wrap="square" lIns="0" tIns="0" rIns="0" bIns="0" rtlCol="0" anchor="t"/>
          <a:lstStyle/>
          <a:p>
            <a:pPr marL="0" indent="0" algn="l">
              <a:buNone/>
            </a:pPr>
            <a:r>
              <a:rPr lang="en-US" sz="1400" b="1" dirty="0">
                <a:solidFill>
                  <a:srgbClr val="52616B"/>
                </a:solidFill>
                <a:latin typeface="Aptos" pitchFamily="34" charset="0"/>
                <a:ea typeface="Aptos" pitchFamily="34" charset="-122"/>
                <a:cs typeface="Aptos" pitchFamily="34" charset="-120"/>
              </a:rPr>
              <a:t>Pipeline A</a:t>
            </a:r>
            <a:endParaRPr lang="en-US" sz="900" dirty="0"/>
          </a:p>
        </p:txBody>
      </p:sp>
      <p:sp>
        <p:nvSpPr>
          <p:cNvPr id="9" name="Text 7"/>
          <p:cNvSpPr/>
          <p:nvPr/>
        </p:nvSpPr>
        <p:spPr>
          <a:xfrm>
            <a:off x="1737360" y="1719072"/>
            <a:ext cx="5577840" cy="329184"/>
          </a:xfrm>
          <a:prstGeom prst="rect">
            <a:avLst/>
          </a:prstGeom>
          <a:noFill/>
          <a:ln/>
        </p:spPr>
        <p:txBody>
          <a:bodyPr wrap="square" lIns="0" tIns="0" rIns="0" bIns="0" rtlCol="0" anchor="t"/>
          <a:lstStyle/>
          <a:p>
            <a:pPr marL="0" indent="0" algn="l">
              <a:buNone/>
            </a:pPr>
            <a:r>
              <a:rPr lang="en-US" sz="1500" b="1" dirty="0">
                <a:solidFill>
                  <a:srgbClr val="127C7A"/>
                </a:solidFill>
                <a:latin typeface="Aptos" pitchFamily="34" charset="0"/>
                <a:ea typeface="Aptos" pitchFamily="34" charset="-122"/>
                <a:cs typeface="Aptos" pitchFamily="34" charset="-120"/>
              </a:rPr>
              <a:t>Clean question -&gt; answer model -&gt; clean answer</a:t>
            </a:r>
            <a:endParaRPr lang="en-US" sz="1500" dirty="0"/>
          </a:p>
        </p:txBody>
      </p:sp>
      <p:sp>
        <p:nvSpPr>
          <p:cNvPr id="10" name="Text 8"/>
          <p:cNvSpPr/>
          <p:nvPr/>
        </p:nvSpPr>
        <p:spPr>
          <a:xfrm>
            <a:off x="475488" y="2514600"/>
            <a:ext cx="1097280" cy="201168"/>
          </a:xfrm>
          <a:prstGeom prst="rect">
            <a:avLst/>
          </a:prstGeom>
          <a:noFill/>
          <a:ln/>
        </p:spPr>
        <p:txBody>
          <a:bodyPr wrap="square" lIns="0" tIns="0" rIns="0" bIns="0" rtlCol="0" anchor="t"/>
          <a:lstStyle/>
          <a:p>
            <a:pPr marL="0" indent="0" algn="l">
              <a:buNone/>
            </a:pPr>
            <a:r>
              <a:rPr lang="en-US" sz="1400" b="1" dirty="0">
                <a:solidFill>
                  <a:srgbClr val="52616B"/>
                </a:solidFill>
                <a:latin typeface="Aptos" pitchFamily="34" charset="0"/>
                <a:ea typeface="Aptos" pitchFamily="34" charset="-122"/>
                <a:cs typeface="Aptos" pitchFamily="34" charset="-120"/>
              </a:rPr>
              <a:t>Pipeline B</a:t>
            </a:r>
            <a:endParaRPr lang="en-US" sz="900" dirty="0"/>
          </a:p>
        </p:txBody>
      </p:sp>
      <p:sp>
        <p:nvSpPr>
          <p:cNvPr id="11" name="Text 9"/>
          <p:cNvSpPr/>
          <p:nvPr/>
        </p:nvSpPr>
        <p:spPr>
          <a:xfrm>
            <a:off x="1737360" y="2450592"/>
            <a:ext cx="5577840" cy="329184"/>
          </a:xfrm>
          <a:prstGeom prst="rect">
            <a:avLst/>
          </a:prstGeom>
          <a:noFill/>
          <a:ln/>
        </p:spPr>
        <p:txBody>
          <a:bodyPr wrap="square" lIns="0" tIns="0" rIns="0" bIns="0" rtlCol="0" anchor="t"/>
          <a:lstStyle/>
          <a:p>
            <a:pPr marL="0" indent="0" algn="l">
              <a:buNone/>
            </a:pPr>
            <a:r>
              <a:rPr lang="en-US" sz="1500" b="1" dirty="0">
                <a:solidFill>
                  <a:srgbClr val="E0A13A"/>
                </a:solidFill>
                <a:latin typeface="Aptos" pitchFamily="34" charset="0"/>
                <a:ea typeface="Aptos" pitchFamily="34" charset="-122"/>
                <a:cs typeface="Aptos" pitchFamily="34" charset="-120"/>
              </a:rPr>
              <a:t>Noisy question -&gt; answer model -&gt; noisy answer</a:t>
            </a:r>
            <a:endParaRPr lang="en-US" sz="1500" dirty="0"/>
          </a:p>
        </p:txBody>
      </p:sp>
      <p:sp>
        <p:nvSpPr>
          <p:cNvPr id="12" name="Text 10"/>
          <p:cNvSpPr/>
          <p:nvPr/>
        </p:nvSpPr>
        <p:spPr>
          <a:xfrm>
            <a:off x="475488" y="3246120"/>
            <a:ext cx="1097280" cy="201168"/>
          </a:xfrm>
          <a:prstGeom prst="rect">
            <a:avLst/>
          </a:prstGeom>
          <a:noFill/>
          <a:ln/>
        </p:spPr>
        <p:txBody>
          <a:bodyPr wrap="square" lIns="0" tIns="0" rIns="0" bIns="0" rtlCol="0" anchor="t"/>
          <a:lstStyle/>
          <a:p>
            <a:pPr marL="0" indent="0" algn="l">
              <a:buNone/>
            </a:pPr>
            <a:r>
              <a:rPr lang="en-US" sz="1400" b="1" dirty="0">
                <a:solidFill>
                  <a:srgbClr val="52616B"/>
                </a:solidFill>
                <a:latin typeface="Aptos" pitchFamily="34" charset="0"/>
                <a:ea typeface="Aptos" pitchFamily="34" charset="-122"/>
                <a:cs typeface="Aptos" pitchFamily="34" charset="-120"/>
              </a:rPr>
              <a:t>Pipeline C</a:t>
            </a:r>
            <a:endParaRPr lang="en-US" sz="900" dirty="0"/>
          </a:p>
        </p:txBody>
      </p:sp>
      <p:sp>
        <p:nvSpPr>
          <p:cNvPr id="13" name="Text 11"/>
          <p:cNvSpPr/>
          <p:nvPr/>
        </p:nvSpPr>
        <p:spPr>
          <a:xfrm>
            <a:off x="1737360" y="3182112"/>
            <a:ext cx="6949440" cy="329184"/>
          </a:xfrm>
          <a:prstGeom prst="rect">
            <a:avLst/>
          </a:prstGeom>
          <a:noFill/>
          <a:ln/>
        </p:spPr>
        <p:txBody>
          <a:bodyPr wrap="square" lIns="0" tIns="0" rIns="0" bIns="0" rtlCol="0" anchor="t"/>
          <a:lstStyle/>
          <a:p>
            <a:pPr marL="0" indent="0" algn="l">
              <a:buNone/>
            </a:pPr>
            <a:r>
              <a:rPr lang="en-US" sz="1500" b="1" dirty="0">
                <a:solidFill>
                  <a:srgbClr val="127C7A"/>
                </a:solidFill>
                <a:latin typeface="Aptos" pitchFamily="34" charset="0"/>
                <a:ea typeface="Aptos" pitchFamily="34" charset="-122"/>
                <a:cs typeface="Aptos" pitchFamily="34" charset="-120"/>
              </a:rPr>
              <a:t>Noisy question -&gt; repair -&gt; answer model -&gt; repaired answer</a:t>
            </a:r>
            <a:endParaRPr lang="en-US" sz="1500" dirty="0"/>
          </a:p>
        </p:txBody>
      </p:sp>
      <p:sp>
        <p:nvSpPr>
          <p:cNvPr id="14" name="Shape 12"/>
          <p:cNvSpPr/>
          <p:nvPr/>
        </p:nvSpPr>
        <p:spPr>
          <a:xfrm>
            <a:off x="475488" y="4389120"/>
            <a:ext cx="5257800" cy="960120"/>
          </a:xfrm>
          <a:prstGeom prst="roundRect">
            <a:avLst>
              <a:gd name="adj" fmla="val 5714"/>
            </a:avLst>
          </a:prstGeom>
          <a:solidFill>
            <a:srgbClr val="FFFFFF"/>
          </a:solidFill>
          <a:ln w="8890">
            <a:solidFill>
              <a:srgbClr val="D9E2E8"/>
            </a:solidFill>
            <a:prstDash val="solid"/>
          </a:ln>
        </p:spPr>
        <p:txBody>
          <a:bodyPr/>
          <a:lstStyle/>
          <a:p>
            <a:endParaRPr lang="en-US"/>
          </a:p>
        </p:txBody>
      </p:sp>
      <p:sp>
        <p:nvSpPr>
          <p:cNvPr id="15" name="Text 13"/>
          <p:cNvSpPr/>
          <p:nvPr/>
        </p:nvSpPr>
        <p:spPr>
          <a:xfrm>
            <a:off x="676656" y="4617720"/>
            <a:ext cx="1417320" cy="219456"/>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fixed_repair</a:t>
            </a:r>
            <a:endParaRPr lang="en-US" sz="1200" dirty="0"/>
          </a:p>
        </p:txBody>
      </p:sp>
      <p:sp>
        <p:nvSpPr>
          <p:cNvPr id="16" name="Text 14"/>
          <p:cNvSpPr/>
          <p:nvPr/>
        </p:nvSpPr>
        <p:spPr>
          <a:xfrm>
            <a:off x="2121408" y="4553712"/>
            <a:ext cx="3246120" cy="365760"/>
          </a:xfrm>
          <a:prstGeom prst="rect">
            <a:avLst/>
          </a:prstGeom>
          <a:noFill/>
          <a:ln/>
        </p:spPr>
        <p:txBody>
          <a:bodyPr wrap="square" lIns="0" tIns="0" rIns="0" bIns="0" rtlCol="0" anchor="t">
            <a:normAutofit/>
          </a:bodyPr>
          <a:lstStyle/>
          <a:p>
            <a:pPr marL="0" indent="0" algn="l">
              <a:buNone/>
            </a:pPr>
            <a:r>
              <a:rPr lang="en-US" sz="1400" dirty="0">
                <a:solidFill>
                  <a:srgbClr val="25323D"/>
                </a:solidFill>
                <a:latin typeface="Aptos" pitchFamily="34" charset="0"/>
                <a:ea typeface="Aptos" pitchFamily="34" charset="-122"/>
                <a:cs typeface="Aptos" pitchFamily="34" charset="-120"/>
              </a:rPr>
              <a:t>All 11 models see the same clean, noisy, and repaired questions. Best for apples-to-apples comparison.</a:t>
            </a:r>
            <a:endParaRPr lang="en-US" sz="920" dirty="0"/>
          </a:p>
        </p:txBody>
      </p:sp>
      <p:sp>
        <p:nvSpPr>
          <p:cNvPr id="17" name="Shape 15"/>
          <p:cNvSpPr/>
          <p:nvPr/>
        </p:nvSpPr>
        <p:spPr>
          <a:xfrm>
            <a:off x="6355080" y="4389120"/>
            <a:ext cx="5257800" cy="960120"/>
          </a:xfrm>
          <a:prstGeom prst="roundRect">
            <a:avLst>
              <a:gd name="adj" fmla="val 5714"/>
            </a:avLst>
          </a:prstGeom>
          <a:solidFill>
            <a:srgbClr val="FFFFFF"/>
          </a:solidFill>
          <a:ln w="8890">
            <a:solidFill>
              <a:srgbClr val="D9E2E8"/>
            </a:solidFill>
            <a:prstDash val="solid"/>
          </a:ln>
        </p:spPr>
        <p:txBody>
          <a:bodyPr/>
          <a:lstStyle/>
          <a:p>
            <a:endParaRPr lang="en-US"/>
          </a:p>
        </p:txBody>
      </p:sp>
      <p:sp>
        <p:nvSpPr>
          <p:cNvPr id="18" name="Text 16"/>
          <p:cNvSpPr/>
          <p:nvPr/>
        </p:nvSpPr>
        <p:spPr>
          <a:xfrm>
            <a:off x="6556248" y="4617720"/>
            <a:ext cx="1417320" cy="219456"/>
          </a:xfrm>
          <a:prstGeom prst="rect">
            <a:avLst/>
          </a:prstGeom>
          <a:noFill/>
          <a:ln/>
        </p:spPr>
        <p:txBody>
          <a:bodyPr wrap="square" lIns="0" tIns="0" rIns="0" bIns="0" rtlCol="0" anchor="t"/>
          <a:lstStyle/>
          <a:p>
            <a:pPr marL="0" indent="0" algn="l">
              <a:buNone/>
            </a:pPr>
            <a:r>
              <a:rPr lang="en-US" sz="1400" b="1" dirty="0">
                <a:solidFill>
                  <a:srgbClr val="E0A13A"/>
                </a:solidFill>
                <a:latin typeface="Aptos" pitchFamily="34" charset="0"/>
                <a:ea typeface="Aptos" pitchFamily="34" charset="-122"/>
                <a:cs typeface="Aptos" pitchFamily="34" charset="-120"/>
              </a:rPr>
              <a:t>self_repair</a:t>
            </a:r>
            <a:endParaRPr lang="en-US" sz="1200" dirty="0"/>
          </a:p>
        </p:txBody>
      </p:sp>
      <p:sp>
        <p:nvSpPr>
          <p:cNvPr id="19" name="Text 17"/>
          <p:cNvSpPr/>
          <p:nvPr/>
        </p:nvSpPr>
        <p:spPr>
          <a:xfrm>
            <a:off x="7818120" y="4553712"/>
            <a:ext cx="3337560" cy="365760"/>
          </a:xfrm>
          <a:prstGeom prst="rect">
            <a:avLst/>
          </a:prstGeom>
          <a:noFill/>
          <a:ln/>
        </p:spPr>
        <p:txBody>
          <a:bodyPr wrap="square" lIns="0" tIns="0" rIns="0" bIns="0" rtlCol="0" anchor="t">
            <a:normAutofit/>
          </a:bodyPr>
          <a:lstStyle/>
          <a:p>
            <a:pPr marL="0" indent="0" algn="l">
              <a:buNone/>
            </a:pPr>
            <a:r>
              <a:rPr lang="en-US" sz="1400" dirty="0">
                <a:solidFill>
                  <a:srgbClr val="25323D"/>
                </a:solidFill>
                <a:latin typeface="Aptos" pitchFamily="34" charset="0"/>
                <a:ea typeface="Aptos" pitchFamily="34" charset="-122"/>
                <a:cs typeface="Aptos" pitchFamily="34" charset="-120"/>
              </a:rPr>
              <a:t>All models see the same noisy questions, then each model repairs its own input. Best for practical workflow behavior.</a:t>
            </a:r>
            <a:endParaRPr lang="en-US" sz="920" dirty="0"/>
          </a:p>
        </p:txBody>
      </p:sp>
      <p:sp>
        <p:nvSpPr>
          <p:cNvPr id="20" name="Oval 19"/>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Setup</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What was tested</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The completed n=50 pilot uses 11 answer models, five evenly assigned noise types, and 11 metrics per pipeline.</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5 / 19</a:t>
            </a:r>
            <a:endParaRPr lang="en-US" sz="680" dirty="0"/>
          </a:p>
        </p:txBody>
      </p:sp>
      <p:sp>
        <p:nvSpPr>
          <p:cNvPr id="8" name="Text 6"/>
          <p:cNvSpPr/>
          <p:nvPr/>
        </p:nvSpPr>
        <p:spPr>
          <a:xfrm>
            <a:off x="475488" y="1600200"/>
            <a:ext cx="1371600" cy="502920"/>
          </a:xfrm>
          <a:prstGeom prst="rect">
            <a:avLst/>
          </a:prstGeom>
          <a:noFill/>
          <a:ln/>
        </p:spPr>
        <p:txBody>
          <a:bodyPr wrap="square" lIns="0" tIns="0" rIns="0" bIns="0" rtlCol="0" anchor="t"/>
          <a:lstStyle/>
          <a:p>
            <a:pPr marL="0" indent="0" algn="l">
              <a:buNone/>
            </a:pPr>
            <a:r>
              <a:rPr lang="en-US" sz="3600" b="1" dirty="0">
                <a:solidFill>
                  <a:srgbClr val="E0A13A"/>
                </a:solidFill>
                <a:latin typeface="Aptos" pitchFamily="34" charset="0"/>
                <a:ea typeface="Aptos" pitchFamily="34" charset="-122"/>
                <a:cs typeface="Aptos" pitchFamily="34" charset="-120"/>
              </a:rPr>
              <a:t>11</a:t>
            </a:r>
            <a:endParaRPr lang="en-US" sz="2400" dirty="0"/>
          </a:p>
        </p:txBody>
      </p:sp>
      <p:sp>
        <p:nvSpPr>
          <p:cNvPr id="9" name="Text 7"/>
          <p:cNvSpPr/>
          <p:nvPr/>
        </p:nvSpPr>
        <p:spPr>
          <a:xfrm>
            <a:off x="475488" y="2148840"/>
            <a:ext cx="2331720" cy="201168"/>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answer models</a:t>
            </a:r>
            <a:endParaRPr lang="en-US" sz="1000" dirty="0"/>
          </a:p>
        </p:txBody>
      </p:sp>
      <p:sp>
        <p:nvSpPr>
          <p:cNvPr id="10" name="Text 8"/>
          <p:cNvSpPr/>
          <p:nvPr/>
        </p:nvSpPr>
        <p:spPr>
          <a:xfrm>
            <a:off x="475488" y="2450592"/>
            <a:ext cx="2331720" cy="310896"/>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GPT-5.4 plus open-weight local/API models</a:t>
            </a:r>
            <a:endParaRPr lang="en-US" sz="800" dirty="0"/>
          </a:p>
        </p:txBody>
      </p:sp>
      <p:sp>
        <p:nvSpPr>
          <p:cNvPr id="11" name="Text 9"/>
          <p:cNvSpPr/>
          <p:nvPr/>
        </p:nvSpPr>
        <p:spPr>
          <a:xfrm>
            <a:off x="3264408" y="1600200"/>
            <a:ext cx="1371600" cy="502920"/>
          </a:xfrm>
          <a:prstGeom prst="rect">
            <a:avLst/>
          </a:prstGeom>
          <a:noFill/>
          <a:ln/>
        </p:spPr>
        <p:txBody>
          <a:bodyPr wrap="square" lIns="0" tIns="0" rIns="0" bIns="0" rtlCol="0" anchor="t"/>
          <a:lstStyle/>
          <a:p>
            <a:pPr marL="0" indent="0" algn="l">
              <a:buNone/>
            </a:pPr>
            <a:r>
              <a:rPr lang="en-US" sz="3600" b="1" dirty="0">
                <a:solidFill>
                  <a:srgbClr val="E0A13A"/>
                </a:solidFill>
                <a:latin typeface="Aptos" pitchFamily="34" charset="0"/>
                <a:ea typeface="Aptos" pitchFamily="34" charset="-122"/>
                <a:cs typeface="Aptos" pitchFamily="34" charset="-120"/>
              </a:rPr>
              <a:t>50</a:t>
            </a:r>
            <a:endParaRPr lang="en-US" sz="2400" dirty="0"/>
          </a:p>
        </p:txBody>
      </p:sp>
      <p:sp>
        <p:nvSpPr>
          <p:cNvPr id="12" name="Text 10"/>
          <p:cNvSpPr/>
          <p:nvPr/>
        </p:nvSpPr>
        <p:spPr>
          <a:xfrm>
            <a:off x="3264408" y="2148840"/>
            <a:ext cx="2331720" cy="201168"/>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questions/model</a:t>
            </a:r>
            <a:endParaRPr lang="en-US" sz="1000" dirty="0"/>
          </a:p>
        </p:txBody>
      </p:sp>
      <p:sp>
        <p:nvSpPr>
          <p:cNvPr id="13" name="Text 11"/>
          <p:cNvSpPr/>
          <p:nvPr/>
        </p:nvSpPr>
        <p:spPr>
          <a:xfrm>
            <a:off x="3264408" y="2450592"/>
            <a:ext cx="2331720" cy="310896"/>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same pilot scale across both modes</a:t>
            </a:r>
            <a:endParaRPr lang="en-US" sz="800" dirty="0"/>
          </a:p>
        </p:txBody>
      </p:sp>
      <p:sp>
        <p:nvSpPr>
          <p:cNvPr id="14" name="Text 12"/>
          <p:cNvSpPr/>
          <p:nvPr/>
        </p:nvSpPr>
        <p:spPr>
          <a:xfrm>
            <a:off x="6053328" y="1600200"/>
            <a:ext cx="1371600" cy="502920"/>
          </a:xfrm>
          <a:prstGeom prst="rect">
            <a:avLst/>
          </a:prstGeom>
          <a:noFill/>
          <a:ln/>
        </p:spPr>
        <p:txBody>
          <a:bodyPr wrap="square" lIns="0" tIns="0" rIns="0" bIns="0" rtlCol="0" anchor="t"/>
          <a:lstStyle/>
          <a:p>
            <a:pPr marL="0" indent="0" algn="l">
              <a:buNone/>
            </a:pPr>
            <a:r>
              <a:rPr lang="en-US" sz="3600" b="1" dirty="0">
                <a:solidFill>
                  <a:srgbClr val="E0A13A"/>
                </a:solidFill>
                <a:latin typeface="Aptos" pitchFamily="34" charset="0"/>
                <a:ea typeface="Aptos" pitchFamily="34" charset="-122"/>
                <a:cs typeface="Aptos" pitchFamily="34" charset="-120"/>
              </a:rPr>
              <a:t>5</a:t>
            </a:r>
            <a:endParaRPr lang="en-US" sz="2400" dirty="0"/>
          </a:p>
        </p:txBody>
      </p:sp>
      <p:sp>
        <p:nvSpPr>
          <p:cNvPr id="15" name="Text 13"/>
          <p:cNvSpPr/>
          <p:nvPr/>
        </p:nvSpPr>
        <p:spPr>
          <a:xfrm>
            <a:off x="6053328" y="2148840"/>
            <a:ext cx="2331720" cy="201168"/>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noise types</a:t>
            </a:r>
            <a:endParaRPr lang="en-US" sz="1000" dirty="0"/>
          </a:p>
        </p:txBody>
      </p:sp>
      <p:sp>
        <p:nvSpPr>
          <p:cNvPr id="16" name="Text 14"/>
          <p:cNvSpPr/>
          <p:nvPr/>
        </p:nvSpPr>
        <p:spPr>
          <a:xfrm>
            <a:off x="6053328" y="2450592"/>
            <a:ext cx="2331720" cy="310896"/>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10 examples each per model</a:t>
            </a:r>
            <a:endParaRPr lang="en-US" sz="800" dirty="0"/>
          </a:p>
        </p:txBody>
      </p:sp>
      <p:sp>
        <p:nvSpPr>
          <p:cNvPr id="17" name="Text 15"/>
          <p:cNvSpPr/>
          <p:nvPr/>
        </p:nvSpPr>
        <p:spPr>
          <a:xfrm>
            <a:off x="8842248" y="1600200"/>
            <a:ext cx="1371600" cy="502920"/>
          </a:xfrm>
          <a:prstGeom prst="rect">
            <a:avLst/>
          </a:prstGeom>
          <a:noFill/>
          <a:ln/>
        </p:spPr>
        <p:txBody>
          <a:bodyPr wrap="square" lIns="0" tIns="0" rIns="0" bIns="0" rtlCol="0" anchor="t"/>
          <a:lstStyle/>
          <a:p>
            <a:pPr marL="0" indent="0" algn="l">
              <a:buNone/>
            </a:pPr>
            <a:r>
              <a:rPr lang="en-US" sz="3600" b="1" dirty="0">
                <a:solidFill>
                  <a:srgbClr val="E0A13A"/>
                </a:solidFill>
                <a:latin typeface="Aptos" pitchFamily="34" charset="0"/>
                <a:ea typeface="Aptos" pitchFamily="34" charset="-122"/>
                <a:cs typeface="Aptos" pitchFamily="34" charset="-120"/>
              </a:rPr>
              <a:t>550</a:t>
            </a:r>
            <a:endParaRPr lang="en-US" sz="2400" dirty="0"/>
          </a:p>
        </p:txBody>
      </p:sp>
      <p:sp>
        <p:nvSpPr>
          <p:cNvPr id="18" name="Text 16"/>
          <p:cNvSpPr/>
          <p:nvPr/>
        </p:nvSpPr>
        <p:spPr>
          <a:xfrm>
            <a:off x="8842248" y="2148840"/>
            <a:ext cx="2331720" cy="201168"/>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rows/mode</a:t>
            </a:r>
            <a:endParaRPr lang="en-US" sz="1000" dirty="0"/>
          </a:p>
        </p:txBody>
      </p:sp>
      <p:sp>
        <p:nvSpPr>
          <p:cNvPr id="19" name="Text 17"/>
          <p:cNvSpPr/>
          <p:nvPr/>
        </p:nvSpPr>
        <p:spPr>
          <a:xfrm>
            <a:off x="8842248" y="2450592"/>
            <a:ext cx="2331720" cy="310896"/>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11 models x 50 questions</a:t>
            </a:r>
            <a:endParaRPr lang="en-US" sz="800" dirty="0"/>
          </a:p>
        </p:txBody>
      </p:sp>
      <p:sp>
        <p:nvSpPr>
          <p:cNvPr id="20" name="Shape 18"/>
          <p:cNvSpPr/>
          <p:nvPr/>
        </p:nvSpPr>
        <p:spPr>
          <a:xfrm>
            <a:off x="475488" y="3337560"/>
            <a:ext cx="6492240" cy="402336"/>
          </a:xfrm>
          <a:prstGeom prst="rect">
            <a:avLst/>
          </a:prstGeom>
          <a:solidFill>
            <a:srgbClr val="25323D"/>
          </a:solidFill>
          <a:ln w="8890">
            <a:solidFill>
              <a:srgbClr val="25323D"/>
            </a:solidFill>
            <a:prstDash val="solid"/>
          </a:ln>
        </p:spPr>
        <p:txBody>
          <a:bodyPr/>
          <a:lstStyle/>
          <a:p>
            <a:endParaRPr lang="en-US"/>
          </a:p>
        </p:txBody>
      </p:sp>
      <p:sp>
        <p:nvSpPr>
          <p:cNvPr id="21" name="Text 19"/>
          <p:cNvSpPr/>
          <p:nvPr/>
        </p:nvSpPr>
        <p:spPr>
          <a:xfrm>
            <a:off x="521208" y="3392424"/>
            <a:ext cx="1828800" cy="329184"/>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Noise type</a:t>
            </a:r>
            <a:endParaRPr lang="en-US" sz="770" dirty="0"/>
          </a:p>
        </p:txBody>
      </p:sp>
      <p:sp>
        <p:nvSpPr>
          <p:cNvPr id="22" name="Text 20"/>
          <p:cNvSpPr/>
          <p:nvPr/>
        </p:nvSpPr>
        <p:spPr>
          <a:xfrm>
            <a:off x="2441448" y="3392424"/>
            <a:ext cx="4480560" cy="329184"/>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What it simulates</a:t>
            </a:r>
            <a:endParaRPr lang="en-US" sz="770" dirty="0"/>
          </a:p>
        </p:txBody>
      </p:sp>
      <p:sp>
        <p:nvSpPr>
          <p:cNvPr id="23" name="Shape 21"/>
          <p:cNvSpPr/>
          <p:nvPr/>
        </p:nvSpPr>
        <p:spPr>
          <a:xfrm>
            <a:off x="475488" y="3739896"/>
            <a:ext cx="6492240" cy="402336"/>
          </a:xfrm>
          <a:prstGeom prst="rect">
            <a:avLst/>
          </a:prstGeom>
          <a:solidFill>
            <a:srgbClr val="F2F6F7"/>
          </a:solidFill>
          <a:ln w="8890">
            <a:solidFill>
              <a:srgbClr val="D9E2E8"/>
            </a:solidFill>
            <a:prstDash val="solid"/>
          </a:ln>
        </p:spPr>
        <p:txBody>
          <a:bodyPr/>
          <a:lstStyle/>
          <a:p>
            <a:endParaRPr lang="en-US"/>
          </a:p>
        </p:txBody>
      </p:sp>
      <p:sp>
        <p:nvSpPr>
          <p:cNvPr id="24" name="Text 22"/>
          <p:cNvSpPr/>
          <p:nvPr/>
        </p:nvSpPr>
        <p:spPr>
          <a:xfrm>
            <a:off x="521208" y="3790188"/>
            <a:ext cx="182880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typos_grammar</a:t>
            </a:r>
            <a:endParaRPr lang="en-US" sz="730" dirty="0"/>
          </a:p>
        </p:txBody>
      </p:sp>
      <p:sp>
        <p:nvSpPr>
          <p:cNvPr id="25" name="Text 23"/>
          <p:cNvSpPr/>
          <p:nvPr/>
        </p:nvSpPr>
        <p:spPr>
          <a:xfrm>
            <a:off x="2441448" y="3790188"/>
            <a:ext cx="44805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spelling, punctuation, casing, grammar slips</a:t>
            </a:r>
            <a:endParaRPr lang="en-US" sz="730" dirty="0"/>
          </a:p>
        </p:txBody>
      </p:sp>
      <p:sp>
        <p:nvSpPr>
          <p:cNvPr id="26" name="Shape 24"/>
          <p:cNvSpPr/>
          <p:nvPr/>
        </p:nvSpPr>
        <p:spPr>
          <a:xfrm>
            <a:off x="475488" y="4142232"/>
            <a:ext cx="6492240" cy="402336"/>
          </a:xfrm>
          <a:prstGeom prst="rect">
            <a:avLst/>
          </a:prstGeom>
          <a:solidFill>
            <a:srgbClr val="FFFFFF"/>
          </a:solidFill>
          <a:ln w="8890">
            <a:solidFill>
              <a:srgbClr val="D9E2E8"/>
            </a:solidFill>
            <a:prstDash val="solid"/>
          </a:ln>
        </p:spPr>
        <p:txBody>
          <a:bodyPr/>
          <a:lstStyle/>
          <a:p>
            <a:endParaRPr lang="en-US"/>
          </a:p>
        </p:txBody>
      </p:sp>
      <p:sp>
        <p:nvSpPr>
          <p:cNvPr id="27" name="Text 25"/>
          <p:cNvSpPr/>
          <p:nvPr/>
        </p:nvSpPr>
        <p:spPr>
          <a:xfrm>
            <a:off x="521208" y="4192524"/>
            <a:ext cx="182880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ambiguity</a:t>
            </a:r>
            <a:endParaRPr lang="en-US" sz="730" dirty="0"/>
          </a:p>
        </p:txBody>
      </p:sp>
      <p:sp>
        <p:nvSpPr>
          <p:cNvPr id="28" name="Text 26"/>
          <p:cNvSpPr/>
          <p:nvPr/>
        </p:nvSpPr>
        <p:spPr>
          <a:xfrm>
            <a:off x="2441448" y="4192524"/>
            <a:ext cx="44805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blurred or underspecified medical detail</a:t>
            </a:r>
            <a:endParaRPr lang="en-US" sz="730" dirty="0"/>
          </a:p>
        </p:txBody>
      </p:sp>
      <p:sp>
        <p:nvSpPr>
          <p:cNvPr id="29" name="Shape 27"/>
          <p:cNvSpPr/>
          <p:nvPr/>
        </p:nvSpPr>
        <p:spPr>
          <a:xfrm>
            <a:off x="475488" y="4544568"/>
            <a:ext cx="6492240" cy="402336"/>
          </a:xfrm>
          <a:prstGeom prst="rect">
            <a:avLst/>
          </a:prstGeom>
          <a:solidFill>
            <a:srgbClr val="F2F6F7"/>
          </a:solidFill>
          <a:ln w="8890">
            <a:solidFill>
              <a:srgbClr val="D9E2E8"/>
            </a:solidFill>
            <a:prstDash val="solid"/>
          </a:ln>
        </p:spPr>
        <p:txBody>
          <a:bodyPr/>
          <a:lstStyle/>
          <a:p>
            <a:endParaRPr lang="en-US"/>
          </a:p>
        </p:txBody>
      </p:sp>
      <p:sp>
        <p:nvSpPr>
          <p:cNvPr id="30" name="Text 28"/>
          <p:cNvSpPr/>
          <p:nvPr/>
        </p:nvSpPr>
        <p:spPr>
          <a:xfrm>
            <a:off x="521208" y="4594860"/>
            <a:ext cx="182880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layperson</a:t>
            </a:r>
            <a:endParaRPr lang="en-US" sz="730" dirty="0"/>
          </a:p>
        </p:txBody>
      </p:sp>
      <p:sp>
        <p:nvSpPr>
          <p:cNvPr id="31" name="Text 29"/>
          <p:cNvSpPr/>
          <p:nvPr/>
        </p:nvSpPr>
        <p:spPr>
          <a:xfrm>
            <a:off x="2441448" y="4594860"/>
            <a:ext cx="44805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patient-style wording replacing technical terms</a:t>
            </a:r>
            <a:endParaRPr lang="en-US" sz="730" dirty="0"/>
          </a:p>
        </p:txBody>
      </p:sp>
      <p:sp>
        <p:nvSpPr>
          <p:cNvPr id="32" name="Shape 30"/>
          <p:cNvSpPr/>
          <p:nvPr/>
        </p:nvSpPr>
        <p:spPr>
          <a:xfrm>
            <a:off x="475488" y="4946904"/>
            <a:ext cx="6492240" cy="402336"/>
          </a:xfrm>
          <a:prstGeom prst="rect">
            <a:avLst/>
          </a:prstGeom>
          <a:solidFill>
            <a:srgbClr val="FFFFFF"/>
          </a:solidFill>
          <a:ln w="8890">
            <a:solidFill>
              <a:srgbClr val="D9E2E8"/>
            </a:solidFill>
            <a:prstDash val="solid"/>
          </a:ln>
        </p:spPr>
        <p:txBody>
          <a:bodyPr/>
          <a:lstStyle/>
          <a:p>
            <a:endParaRPr lang="en-US"/>
          </a:p>
        </p:txBody>
      </p:sp>
      <p:sp>
        <p:nvSpPr>
          <p:cNvPr id="33" name="Text 31"/>
          <p:cNvSpPr/>
          <p:nvPr/>
        </p:nvSpPr>
        <p:spPr>
          <a:xfrm>
            <a:off x="521208" y="4997196"/>
            <a:ext cx="182880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incomplete</a:t>
            </a:r>
            <a:endParaRPr lang="en-US" sz="730" dirty="0"/>
          </a:p>
        </p:txBody>
      </p:sp>
      <p:sp>
        <p:nvSpPr>
          <p:cNvPr id="34" name="Text 32"/>
          <p:cNvSpPr/>
          <p:nvPr/>
        </p:nvSpPr>
        <p:spPr>
          <a:xfrm>
            <a:off x="2441448" y="4997196"/>
            <a:ext cx="44805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missing condition, body part, timeframe, or qualifier</a:t>
            </a:r>
            <a:endParaRPr lang="en-US" sz="730" dirty="0"/>
          </a:p>
        </p:txBody>
      </p:sp>
      <p:sp>
        <p:nvSpPr>
          <p:cNvPr id="35" name="Shape 33"/>
          <p:cNvSpPr/>
          <p:nvPr/>
        </p:nvSpPr>
        <p:spPr>
          <a:xfrm>
            <a:off x="475488" y="5349240"/>
            <a:ext cx="6492240" cy="402336"/>
          </a:xfrm>
          <a:prstGeom prst="rect">
            <a:avLst/>
          </a:prstGeom>
          <a:solidFill>
            <a:srgbClr val="F2F6F7"/>
          </a:solidFill>
          <a:ln w="8890">
            <a:solidFill>
              <a:srgbClr val="D9E2E8"/>
            </a:solidFill>
            <a:prstDash val="solid"/>
          </a:ln>
        </p:spPr>
        <p:txBody>
          <a:bodyPr/>
          <a:lstStyle/>
          <a:p>
            <a:endParaRPr lang="en-US"/>
          </a:p>
        </p:txBody>
      </p:sp>
      <p:sp>
        <p:nvSpPr>
          <p:cNvPr id="36" name="Text 34"/>
          <p:cNvSpPr/>
          <p:nvPr/>
        </p:nvSpPr>
        <p:spPr>
          <a:xfrm>
            <a:off x="521208" y="5399532"/>
            <a:ext cx="182880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overgeneralization</a:t>
            </a:r>
            <a:endParaRPr lang="en-US" sz="730" dirty="0"/>
          </a:p>
        </p:txBody>
      </p:sp>
      <p:sp>
        <p:nvSpPr>
          <p:cNvPr id="37" name="Text 35"/>
          <p:cNvSpPr/>
          <p:nvPr/>
        </p:nvSpPr>
        <p:spPr>
          <a:xfrm>
            <a:off x="2441448" y="5399532"/>
            <a:ext cx="44805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specific query broadened into a generic health question</a:t>
            </a:r>
            <a:endParaRPr lang="en-US" sz="730" dirty="0"/>
          </a:p>
        </p:txBody>
      </p:sp>
      <p:sp>
        <p:nvSpPr>
          <p:cNvPr id="38" name="Shape 36"/>
          <p:cNvSpPr/>
          <p:nvPr/>
        </p:nvSpPr>
        <p:spPr>
          <a:xfrm>
            <a:off x="7360920" y="3337560"/>
            <a:ext cx="4297680" cy="402336"/>
          </a:xfrm>
          <a:prstGeom prst="rect">
            <a:avLst/>
          </a:prstGeom>
          <a:solidFill>
            <a:srgbClr val="25323D"/>
          </a:solidFill>
          <a:ln w="8890">
            <a:solidFill>
              <a:srgbClr val="25323D"/>
            </a:solidFill>
            <a:prstDash val="solid"/>
          </a:ln>
        </p:spPr>
        <p:txBody>
          <a:bodyPr/>
          <a:lstStyle/>
          <a:p>
            <a:endParaRPr lang="en-US"/>
          </a:p>
        </p:txBody>
      </p:sp>
      <p:sp>
        <p:nvSpPr>
          <p:cNvPr id="39" name="Text 37"/>
          <p:cNvSpPr/>
          <p:nvPr/>
        </p:nvSpPr>
        <p:spPr>
          <a:xfrm>
            <a:off x="7406640" y="3392424"/>
            <a:ext cx="1691640" cy="329184"/>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Model families</a:t>
            </a:r>
            <a:endParaRPr lang="en-US" sz="770" dirty="0"/>
          </a:p>
        </p:txBody>
      </p:sp>
      <p:sp>
        <p:nvSpPr>
          <p:cNvPr id="40" name="Text 38"/>
          <p:cNvSpPr/>
          <p:nvPr/>
        </p:nvSpPr>
        <p:spPr>
          <a:xfrm>
            <a:off x="9189720" y="3392424"/>
            <a:ext cx="2423160" cy="329184"/>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Examples</a:t>
            </a:r>
            <a:endParaRPr lang="en-US" sz="770" dirty="0"/>
          </a:p>
        </p:txBody>
      </p:sp>
      <p:sp>
        <p:nvSpPr>
          <p:cNvPr id="41" name="Shape 39"/>
          <p:cNvSpPr/>
          <p:nvPr/>
        </p:nvSpPr>
        <p:spPr>
          <a:xfrm>
            <a:off x="7360920" y="3739896"/>
            <a:ext cx="4297680" cy="402336"/>
          </a:xfrm>
          <a:prstGeom prst="rect">
            <a:avLst/>
          </a:prstGeom>
          <a:solidFill>
            <a:srgbClr val="F2F6F7"/>
          </a:solidFill>
          <a:ln w="8890">
            <a:solidFill>
              <a:srgbClr val="D9E2E8"/>
            </a:solidFill>
            <a:prstDash val="solid"/>
          </a:ln>
        </p:spPr>
        <p:txBody>
          <a:bodyPr/>
          <a:lstStyle/>
          <a:p>
            <a:endParaRPr lang="en-US"/>
          </a:p>
        </p:txBody>
      </p:sp>
      <p:sp>
        <p:nvSpPr>
          <p:cNvPr id="42" name="Text 40"/>
          <p:cNvSpPr/>
          <p:nvPr/>
        </p:nvSpPr>
        <p:spPr>
          <a:xfrm>
            <a:off x="7406640" y="3790188"/>
            <a:ext cx="169164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Closed/API</a:t>
            </a:r>
            <a:endParaRPr lang="en-US" sz="730" dirty="0"/>
          </a:p>
        </p:txBody>
      </p:sp>
      <p:sp>
        <p:nvSpPr>
          <p:cNvPr id="43" name="Text 41"/>
          <p:cNvSpPr/>
          <p:nvPr/>
        </p:nvSpPr>
        <p:spPr>
          <a:xfrm>
            <a:off x="9189720" y="3790188"/>
            <a:ext cx="24231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GPT-5.4</a:t>
            </a:r>
            <a:endParaRPr lang="en-US" sz="730" dirty="0"/>
          </a:p>
        </p:txBody>
      </p:sp>
      <p:sp>
        <p:nvSpPr>
          <p:cNvPr id="44" name="Shape 42"/>
          <p:cNvSpPr/>
          <p:nvPr/>
        </p:nvSpPr>
        <p:spPr>
          <a:xfrm>
            <a:off x="7360920" y="4142232"/>
            <a:ext cx="4297680" cy="402336"/>
          </a:xfrm>
          <a:prstGeom prst="rect">
            <a:avLst/>
          </a:prstGeom>
          <a:solidFill>
            <a:srgbClr val="FFFFFF"/>
          </a:solidFill>
          <a:ln w="8890">
            <a:solidFill>
              <a:srgbClr val="D9E2E8"/>
            </a:solidFill>
            <a:prstDash val="solid"/>
          </a:ln>
        </p:spPr>
        <p:txBody>
          <a:bodyPr/>
          <a:lstStyle/>
          <a:p>
            <a:endParaRPr lang="en-US"/>
          </a:p>
        </p:txBody>
      </p:sp>
      <p:sp>
        <p:nvSpPr>
          <p:cNvPr id="45" name="Text 43"/>
          <p:cNvSpPr/>
          <p:nvPr/>
        </p:nvSpPr>
        <p:spPr>
          <a:xfrm>
            <a:off x="7406640" y="4192524"/>
            <a:ext cx="169164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Open instruction</a:t>
            </a:r>
            <a:endParaRPr lang="en-US" sz="730" dirty="0"/>
          </a:p>
        </p:txBody>
      </p:sp>
      <p:sp>
        <p:nvSpPr>
          <p:cNvPr id="46" name="Text 44"/>
          <p:cNvSpPr/>
          <p:nvPr/>
        </p:nvSpPr>
        <p:spPr>
          <a:xfrm>
            <a:off x="9189720" y="4192524"/>
            <a:ext cx="24231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Llama 3.1, Mistral, Mixtral, Qwen, Gemma, Phi</a:t>
            </a:r>
            <a:endParaRPr lang="en-US" sz="730" dirty="0"/>
          </a:p>
        </p:txBody>
      </p:sp>
      <p:sp>
        <p:nvSpPr>
          <p:cNvPr id="47" name="Shape 45"/>
          <p:cNvSpPr/>
          <p:nvPr/>
        </p:nvSpPr>
        <p:spPr>
          <a:xfrm>
            <a:off x="7360920" y="4544568"/>
            <a:ext cx="4297680" cy="402336"/>
          </a:xfrm>
          <a:prstGeom prst="rect">
            <a:avLst/>
          </a:prstGeom>
          <a:solidFill>
            <a:srgbClr val="F2F6F7"/>
          </a:solidFill>
          <a:ln w="8890">
            <a:solidFill>
              <a:srgbClr val="D9E2E8"/>
            </a:solidFill>
            <a:prstDash val="solid"/>
          </a:ln>
        </p:spPr>
        <p:txBody>
          <a:bodyPr/>
          <a:lstStyle/>
          <a:p>
            <a:endParaRPr lang="en-US"/>
          </a:p>
        </p:txBody>
      </p:sp>
      <p:sp>
        <p:nvSpPr>
          <p:cNvPr id="48" name="Text 46"/>
          <p:cNvSpPr/>
          <p:nvPr/>
        </p:nvSpPr>
        <p:spPr>
          <a:xfrm>
            <a:off x="7406640" y="4594860"/>
            <a:ext cx="169164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Medical-domain</a:t>
            </a:r>
            <a:endParaRPr lang="en-US" sz="730" dirty="0"/>
          </a:p>
        </p:txBody>
      </p:sp>
      <p:sp>
        <p:nvSpPr>
          <p:cNvPr id="49" name="Text 47"/>
          <p:cNvSpPr/>
          <p:nvPr/>
        </p:nvSpPr>
        <p:spPr>
          <a:xfrm>
            <a:off x="9189720" y="4594860"/>
            <a:ext cx="24231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BioMistral-7B</a:t>
            </a:r>
            <a:endParaRPr lang="en-US" sz="730" dirty="0"/>
          </a:p>
        </p:txBody>
      </p:sp>
      <p:sp>
        <p:nvSpPr>
          <p:cNvPr id="50" name="Shape 48"/>
          <p:cNvSpPr/>
          <p:nvPr/>
        </p:nvSpPr>
        <p:spPr>
          <a:xfrm>
            <a:off x="7360920" y="4946904"/>
            <a:ext cx="4297680" cy="402336"/>
          </a:xfrm>
          <a:prstGeom prst="rect">
            <a:avLst/>
          </a:prstGeom>
          <a:solidFill>
            <a:srgbClr val="FFFFFF"/>
          </a:solidFill>
          <a:ln w="8890">
            <a:solidFill>
              <a:srgbClr val="D9E2E8"/>
            </a:solidFill>
            <a:prstDash val="solid"/>
          </a:ln>
        </p:spPr>
        <p:txBody>
          <a:bodyPr/>
          <a:lstStyle/>
          <a:p>
            <a:endParaRPr lang="en-US"/>
          </a:p>
        </p:txBody>
      </p:sp>
      <p:sp>
        <p:nvSpPr>
          <p:cNvPr id="51" name="Text 49"/>
          <p:cNvSpPr/>
          <p:nvPr/>
        </p:nvSpPr>
        <p:spPr>
          <a:xfrm>
            <a:off x="7406640" y="4997196"/>
            <a:ext cx="169164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Quantized local</a:t>
            </a:r>
            <a:endParaRPr lang="en-US" sz="730" dirty="0"/>
          </a:p>
        </p:txBody>
      </p:sp>
      <p:sp>
        <p:nvSpPr>
          <p:cNvPr id="52" name="Text 50"/>
          <p:cNvSpPr/>
          <p:nvPr/>
        </p:nvSpPr>
        <p:spPr>
          <a:xfrm>
            <a:off x="9189720" y="4997196"/>
            <a:ext cx="24231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4-bit and Q6_K variants</a:t>
            </a:r>
            <a:endParaRPr lang="en-US" sz="730" dirty="0"/>
          </a:p>
        </p:txBody>
      </p:sp>
      <p:sp>
        <p:nvSpPr>
          <p:cNvPr id="53" name="Oval 52"/>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Evaluation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Metrics used in the project</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The deck reports several metric families because no single metric captures medical QA robustness.</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6 / 19</a:t>
            </a:r>
            <a:endParaRPr lang="en-US" sz="680" dirty="0"/>
          </a:p>
        </p:txBody>
      </p:sp>
      <p:sp>
        <p:nvSpPr>
          <p:cNvPr id="8" name="Shape 6"/>
          <p:cNvSpPr/>
          <p:nvPr/>
        </p:nvSpPr>
        <p:spPr>
          <a:xfrm>
            <a:off x="475488" y="1627632"/>
            <a:ext cx="10287000" cy="356616"/>
          </a:xfrm>
          <a:prstGeom prst="rect">
            <a:avLst/>
          </a:prstGeom>
          <a:solidFill>
            <a:srgbClr val="25323D"/>
          </a:solidFill>
          <a:ln w="8890">
            <a:solidFill>
              <a:srgbClr val="25323D"/>
            </a:solidFill>
            <a:prstDash val="solid"/>
          </a:ln>
        </p:spPr>
        <p:txBody>
          <a:bodyPr/>
          <a:lstStyle/>
          <a:p>
            <a:endParaRPr lang="en-US"/>
          </a:p>
        </p:txBody>
      </p:sp>
      <p:sp>
        <p:nvSpPr>
          <p:cNvPr id="9" name="Text 7"/>
          <p:cNvSpPr/>
          <p:nvPr/>
        </p:nvSpPr>
        <p:spPr>
          <a:xfrm>
            <a:off x="521208" y="1682496"/>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Family</a:t>
            </a:r>
            <a:endParaRPr lang="en-US" sz="750" dirty="0"/>
          </a:p>
        </p:txBody>
      </p:sp>
      <p:sp>
        <p:nvSpPr>
          <p:cNvPr id="10" name="Text 8"/>
          <p:cNvSpPr/>
          <p:nvPr/>
        </p:nvSpPr>
        <p:spPr>
          <a:xfrm>
            <a:off x="2350008" y="1682496"/>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Metric</a:t>
            </a:r>
            <a:endParaRPr lang="en-US" sz="750" dirty="0"/>
          </a:p>
        </p:txBody>
      </p:sp>
      <p:sp>
        <p:nvSpPr>
          <p:cNvPr id="11" name="Text 9"/>
          <p:cNvSpPr/>
          <p:nvPr/>
        </p:nvSpPr>
        <p:spPr>
          <a:xfrm>
            <a:off x="4178808" y="1682496"/>
            <a:ext cx="6537960" cy="283464"/>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What it measures</a:t>
            </a:r>
            <a:endParaRPr lang="en-US" sz="750" dirty="0"/>
          </a:p>
        </p:txBody>
      </p:sp>
      <p:sp>
        <p:nvSpPr>
          <p:cNvPr id="12" name="Shape 10"/>
          <p:cNvSpPr/>
          <p:nvPr/>
        </p:nvSpPr>
        <p:spPr>
          <a:xfrm>
            <a:off x="475488" y="1984248"/>
            <a:ext cx="10287000" cy="356616"/>
          </a:xfrm>
          <a:prstGeom prst="rect">
            <a:avLst/>
          </a:prstGeom>
          <a:solidFill>
            <a:srgbClr val="F2F6F7"/>
          </a:solidFill>
          <a:ln w="8890">
            <a:solidFill>
              <a:srgbClr val="D9E2E8"/>
            </a:solidFill>
            <a:prstDash val="solid"/>
          </a:ln>
        </p:spPr>
        <p:txBody>
          <a:bodyPr/>
          <a:lstStyle/>
          <a:p>
            <a:endParaRPr lang="en-US"/>
          </a:p>
        </p:txBody>
      </p:sp>
      <p:sp>
        <p:nvSpPr>
          <p:cNvPr id="13" name="Text 11"/>
          <p:cNvSpPr/>
          <p:nvPr/>
        </p:nvSpPr>
        <p:spPr>
          <a:xfrm>
            <a:off x="521208" y="2034540"/>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Lexical overlap</a:t>
            </a:r>
            <a:endParaRPr lang="en-US" sz="680" dirty="0"/>
          </a:p>
        </p:txBody>
      </p:sp>
      <p:sp>
        <p:nvSpPr>
          <p:cNvPr id="14" name="Text 12"/>
          <p:cNvSpPr/>
          <p:nvPr/>
        </p:nvSpPr>
        <p:spPr>
          <a:xfrm>
            <a:off x="2350008" y="2034540"/>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BLEU</a:t>
            </a:r>
            <a:endParaRPr lang="en-US" sz="680" dirty="0"/>
          </a:p>
        </p:txBody>
      </p:sp>
      <p:sp>
        <p:nvSpPr>
          <p:cNvPr id="15" name="Text 13"/>
          <p:cNvSpPr/>
          <p:nvPr/>
        </p:nvSpPr>
        <p:spPr>
          <a:xfrm>
            <a:off x="4178808" y="2034540"/>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word n-gram overlap with the reference answer</a:t>
            </a:r>
            <a:endParaRPr lang="en-US" sz="680" dirty="0"/>
          </a:p>
        </p:txBody>
      </p:sp>
      <p:sp>
        <p:nvSpPr>
          <p:cNvPr id="16" name="Shape 14"/>
          <p:cNvSpPr/>
          <p:nvPr/>
        </p:nvSpPr>
        <p:spPr>
          <a:xfrm>
            <a:off x="475488" y="2340864"/>
            <a:ext cx="10287000" cy="356616"/>
          </a:xfrm>
          <a:prstGeom prst="rect">
            <a:avLst/>
          </a:prstGeom>
          <a:solidFill>
            <a:srgbClr val="FFFFFF"/>
          </a:solidFill>
          <a:ln w="8890">
            <a:solidFill>
              <a:srgbClr val="D9E2E8"/>
            </a:solidFill>
            <a:prstDash val="solid"/>
          </a:ln>
        </p:spPr>
        <p:txBody>
          <a:bodyPr/>
          <a:lstStyle/>
          <a:p>
            <a:endParaRPr lang="en-US"/>
          </a:p>
        </p:txBody>
      </p:sp>
      <p:sp>
        <p:nvSpPr>
          <p:cNvPr id="17" name="Text 15"/>
          <p:cNvSpPr/>
          <p:nvPr/>
        </p:nvSpPr>
        <p:spPr>
          <a:xfrm>
            <a:off x="521208" y="2391156"/>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Lexical overlap</a:t>
            </a:r>
            <a:endParaRPr lang="en-US" sz="680" dirty="0"/>
          </a:p>
        </p:txBody>
      </p:sp>
      <p:sp>
        <p:nvSpPr>
          <p:cNvPr id="18" name="Text 16"/>
          <p:cNvSpPr/>
          <p:nvPr/>
        </p:nvSpPr>
        <p:spPr>
          <a:xfrm>
            <a:off x="2350008" y="2391156"/>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chrF</a:t>
            </a:r>
            <a:endParaRPr lang="en-US" sz="680" dirty="0"/>
          </a:p>
        </p:txBody>
      </p:sp>
      <p:sp>
        <p:nvSpPr>
          <p:cNvPr id="19" name="Text 17"/>
          <p:cNvSpPr/>
          <p:nvPr/>
        </p:nvSpPr>
        <p:spPr>
          <a:xfrm>
            <a:off x="4178808" y="2391156"/>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character n-gram F-score, more tolerant of wording/spelling shifts</a:t>
            </a:r>
            <a:endParaRPr lang="en-US" sz="680" dirty="0"/>
          </a:p>
        </p:txBody>
      </p:sp>
      <p:sp>
        <p:nvSpPr>
          <p:cNvPr id="20" name="Shape 18"/>
          <p:cNvSpPr/>
          <p:nvPr/>
        </p:nvSpPr>
        <p:spPr>
          <a:xfrm>
            <a:off x="475488" y="2697480"/>
            <a:ext cx="10287000" cy="356616"/>
          </a:xfrm>
          <a:prstGeom prst="rect">
            <a:avLst/>
          </a:prstGeom>
          <a:solidFill>
            <a:srgbClr val="F2F6F7"/>
          </a:solidFill>
          <a:ln w="8890">
            <a:solidFill>
              <a:srgbClr val="D9E2E8"/>
            </a:solidFill>
            <a:prstDash val="solid"/>
          </a:ln>
        </p:spPr>
        <p:txBody>
          <a:bodyPr/>
          <a:lstStyle/>
          <a:p>
            <a:endParaRPr lang="en-US"/>
          </a:p>
        </p:txBody>
      </p:sp>
      <p:sp>
        <p:nvSpPr>
          <p:cNvPr id="21" name="Text 19"/>
          <p:cNvSpPr/>
          <p:nvPr/>
        </p:nvSpPr>
        <p:spPr>
          <a:xfrm>
            <a:off x="521208" y="2747772"/>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Lexical overlap</a:t>
            </a:r>
            <a:endParaRPr lang="en-US" sz="680" dirty="0"/>
          </a:p>
        </p:txBody>
      </p:sp>
      <p:sp>
        <p:nvSpPr>
          <p:cNvPr id="22" name="Text 20"/>
          <p:cNvSpPr/>
          <p:nvPr/>
        </p:nvSpPr>
        <p:spPr>
          <a:xfrm>
            <a:off x="2350008" y="2747772"/>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ROUGE-L</a:t>
            </a:r>
            <a:endParaRPr lang="en-US" sz="680" dirty="0"/>
          </a:p>
        </p:txBody>
      </p:sp>
      <p:sp>
        <p:nvSpPr>
          <p:cNvPr id="23" name="Text 21"/>
          <p:cNvSpPr/>
          <p:nvPr/>
        </p:nvSpPr>
        <p:spPr>
          <a:xfrm>
            <a:off x="4178808" y="2747772"/>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longest common subsequence overlap</a:t>
            </a:r>
            <a:endParaRPr lang="en-US" sz="680" dirty="0"/>
          </a:p>
        </p:txBody>
      </p:sp>
      <p:sp>
        <p:nvSpPr>
          <p:cNvPr id="24" name="Shape 22"/>
          <p:cNvSpPr/>
          <p:nvPr/>
        </p:nvSpPr>
        <p:spPr>
          <a:xfrm>
            <a:off x="475488" y="3054096"/>
            <a:ext cx="10287000" cy="356616"/>
          </a:xfrm>
          <a:prstGeom prst="rect">
            <a:avLst/>
          </a:prstGeom>
          <a:solidFill>
            <a:srgbClr val="FFFFFF"/>
          </a:solidFill>
          <a:ln w="8890">
            <a:solidFill>
              <a:srgbClr val="D9E2E8"/>
            </a:solidFill>
            <a:prstDash val="solid"/>
          </a:ln>
        </p:spPr>
        <p:txBody>
          <a:bodyPr/>
          <a:lstStyle/>
          <a:p>
            <a:endParaRPr lang="en-US"/>
          </a:p>
        </p:txBody>
      </p:sp>
      <p:sp>
        <p:nvSpPr>
          <p:cNvPr id="25" name="Text 23"/>
          <p:cNvSpPr/>
          <p:nvPr/>
        </p:nvSpPr>
        <p:spPr>
          <a:xfrm>
            <a:off x="521208" y="3104388"/>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Lexical overlap</a:t>
            </a:r>
            <a:endParaRPr lang="en-US" sz="680" dirty="0"/>
          </a:p>
        </p:txBody>
      </p:sp>
      <p:sp>
        <p:nvSpPr>
          <p:cNvPr id="26" name="Text 24"/>
          <p:cNvSpPr/>
          <p:nvPr/>
        </p:nvSpPr>
        <p:spPr>
          <a:xfrm>
            <a:off x="2350008" y="3104388"/>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Token F1</a:t>
            </a:r>
            <a:endParaRPr lang="en-US" sz="680" dirty="0"/>
          </a:p>
        </p:txBody>
      </p:sp>
      <p:sp>
        <p:nvSpPr>
          <p:cNvPr id="27" name="Text 25"/>
          <p:cNvSpPr/>
          <p:nvPr/>
        </p:nvSpPr>
        <p:spPr>
          <a:xfrm>
            <a:off x="4178808" y="3104388"/>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normalized token precision/recall overlap</a:t>
            </a:r>
            <a:endParaRPr lang="en-US" sz="680" dirty="0"/>
          </a:p>
        </p:txBody>
      </p:sp>
      <p:sp>
        <p:nvSpPr>
          <p:cNvPr id="28" name="Shape 26"/>
          <p:cNvSpPr/>
          <p:nvPr/>
        </p:nvSpPr>
        <p:spPr>
          <a:xfrm>
            <a:off x="475488" y="3410712"/>
            <a:ext cx="10287000" cy="356616"/>
          </a:xfrm>
          <a:prstGeom prst="rect">
            <a:avLst/>
          </a:prstGeom>
          <a:solidFill>
            <a:srgbClr val="F2F6F7"/>
          </a:solidFill>
          <a:ln w="8890">
            <a:solidFill>
              <a:srgbClr val="D9E2E8"/>
            </a:solidFill>
            <a:prstDash val="solid"/>
          </a:ln>
        </p:spPr>
        <p:txBody>
          <a:bodyPr/>
          <a:lstStyle/>
          <a:p>
            <a:endParaRPr lang="en-US"/>
          </a:p>
        </p:txBody>
      </p:sp>
      <p:sp>
        <p:nvSpPr>
          <p:cNvPr id="29" name="Text 27"/>
          <p:cNvSpPr/>
          <p:nvPr/>
        </p:nvSpPr>
        <p:spPr>
          <a:xfrm>
            <a:off x="521208" y="3461004"/>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Lexical overlap</a:t>
            </a:r>
            <a:endParaRPr lang="en-US" sz="680" dirty="0"/>
          </a:p>
        </p:txBody>
      </p:sp>
      <p:sp>
        <p:nvSpPr>
          <p:cNvPr id="30" name="Text 28"/>
          <p:cNvSpPr/>
          <p:nvPr/>
        </p:nvSpPr>
        <p:spPr>
          <a:xfrm>
            <a:off x="2350008" y="3461004"/>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Exact Match</a:t>
            </a:r>
            <a:endParaRPr lang="en-US" sz="680" dirty="0"/>
          </a:p>
        </p:txBody>
      </p:sp>
      <p:sp>
        <p:nvSpPr>
          <p:cNvPr id="31" name="Text 29"/>
          <p:cNvSpPr/>
          <p:nvPr/>
        </p:nvSpPr>
        <p:spPr>
          <a:xfrm>
            <a:off x="4178808" y="3461004"/>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strict normalized full-answer match; mostly zero for free-form QA</a:t>
            </a:r>
            <a:endParaRPr lang="en-US" sz="680" dirty="0"/>
          </a:p>
        </p:txBody>
      </p:sp>
      <p:sp>
        <p:nvSpPr>
          <p:cNvPr id="32" name="Shape 30"/>
          <p:cNvSpPr/>
          <p:nvPr/>
        </p:nvSpPr>
        <p:spPr>
          <a:xfrm>
            <a:off x="475488" y="3767328"/>
            <a:ext cx="10287000" cy="356616"/>
          </a:xfrm>
          <a:prstGeom prst="rect">
            <a:avLst/>
          </a:prstGeom>
          <a:solidFill>
            <a:srgbClr val="FFFFFF"/>
          </a:solidFill>
          <a:ln w="8890">
            <a:solidFill>
              <a:srgbClr val="D9E2E8"/>
            </a:solidFill>
            <a:prstDash val="solid"/>
          </a:ln>
        </p:spPr>
        <p:txBody>
          <a:bodyPr/>
          <a:lstStyle/>
          <a:p>
            <a:endParaRPr lang="en-US"/>
          </a:p>
        </p:txBody>
      </p:sp>
      <p:sp>
        <p:nvSpPr>
          <p:cNvPr id="33" name="Text 31"/>
          <p:cNvSpPr/>
          <p:nvPr/>
        </p:nvSpPr>
        <p:spPr>
          <a:xfrm>
            <a:off x="521208" y="3817620"/>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Semantic answer</a:t>
            </a:r>
            <a:endParaRPr lang="en-US" sz="680" dirty="0"/>
          </a:p>
        </p:txBody>
      </p:sp>
      <p:sp>
        <p:nvSpPr>
          <p:cNvPr id="34" name="Text 32"/>
          <p:cNvSpPr/>
          <p:nvPr/>
        </p:nvSpPr>
        <p:spPr>
          <a:xfrm>
            <a:off x="2350008" y="3817620"/>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BERTScore</a:t>
            </a:r>
            <a:endParaRPr lang="en-US" sz="680" dirty="0"/>
          </a:p>
        </p:txBody>
      </p:sp>
      <p:sp>
        <p:nvSpPr>
          <p:cNvPr id="35" name="Text 33"/>
          <p:cNvSpPr/>
          <p:nvPr/>
        </p:nvSpPr>
        <p:spPr>
          <a:xfrm>
            <a:off x="4178808" y="3817620"/>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embedding-based similarity between answer and reference</a:t>
            </a:r>
            <a:endParaRPr lang="en-US" sz="680" dirty="0"/>
          </a:p>
        </p:txBody>
      </p:sp>
      <p:sp>
        <p:nvSpPr>
          <p:cNvPr id="36" name="Shape 34"/>
          <p:cNvSpPr/>
          <p:nvPr/>
        </p:nvSpPr>
        <p:spPr>
          <a:xfrm>
            <a:off x="475488" y="4123944"/>
            <a:ext cx="10287000" cy="356616"/>
          </a:xfrm>
          <a:prstGeom prst="rect">
            <a:avLst/>
          </a:prstGeom>
          <a:solidFill>
            <a:srgbClr val="F2F6F7"/>
          </a:solidFill>
          <a:ln w="8890">
            <a:solidFill>
              <a:srgbClr val="D9E2E8"/>
            </a:solidFill>
            <a:prstDash val="solid"/>
          </a:ln>
        </p:spPr>
        <p:txBody>
          <a:bodyPr/>
          <a:lstStyle/>
          <a:p>
            <a:endParaRPr lang="en-US"/>
          </a:p>
        </p:txBody>
      </p:sp>
      <p:sp>
        <p:nvSpPr>
          <p:cNvPr id="37" name="Text 35"/>
          <p:cNvSpPr/>
          <p:nvPr/>
        </p:nvSpPr>
        <p:spPr>
          <a:xfrm>
            <a:off x="521208" y="4174236"/>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Question intent</a:t>
            </a:r>
            <a:endParaRPr lang="en-US" sz="680" dirty="0"/>
          </a:p>
        </p:txBody>
      </p:sp>
      <p:sp>
        <p:nvSpPr>
          <p:cNvPr id="38" name="Text 36"/>
          <p:cNvSpPr/>
          <p:nvPr/>
        </p:nvSpPr>
        <p:spPr>
          <a:xfrm>
            <a:off x="2350008" y="4174236"/>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Intent Preservation</a:t>
            </a:r>
            <a:endParaRPr lang="en-US" sz="680" dirty="0"/>
          </a:p>
        </p:txBody>
      </p:sp>
      <p:sp>
        <p:nvSpPr>
          <p:cNvPr id="39" name="Text 37"/>
          <p:cNvSpPr/>
          <p:nvPr/>
        </p:nvSpPr>
        <p:spPr>
          <a:xfrm>
            <a:off x="4178808" y="4174236"/>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embedding similarity between clean question and noisy/repaired question</a:t>
            </a:r>
            <a:endParaRPr lang="en-US" sz="680" dirty="0"/>
          </a:p>
        </p:txBody>
      </p:sp>
      <p:sp>
        <p:nvSpPr>
          <p:cNvPr id="40" name="Shape 38"/>
          <p:cNvSpPr/>
          <p:nvPr/>
        </p:nvSpPr>
        <p:spPr>
          <a:xfrm>
            <a:off x="475488" y="4480560"/>
            <a:ext cx="10287000" cy="356616"/>
          </a:xfrm>
          <a:prstGeom prst="rect">
            <a:avLst/>
          </a:prstGeom>
          <a:solidFill>
            <a:srgbClr val="FFFFFF"/>
          </a:solidFill>
          <a:ln w="8890">
            <a:solidFill>
              <a:srgbClr val="D9E2E8"/>
            </a:solidFill>
            <a:prstDash val="solid"/>
          </a:ln>
        </p:spPr>
        <p:txBody>
          <a:bodyPr/>
          <a:lstStyle/>
          <a:p>
            <a:endParaRPr lang="en-US"/>
          </a:p>
        </p:txBody>
      </p:sp>
      <p:sp>
        <p:nvSpPr>
          <p:cNvPr id="41" name="Text 39"/>
          <p:cNvSpPr/>
          <p:nvPr/>
        </p:nvSpPr>
        <p:spPr>
          <a:xfrm>
            <a:off x="521208" y="4530852"/>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Judge score</a:t>
            </a:r>
            <a:endParaRPr lang="en-US" sz="680" dirty="0"/>
          </a:p>
        </p:txBody>
      </p:sp>
      <p:sp>
        <p:nvSpPr>
          <p:cNvPr id="42" name="Text 40"/>
          <p:cNvSpPr/>
          <p:nvPr/>
        </p:nvSpPr>
        <p:spPr>
          <a:xfrm>
            <a:off x="2350008" y="4530852"/>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G-Eval</a:t>
            </a:r>
            <a:endParaRPr lang="en-US" sz="680" dirty="0"/>
          </a:p>
        </p:txBody>
      </p:sp>
      <p:sp>
        <p:nvSpPr>
          <p:cNvPr id="43" name="Text 41"/>
          <p:cNvSpPr/>
          <p:nvPr/>
        </p:nvSpPr>
        <p:spPr>
          <a:xfrm>
            <a:off x="4178808" y="4530852"/>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GPT-5.4-mini score from 1-5 for answer quality</a:t>
            </a:r>
            <a:endParaRPr lang="en-US" sz="680" dirty="0"/>
          </a:p>
        </p:txBody>
      </p:sp>
      <p:sp>
        <p:nvSpPr>
          <p:cNvPr id="44" name="Shape 42"/>
          <p:cNvSpPr/>
          <p:nvPr/>
        </p:nvSpPr>
        <p:spPr>
          <a:xfrm>
            <a:off x="475488" y="4837176"/>
            <a:ext cx="10287000" cy="356616"/>
          </a:xfrm>
          <a:prstGeom prst="rect">
            <a:avLst/>
          </a:prstGeom>
          <a:solidFill>
            <a:srgbClr val="F2F6F7"/>
          </a:solidFill>
          <a:ln w="8890">
            <a:solidFill>
              <a:srgbClr val="D9E2E8"/>
            </a:solidFill>
            <a:prstDash val="solid"/>
          </a:ln>
        </p:spPr>
        <p:txBody>
          <a:bodyPr/>
          <a:lstStyle/>
          <a:p>
            <a:endParaRPr lang="en-US"/>
          </a:p>
        </p:txBody>
      </p:sp>
      <p:sp>
        <p:nvSpPr>
          <p:cNvPr id="45" name="Text 43"/>
          <p:cNvSpPr/>
          <p:nvPr/>
        </p:nvSpPr>
        <p:spPr>
          <a:xfrm>
            <a:off x="521208" y="4887468"/>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Medical content</a:t>
            </a:r>
            <a:endParaRPr lang="en-US" sz="680" dirty="0"/>
          </a:p>
        </p:txBody>
      </p:sp>
      <p:sp>
        <p:nvSpPr>
          <p:cNvPr id="46" name="Text 44"/>
          <p:cNvSpPr/>
          <p:nvPr/>
        </p:nvSpPr>
        <p:spPr>
          <a:xfrm>
            <a:off x="2350008" y="4887468"/>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med_coverage</a:t>
            </a:r>
            <a:endParaRPr lang="en-US" sz="680" dirty="0"/>
          </a:p>
        </p:txBody>
      </p:sp>
      <p:sp>
        <p:nvSpPr>
          <p:cNvPr id="47" name="Text 45"/>
          <p:cNvSpPr/>
          <p:nvPr/>
        </p:nvSpPr>
        <p:spPr>
          <a:xfrm>
            <a:off x="4178808" y="4887468"/>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medical-term recall vs the reference answer</a:t>
            </a:r>
            <a:endParaRPr lang="en-US" sz="680" dirty="0"/>
          </a:p>
        </p:txBody>
      </p:sp>
      <p:sp>
        <p:nvSpPr>
          <p:cNvPr id="48" name="Shape 46"/>
          <p:cNvSpPr/>
          <p:nvPr/>
        </p:nvSpPr>
        <p:spPr>
          <a:xfrm>
            <a:off x="475488" y="5193792"/>
            <a:ext cx="10287000" cy="356616"/>
          </a:xfrm>
          <a:prstGeom prst="rect">
            <a:avLst/>
          </a:prstGeom>
          <a:solidFill>
            <a:srgbClr val="FFFFFF"/>
          </a:solidFill>
          <a:ln w="8890">
            <a:solidFill>
              <a:srgbClr val="D9E2E8"/>
            </a:solidFill>
            <a:prstDash val="solid"/>
          </a:ln>
        </p:spPr>
        <p:txBody>
          <a:bodyPr/>
          <a:lstStyle/>
          <a:p>
            <a:endParaRPr lang="en-US"/>
          </a:p>
        </p:txBody>
      </p:sp>
      <p:sp>
        <p:nvSpPr>
          <p:cNvPr id="49" name="Text 47"/>
          <p:cNvSpPr/>
          <p:nvPr/>
        </p:nvSpPr>
        <p:spPr>
          <a:xfrm>
            <a:off x="521208" y="5244084"/>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Medical content</a:t>
            </a:r>
            <a:endParaRPr lang="en-US" sz="680" dirty="0"/>
          </a:p>
        </p:txBody>
      </p:sp>
      <p:sp>
        <p:nvSpPr>
          <p:cNvPr id="50" name="Text 48"/>
          <p:cNvSpPr/>
          <p:nvPr/>
        </p:nvSpPr>
        <p:spPr>
          <a:xfrm>
            <a:off x="2350008" y="5244084"/>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med_precision</a:t>
            </a:r>
            <a:endParaRPr lang="en-US" sz="680" dirty="0"/>
          </a:p>
        </p:txBody>
      </p:sp>
      <p:sp>
        <p:nvSpPr>
          <p:cNvPr id="51" name="Text 49"/>
          <p:cNvSpPr/>
          <p:nvPr/>
        </p:nvSpPr>
        <p:spPr>
          <a:xfrm>
            <a:off x="4178808" y="5244084"/>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medical-term precision in the model answer</a:t>
            </a:r>
            <a:endParaRPr lang="en-US" sz="680" dirty="0"/>
          </a:p>
        </p:txBody>
      </p:sp>
      <p:sp>
        <p:nvSpPr>
          <p:cNvPr id="52" name="Shape 50"/>
          <p:cNvSpPr/>
          <p:nvPr/>
        </p:nvSpPr>
        <p:spPr>
          <a:xfrm>
            <a:off x="475488" y="5550408"/>
            <a:ext cx="10287000" cy="356616"/>
          </a:xfrm>
          <a:prstGeom prst="rect">
            <a:avLst/>
          </a:prstGeom>
          <a:solidFill>
            <a:srgbClr val="F2F6F7"/>
          </a:solidFill>
          <a:ln w="8890">
            <a:solidFill>
              <a:srgbClr val="D9E2E8"/>
            </a:solidFill>
            <a:prstDash val="solid"/>
          </a:ln>
        </p:spPr>
        <p:txBody>
          <a:bodyPr/>
          <a:lstStyle/>
          <a:p>
            <a:endParaRPr lang="en-US"/>
          </a:p>
        </p:txBody>
      </p:sp>
      <p:sp>
        <p:nvSpPr>
          <p:cNvPr id="53" name="Text 51"/>
          <p:cNvSpPr/>
          <p:nvPr/>
        </p:nvSpPr>
        <p:spPr>
          <a:xfrm>
            <a:off x="521208" y="5600700"/>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Medical content</a:t>
            </a:r>
            <a:endParaRPr lang="en-US" sz="680" dirty="0"/>
          </a:p>
        </p:txBody>
      </p:sp>
      <p:sp>
        <p:nvSpPr>
          <p:cNvPr id="54" name="Text 52"/>
          <p:cNvSpPr/>
          <p:nvPr/>
        </p:nvSpPr>
        <p:spPr>
          <a:xfrm>
            <a:off x="2350008" y="5600700"/>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med_f1</a:t>
            </a:r>
            <a:endParaRPr lang="en-US" sz="680" dirty="0"/>
          </a:p>
        </p:txBody>
      </p:sp>
      <p:sp>
        <p:nvSpPr>
          <p:cNvPr id="55" name="Text 53"/>
          <p:cNvSpPr/>
          <p:nvPr/>
        </p:nvSpPr>
        <p:spPr>
          <a:xfrm>
            <a:off x="4178808" y="5600700"/>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balance of medical-term precision and coverage</a:t>
            </a:r>
            <a:endParaRPr lang="en-US" sz="680" dirty="0"/>
          </a:p>
        </p:txBody>
      </p:sp>
      <p:sp>
        <p:nvSpPr>
          <p:cNvPr id="56" name="Oval 55"/>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Evaluation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How to read the metrics</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A metric can improve because the question rewrite is cleaner, even if the final answer loses medical substance.</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7 / 19</a:t>
            </a:r>
            <a:endParaRPr lang="en-US" sz="680" dirty="0"/>
          </a:p>
        </p:txBody>
      </p:sp>
      <p:sp>
        <p:nvSpPr>
          <p:cNvPr id="8" name="Shape 6"/>
          <p:cNvSpPr/>
          <p:nvPr/>
        </p:nvSpPr>
        <p:spPr>
          <a:xfrm>
            <a:off x="475488" y="1664208"/>
            <a:ext cx="11064240" cy="512064"/>
          </a:xfrm>
          <a:prstGeom prst="roundRect">
            <a:avLst>
              <a:gd name="adj" fmla="val 10714"/>
            </a:avLst>
          </a:prstGeom>
          <a:solidFill>
            <a:srgbClr val="F2F6F7"/>
          </a:solidFill>
          <a:ln w="8890">
            <a:solidFill>
              <a:srgbClr val="3867D6"/>
            </a:solidFill>
            <a:prstDash val="solid"/>
          </a:ln>
        </p:spPr>
        <p:txBody>
          <a:bodyPr/>
          <a:lstStyle/>
          <a:p>
            <a:endParaRPr lang="en-US"/>
          </a:p>
        </p:txBody>
      </p:sp>
      <p:sp>
        <p:nvSpPr>
          <p:cNvPr id="9" name="Text 7"/>
          <p:cNvSpPr/>
          <p:nvPr/>
        </p:nvSpPr>
        <p:spPr>
          <a:xfrm>
            <a:off x="640080" y="1783080"/>
            <a:ext cx="1965960" cy="164592"/>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Lexical metrics</a:t>
            </a:r>
            <a:endParaRPr lang="en-US" sz="950" dirty="0"/>
          </a:p>
        </p:txBody>
      </p:sp>
      <p:sp>
        <p:nvSpPr>
          <p:cNvPr id="10" name="Text 8"/>
          <p:cNvSpPr/>
          <p:nvPr/>
        </p:nvSpPr>
        <p:spPr>
          <a:xfrm>
            <a:off x="2807208" y="1783080"/>
            <a:ext cx="2057400" cy="164592"/>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similar words</a:t>
            </a:r>
            <a:endParaRPr lang="en-US" sz="950" dirty="0"/>
          </a:p>
        </p:txBody>
      </p:sp>
      <p:sp>
        <p:nvSpPr>
          <p:cNvPr id="11" name="Text 9"/>
          <p:cNvSpPr/>
          <p:nvPr/>
        </p:nvSpPr>
        <p:spPr>
          <a:xfrm>
            <a:off x="5001768" y="1783080"/>
            <a:ext cx="6263640" cy="164592"/>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BLEU, chrF, ROUGE-L, Token F1, Exact Match</a:t>
            </a:r>
            <a:endParaRPr lang="en-US" sz="820" dirty="0"/>
          </a:p>
        </p:txBody>
      </p:sp>
      <p:sp>
        <p:nvSpPr>
          <p:cNvPr id="12" name="Shape 10"/>
          <p:cNvSpPr/>
          <p:nvPr/>
        </p:nvSpPr>
        <p:spPr>
          <a:xfrm>
            <a:off x="475488" y="2377440"/>
            <a:ext cx="11064240" cy="512064"/>
          </a:xfrm>
          <a:prstGeom prst="roundRect">
            <a:avLst>
              <a:gd name="adj" fmla="val 10714"/>
            </a:avLst>
          </a:prstGeom>
          <a:solidFill>
            <a:srgbClr val="F2F6F7"/>
          </a:solidFill>
          <a:ln w="8890">
            <a:solidFill>
              <a:srgbClr val="127C7A"/>
            </a:solidFill>
            <a:prstDash val="solid"/>
          </a:ln>
        </p:spPr>
        <p:txBody>
          <a:bodyPr/>
          <a:lstStyle/>
          <a:p>
            <a:endParaRPr lang="en-US"/>
          </a:p>
        </p:txBody>
      </p:sp>
      <p:sp>
        <p:nvSpPr>
          <p:cNvPr id="13" name="Text 11"/>
          <p:cNvSpPr/>
          <p:nvPr/>
        </p:nvSpPr>
        <p:spPr>
          <a:xfrm>
            <a:off x="640080" y="2496312"/>
            <a:ext cx="1965960" cy="164592"/>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Semantic metrics</a:t>
            </a:r>
            <a:endParaRPr lang="en-US" sz="950" dirty="0"/>
          </a:p>
        </p:txBody>
      </p:sp>
      <p:sp>
        <p:nvSpPr>
          <p:cNvPr id="14" name="Text 12"/>
          <p:cNvSpPr/>
          <p:nvPr/>
        </p:nvSpPr>
        <p:spPr>
          <a:xfrm>
            <a:off x="2807208" y="2496312"/>
            <a:ext cx="2057400" cy="164592"/>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similar meaning</a:t>
            </a:r>
            <a:endParaRPr lang="en-US" sz="950" dirty="0"/>
          </a:p>
        </p:txBody>
      </p:sp>
      <p:sp>
        <p:nvSpPr>
          <p:cNvPr id="15" name="Text 13"/>
          <p:cNvSpPr/>
          <p:nvPr/>
        </p:nvSpPr>
        <p:spPr>
          <a:xfrm>
            <a:off x="5001768" y="2496312"/>
            <a:ext cx="6263640" cy="164592"/>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BERTScore and judge-style semantic similarity</a:t>
            </a:r>
            <a:endParaRPr lang="en-US" sz="820" dirty="0"/>
          </a:p>
        </p:txBody>
      </p:sp>
      <p:sp>
        <p:nvSpPr>
          <p:cNvPr id="16" name="Shape 14"/>
          <p:cNvSpPr/>
          <p:nvPr/>
        </p:nvSpPr>
        <p:spPr>
          <a:xfrm>
            <a:off x="475488" y="3090672"/>
            <a:ext cx="11064240" cy="512064"/>
          </a:xfrm>
          <a:prstGeom prst="roundRect">
            <a:avLst>
              <a:gd name="adj" fmla="val 10714"/>
            </a:avLst>
          </a:prstGeom>
          <a:solidFill>
            <a:srgbClr val="F2F6F7"/>
          </a:solidFill>
          <a:ln w="8890">
            <a:solidFill>
              <a:srgbClr val="E0A13A"/>
            </a:solidFill>
            <a:prstDash val="solid"/>
          </a:ln>
        </p:spPr>
        <p:txBody>
          <a:bodyPr/>
          <a:lstStyle/>
          <a:p>
            <a:endParaRPr lang="en-US"/>
          </a:p>
        </p:txBody>
      </p:sp>
      <p:sp>
        <p:nvSpPr>
          <p:cNvPr id="17" name="Text 15"/>
          <p:cNvSpPr/>
          <p:nvPr/>
        </p:nvSpPr>
        <p:spPr>
          <a:xfrm>
            <a:off x="640080" y="3209544"/>
            <a:ext cx="1965960" cy="164592"/>
          </a:xfrm>
          <a:prstGeom prst="rect">
            <a:avLst/>
          </a:prstGeom>
          <a:noFill/>
          <a:ln/>
        </p:spPr>
        <p:txBody>
          <a:bodyPr wrap="square" lIns="0" tIns="0" rIns="0" bIns="0" rtlCol="0" anchor="t"/>
          <a:lstStyle/>
          <a:p>
            <a:pPr marL="0" indent="0" algn="l">
              <a:buNone/>
            </a:pPr>
            <a:r>
              <a:rPr lang="en-US" sz="1400" b="1" dirty="0">
                <a:solidFill>
                  <a:srgbClr val="E0A13A"/>
                </a:solidFill>
                <a:latin typeface="Aptos" pitchFamily="34" charset="0"/>
                <a:ea typeface="Aptos" pitchFamily="34" charset="-122"/>
                <a:cs typeface="Aptos" pitchFamily="34" charset="-120"/>
              </a:rPr>
              <a:t>Intent preservation</a:t>
            </a:r>
            <a:endParaRPr lang="en-US" sz="950" dirty="0"/>
          </a:p>
        </p:txBody>
      </p:sp>
      <p:sp>
        <p:nvSpPr>
          <p:cNvPr id="18" name="Text 16"/>
          <p:cNvSpPr/>
          <p:nvPr/>
        </p:nvSpPr>
        <p:spPr>
          <a:xfrm>
            <a:off x="2807208" y="3209544"/>
            <a:ext cx="2057400" cy="164592"/>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same question intent</a:t>
            </a:r>
            <a:endParaRPr lang="en-US" sz="950" dirty="0"/>
          </a:p>
        </p:txBody>
      </p:sp>
      <p:sp>
        <p:nvSpPr>
          <p:cNvPr id="19" name="Text 17"/>
          <p:cNvSpPr/>
          <p:nvPr/>
        </p:nvSpPr>
        <p:spPr>
          <a:xfrm>
            <a:off x="5001768" y="3209544"/>
            <a:ext cx="6263640" cy="164592"/>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Does the noisy or repaired question still point to the clean one?</a:t>
            </a:r>
            <a:endParaRPr lang="en-US" sz="820" dirty="0"/>
          </a:p>
        </p:txBody>
      </p:sp>
      <p:sp>
        <p:nvSpPr>
          <p:cNvPr id="20" name="Shape 18"/>
          <p:cNvSpPr/>
          <p:nvPr/>
        </p:nvSpPr>
        <p:spPr>
          <a:xfrm>
            <a:off x="475488" y="3803904"/>
            <a:ext cx="11064240" cy="512064"/>
          </a:xfrm>
          <a:prstGeom prst="roundRect">
            <a:avLst>
              <a:gd name="adj" fmla="val 10714"/>
            </a:avLst>
          </a:prstGeom>
          <a:solidFill>
            <a:srgbClr val="F2F6F7"/>
          </a:solidFill>
          <a:ln w="8890">
            <a:solidFill>
              <a:srgbClr val="C94C4C"/>
            </a:solidFill>
            <a:prstDash val="solid"/>
          </a:ln>
        </p:spPr>
        <p:txBody>
          <a:bodyPr/>
          <a:lstStyle/>
          <a:p>
            <a:endParaRPr lang="en-US"/>
          </a:p>
        </p:txBody>
      </p:sp>
      <p:sp>
        <p:nvSpPr>
          <p:cNvPr id="21" name="Text 19"/>
          <p:cNvSpPr/>
          <p:nvPr/>
        </p:nvSpPr>
        <p:spPr>
          <a:xfrm>
            <a:off x="640080" y="3922776"/>
            <a:ext cx="1965960" cy="164592"/>
          </a:xfrm>
          <a:prstGeom prst="rect">
            <a:avLst/>
          </a:prstGeom>
          <a:noFill/>
          <a:ln/>
        </p:spPr>
        <p:txBody>
          <a:bodyPr wrap="square" lIns="0" tIns="0" rIns="0" bIns="0" rtlCol="0" anchor="t"/>
          <a:lstStyle/>
          <a:p>
            <a:pPr marL="0" indent="0" algn="l">
              <a:buNone/>
            </a:pPr>
            <a:r>
              <a:rPr lang="en-US" sz="1400" b="1" dirty="0">
                <a:solidFill>
                  <a:srgbClr val="C94C4C"/>
                </a:solidFill>
                <a:latin typeface="Aptos" pitchFamily="34" charset="0"/>
                <a:ea typeface="Aptos" pitchFamily="34" charset="-122"/>
                <a:cs typeface="Aptos" pitchFamily="34" charset="-120"/>
              </a:rPr>
              <a:t>Domain metrics</a:t>
            </a:r>
            <a:endParaRPr lang="en-US" sz="950" dirty="0"/>
          </a:p>
        </p:txBody>
      </p:sp>
      <p:sp>
        <p:nvSpPr>
          <p:cNvPr id="22" name="Text 20"/>
          <p:cNvSpPr/>
          <p:nvPr/>
        </p:nvSpPr>
        <p:spPr>
          <a:xfrm>
            <a:off x="2807208" y="3922776"/>
            <a:ext cx="2057400" cy="164592"/>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medical content retained</a:t>
            </a:r>
            <a:endParaRPr lang="en-US" sz="950" dirty="0"/>
          </a:p>
        </p:txBody>
      </p:sp>
      <p:sp>
        <p:nvSpPr>
          <p:cNvPr id="23" name="Text 21"/>
          <p:cNvSpPr/>
          <p:nvPr/>
        </p:nvSpPr>
        <p:spPr>
          <a:xfrm>
            <a:off x="5001768" y="3922776"/>
            <a:ext cx="6263640" cy="164592"/>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med_coverage, med_precision, med_f1 from a MedQuAD-derived lexicon</a:t>
            </a:r>
            <a:endParaRPr lang="en-US" sz="820" dirty="0"/>
          </a:p>
        </p:txBody>
      </p:sp>
      <p:sp>
        <p:nvSpPr>
          <p:cNvPr id="24" name="Shape 22"/>
          <p:cNvSpPr/>
          <p:nvPr/>
        </p:nvSpPr>
        <p:spPr>
          <a:xfrm>
            <a:off x="475488" y="4517136"/>
            <a:ext cx="11064240" cy="512064"/>
          </a:xfrm>
          <a:prstGeom prst="roundRect">
            <a:avLst>
              <a:gd name="adj" fmla="val 10714"/>
            </a:avLst>
          </a:prstGeom>
          <a:solidFill>
            <a:srgbClr val="F2F6F7"/>
          </a:solidFill>
          <a:ln w="8890">
            <a:solidFill>
              <a:srgbClr val="2D9D78"/>
            </a:solidFill>
            <a:prstDash val="solid"/>
          </a:ln>
        </p:spPr>
        <p:txBody>
          <a:bodyPr/>
          <a:lstStyle/>
          <a:p>
            <a:endParaRPr lang="en-US"/>
          </a:p>
        </p:txBody>
      </p:sp>
      <p:sp>
        <p:nvSpPr>
          <p:cNvPr id="25" name="Text 23"/>
          <p:cNvSpPr/>
          <p:nvPr/>
        </p:nvSpPr>
        <p:spPr>
          <a:xfrm>
            <a:off x="640080" y="4636008"/>
            <a:ext cx="1965960" cy="164592"/>
          </a:xfrm>
          <a:prstGeom prst="rect">
            <a:avLst/>
          </a:prstGeom>
          <a:noFill/>
          <a:ln/>
        </p:spPr>
        <p:txBody>
          <a:bodyPr wrap="square" lIns="0" tIns="0" rIns="0" bIns="0" rtlCol="0" anchor="t"/>
          <a:lstStyle/>
          <a:p>
            <a:pPr marL="0" indent="0" algn="l">
              <a:buNone/>
            </a:pPr>
            <a:r>
              <a:rPr lang="en-US" sz="1400" b="1" dirty="0">
                <a:solidFill>
                  <a:srgbClr val="2D9D78"/>
                </a:solidFill>
                <a:latin typeface="Aptos" pitchFamily="34" charset="0"/>
                <a:ea typeface="Aptos" pitchFamily="34" charset="-122"/>
                <a:cs typeface="Aptos" pitchFamily="34" charset="-120"/>
              </a:rPr>
              <a:t>G-Eval</a:t>
            </a:r>
            <a:endParaRPr lang="en-US" sz="950" dirty="0"/>
          </a:p>
        </p:txBody>
      </p:sp>
      <p:sp>
        <p:nvSpPr>
          <p:cNvPr id="26" name="Text 24"/>
          <p:cNvSpPr/>
          <p:nvPr/>
        </p:nvSpPr>
        <p:spPr>
          <a:xfrm>
            <a:off x="2807208" y="4636008"/>
            <a:ext cx="2057400" cy="164592"/>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judged answer quality</a:t>
            </a:r>
            <a:endParaRPr lang="en-US" sz="950" dirty="0"/>
          </a:p>
        </p:txBody>
      </p:sp>
      <p:sp>
        <p:nvSpPr>
          <p:cNvPr id="27" name="Text 25"/>
          <p:cNvSpPr/>
          <p:nvPr/>
        </p:nvSpPr>
        <p:spPr>
          <a:xfrm>
            <a:off x="5001768" y="4663440"/>
            <a:ext cx="6428232" cy="192024"/>
          </a:xfrm>
          <a:prstGeom prst="rect">
            <a:avLst/>
          </a:prstGeom>
          <a:noFill/>
          <a:ln/>
        </p:spPr>
        <p:txBody>
          <a:bodyPr wrap="square" lIns="0" tIns="0" rIns="0" bIns="0" rtlCol="0" anchor="t">
            <a:normAutofit fontScale="92500" lnSpcReduction="10000"/>
          </a:bodyPr>
          <a:lstStyle/>
          <a:p>
            <a:pPr marL="0" indent="0" algn="l">
              <a:buNone/>
            </a:pPr>
            <a:r>
              <a:rPr lang="en-US" sz="1400" dirty="0">
                <a:solidFill>
                  <a:srgbClr val="52616B"/>
                </a:solidFill>
                <a:latin typeface="Aptos" pitchFamily="34" charset="0"/>
                <a:ea typeface="Aptos" pitchFamily="34" charset="-122"/>
                <a:cs typeface="Aptos" pitchFamily="34" charset="-120"/>
              </a:rPr>
              <a:t>GPT-5.4-mini sees question, reference answer, and model answer, then scores 1-5</a:t>
            </a:r>
            <a:endParaRPr lang="en-US" sz="820" dirty="0"/>
          </a:p>
        </p:txBody>
      </p:sp>
      <p:sp>
        <p:nvSpPr>
          <p:cNvPr id="28" name="Text 26"/>
          <p:cNvSpPr/>
          <p:nvPr/>
        </p:nvSpPr>
        <p:spPr>
          <a:xfrm>
            <a:off x="475488" y="5532120"/>
            <a:ext cx="10607040" cy="402336"/>
          </a:xfrm>
          <a:prstGeom prst="rect">
            <a:avLst/>
          </a:prstGeom>
          <a:noFill/>
          <a:ln/>
        </p:spPr>
        <p:txBody>
          <a:bodyPr wrap="square" lIns="635" tIns="635" rIns="635" bIns="635"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Key reading rule: repair can clean up the question while still hurting the answer. That is why the deck pairs intent metrics with answer-quality and medical-content metrics.</a:t>
            </a:r>
            <a:endParaRPr lang="en-US" sz="1300" dirty="0"/>
          </a:p>
        </p:txBody>
      </p:sp>
      <p:sp>
        <p:nvSpPr>
          <p:cNvPr id="29" name="Oval 28"/>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Headline result</a:t>
            </a:r>
            <a:endParaRPr lang="en-US" sz="780" dirty="0"/>
          </a:p>
        </p:txBody>
      </p:sp>
      <p:sp>
        <p:nvSpPr>
          <p:cNvPr id="3" name="Text 1"/>
          <p:cNvSpPr/>
          <p:nvPr/>
        </p:nvSpPr>
        <p:spPr>
          <a:xfrm>
            <a:off x="475488" y="621792"/>
            <a:ext cx="11247120" cy="566928"/>
          </a:xfrm>
          <a:prstGeom prst="rect">
            <a:avLst/>
          </a:prstGeom>
          <a:noFill/>
          <a:ln/>
        </p:spPr>
        <p:txBody>
          <a:bodyPr wrap="square" lIns="635" tIns="635" rIns="635" bIns="635" rtlCol="0" anchor="t">
            <a:normAutofit/>
          </a:bodyPr>
          <a:lstStyle/>
          <a:p>
            <a:pPr marL="0" indent="0" algn="l">
              <a:buNone/>
            </a:pPr>
            <a:r>
              <a:rPr lang="en-US" sz="2600" b="1" dirty="0">
                <a:solidFill>
                  <a:srgbClr val="25323D"/>
                </a:solidFill>
                <a:latin typeface="Aptos" pitchFamily="34" charset="0"/>
                <a:ea typeface="Aptos" pitchFamily="34" charset="-122"/>
                <a:cs typeface="Aptos" pitchFamily="34" charset="-120"/>
              </a:rPr>
              <a:t>The n=50 pilot does not show systematic repair improvement.</a:t>
            </a:r>
            <a:endParaRPr lang="en-US" sz="2400" dirty="0"/>
          </a:p>
        </p:txBody>
      </p:sp>
      <p:sp>
        <p:nvSpPr>
          <p:cNvPr id="4" name="Text 2"/>
          <p:cNvSpPr/>
          <p:nvPr/>
        </p:nvSpPr>
        <p:spPr>
          <a:xfrm>
            <a:off x="502920" y="1508760"/>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Average G-Eval falls after noise; repair does not consistently recover it.</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8 / 19</a:t>
            </a:r>
            <a:endParaRPr lang="en-US" sz="680" dirty="0"/>
          </a:p>
        </p:txBody>
      </p:sp>
      <p:graphicFrame>
        <p:nvGraphicFramePr>
          <p:cNvPr id="8" name="Chart 0"/>
          <p:cNvGraphicFramePr/>
          <p:nvPr/>
        </p:nvGraphicFramePr>
        <p:xfrm>
          <a:off x="457200" y="1874519"/>
          <a:ext cx="78638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10"/>
          <p:cNvSpPr/>
          <p:nvPr/>
        </p:nvSpPr>
        <p:spPr>
          <a:xfrm>
            <a:off x="548640" y="5989320"/>
            <a:ext cx="10515600" cy="411480"/>
          </a:xfrm>
          <a:prstGeom prst="rect">
            <a:avLst/>
          </a:prstGeom>
          <a:noFill/>
          <a:ln/>
        </p:spPr>
        <p:txBody>
          <a:bodyPr wrap="square" lIns="635" tIns="635" rIns="635" bIns="635" rtlCol="0" anchor="t">
            <a:normAutofit/>
          </a:bodyPr>
          <a:lstStyle/>
          <a:p>
            <a:pPr marL="0" indent="0" algn="l">
              <a:buNone/>
            </a:pPr>
            <a:r>
              <a:rPr lang="en-US" sz="1200" i="1" dirty="0">
                <a:solidFill>
                  <a:srgbClr val="52616B"/>
                </a:solidFill>
                <a:latin typeface="Aptos" pitchFamily="34" charset="0"/>
                <a:ea typeface="Aptos" pitchFamily="34" charset="-122"/>
                <a:cs typeface="Aptos" pitchFamily="34" charset="-120"/>
              </a:rPr>
              <a:t>Interpretation: repair is not a blanket safety layer. It sometimes helps, but the average n=50 answer-quality signal stays mixed.</a:t>
            </a:r>
            <a:endParaRPr lang="en-US" sz="920" dirty="0"/>
          </a:p>
        </p:txBody>
      </p:sp>
      <p:sp>
        <p:nvSpPr>
          <p:cNvPr id="14" name="Oval 13"/>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07</a:t>
            </a:r>
          </a:p>
        </p:txBody>
      </p:sp>
      <p:sp>
        <p:nvSpPr>
          <p:cNvPr id="15" name="Rounded Rectangle 14"/>
          <p:cNvSpPr/>
          <p:nvPr/>
        </p:nvSpPr>
        <p:spPr>
          <a:xfrm>
            <a:off x="8549640" y="1920240"/>
            <a:ext cx="3246120" cy="2194560"/>
          </a:xfrm>
          <a:prstGeom prst="roundRect">
            <a:avLst/>
          </a:prstGeom>
          <a:solidFill>
            <a:srgbClr val="FDF6E7"/>
          </a:solidFill>
          <a:ln w="19050">
            <a:solidFill>
              <a:srgbClr val="E0A13A"/>
            </a:solidFill>
          </a:ln>
        </p:spPr>
        <p:style>
          <a:lnRef idx="1">
            <a:schemeClr val="accent1"/>
          </a:lnRef>
          <a:fillRef idx="3">
            <a:schemeClr val="accent1"/>
          </a:fillRef>
          <a:effectRef idx="2">
            <a:schemeClr val="accent1"/>
          </a:effectRef>
          <a:fontRef idx="minor">
            <a:schemeClr val="lt1"/>
          </a:fontRef>
        </p:style>
        <p:txBody>
          <a:bodyPr wrap="square" lIns="164592" tIns="137160" rIns="164592" bIns="137160" rtlCol="0" anchor="ctr"/>
          <a:lstStyle/>
          <a:p>
            <a:pPr algn="ctr"/>
            <a:r>
              <a:rPr sz="1400" b="1" i="0" dirty="0">
                <a:solidFill>
                  <a:srgbClr val="E0A13A"/>
                </a:solidFill>
                <a:latin typeface="Aptos"/>
              </a:rPr>
              <a:t>Mode averages</a:t>
            </a:r>
          </a:p>
          <a:p>
            <a:r>
              <a:rPr sz="1200" b="1" i="0" dirty="0" err="1">
                <a:solidFill>
                  <a:srgbClr val="25323D"/>
                </a:solidFill>
                <a:latin typeface="Aptos"/>
              </a:rPr>
              <a:t>fixed_repair</a:t>
            </a:r>
            <a:endParaRPr sz="1200" b="1" i="0" dirty="0">
              <a:solidFill>
                <a:srgbClr val="25323D"/>
              </a:solidFill>
              <a:latin typeface="Aptos"/>
            </a:endParaRPr>
          </a:p>
          <a:p>
            <a:r>
              <a:rPr sz="1200" b="0" i="0" dirty="0">
                <a:solidFill>
                  <a:srgbClr val="52616B"/>
                </a:solidFill>
                <a:latin typeface="Aptos"/>
              </a:rPr>
              <a:t>3.73 → 3.47 → 3.35</a:t>
            </a:r>
          </a:p>
          <a:p>
            <a:r>
              <a:rPr sz="1200" b="1" i="0" dirty="0" err="1">
                <a:solidFill>
                  <a:srgbClr val="25323D"/>
                </a:solidFill>
                <a:latin typeface="Aptos"/>
              </a:rPr>
              <a:t>self_repair</a:t>
            </a:r>
            <a:endParaRPr sz="1200" b="1" i="0" dirty="0">
              <a:solidFill>
                <a:srgbClr val="25323D"/>
              </a:solidFill>
              <a:latin typeface="Aptos"/>
            </a:endParaRPr>
          </a:p>
          <a:p>
            <a:r>
              <a:rPr sz="1200" b="0" i="0" dirty="0">
                <a:solidFill>
                  <a:srgbClr val="52616B"/>
                </a:solidFill>
                <a:latin typeface="Aptos"/>
              </a:rPr>
              <a:t>3.73 → 3.47 → 3.41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Model comparison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Which models recover G-Eval after repair?</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Repaired-minus-noisy G-Eval varies sharply by model and by repair mode.</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9 / 19</a:t>
            </a:r>
            <a:endParaRPr lang="en-US" sz="680" dirty="0"/>
          </a:p>
        </p:txBody>
      </p:sp>
      <p:sp>
        <p:nvSpPr>
          <p:cNvPr id="9" name="Shape 6"/>
          <p:cNvSpPr/>
          <p:nvPr/>
        </p:nvSpPr>
        <p:spPr>
          <a:xfrm>
            <a:off x="8275320" y="1828800"/>
            <a:ext cx="3063240" cy="2880360"/>
          </a:xfrm>
          <a:prstGeom prst="roundRect">
            <a:avLst>
              <a:gd name="adj" fmla="val 1905"/>
            </a:avLst>
          </a:prstGeom>
          <a:solidFill>
            <a:srgbClr val="F2F6F7"/>
          </a:solidFill>
          <a:ln w="8890">
            <a:solidFill>
              <a:srgbClr val="D9E2E8"/>
            </a:solidFill>
            <a:prstDash val="solid"/>
          </a:ln>
        </p:spPr>
        <p:txBody>
          <a:bodyPr/>
          <a:lstStyle/>
          <a:p>
            <a:endParaRPr lang="en-US"/>
          </a:p>
        </p:txBody>
      </p:sp>
      <p:sp>
        <p:nvSpPr>
          <p:cNvPr id="10" name="Text 7"/>
          <p:cNvSpPr/>
          <p:nvPr/>
        </p:nvSpPr>
        <p:spPr>
          <a:xfrm>
            <a:off x="8485632" y="2057400"/>
            <a:ext cx="1920240" cy="219456"/>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What stands out</a:t>
            </a:r>
            <a:endParaRPr lang="en-US" sz="1300" dirty="0"/>
          </a:p>
        </p:txBody>
      </p:sp>
      <p:sp>
        <p:nvSpPr>
          <p:cNvPr id="11" name="Text 8"/>
          <p:cNvSpPr/>
          <p:nvPr/>
        </p:nvSpPr>
        <p:spPr>
          <a:xfrm>
            <a:off x="8485632" y="2487168"/>
            <a:ext cx="2560320" cy="1572768"/>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Self-repair has two large positive outliers: Qwen3 (+1.32) and Mixtral (+0.66).</a:t>
            </a:r>
            <a:endParaRPr lang="en-US" sz="880" dirty="0"/>
          </a:p>
          <a:p>
            <a:pPr marL="0" indent="0" algn="l">
              <a:buNone/>
            </a:pPr>
            <a:endParaRPr lang="en-US" sz="880" dirty="0"/>
          </a:p>
          <a:p>
            <a:pPr marL="0" indent="0" algn="l">
              <a:buNone/>
            </a:pPr>
            <a:r>
              <a:rPr lang="en-US" sz="1400" dirty="0">
                <a:solidFill>
                  <a:srgbClr val="52616B"/>
                </a:solidFill>
                <a:latin typeface="Aptos" pitchFamily="34" charset="0"/>
                <a:ea typeface="Aptos" pitchFamily="34" charset="-122"/>
                <a:cs typeface="Aptos" pitchFamily="34" charset="-120"/>
              </a:rPr>
              <a:t>Most other models are flat or worse after repair.</a:t>
            </a:r>
            <a:endParaRPr lang="en-US" sz="880" dirty="0"/>
          </a:p>
          <a:p>
            <a:pPr marL="0" indent="0" algn="l">
              <a:buNone/>
            </a:pPr>
            <a:endParaRPr lang="en-US" sz="880" dirty="0"/>
          </a:p>
          <a:p>
            <a:pPr marL="0" indent="0" algn="l">
              <a:buNone/>
            </a:pPr>
            <a:r>
              <a:rPr lang="en-US" sz="1400" dirty="0">
                <a:solidFill>
                  <a:srgbClr val="52616B"/>
                </a:solidFill>
                <a:latin typeface="Aptos" pitchFamily="34" charset="0"/>
                <a:ea typeface="Aptos" pitchFamily="34" charset="-122"/>
                <a:cs typeface="Aptos" pitchFamily="34" charset="-120"/>
              </a:rPr>
              <a:t>Fixed repair is more controlled but has smaller gains: only Qwen3 and BioMistral improve G-Eval.</a:t>
            </a:r>
            <a:endParaRPr lang="en-US" sz="880" dirty="0"/>
          </a:p>
        </p:txBody>
      </p:sp>
      <p:sp>
        <p:nvSpPr>
          <p:cNvPr id="12" name="Oval 11"/>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08</a:t>
            </a:r>
          </a:p>
        </p:txBody>
      </p:sp>
      <p:graphicFrame>
        <p:nvGraphicFramePr>
          <p:cNvPr id="13" name="Chart 12"/>
          <p:cNvGraphicFramePr>
            <a:graphicFrameLocks noGrp="1"/>
          </p:cNvGraphicFramePr>
          <p:nvPr/>
        </p:nvGraphicFramePr>
        <p:xfrm>
          <a:off x="475488" y="1600200"/>
          <a:ext cx="7543800" cy="44348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Noise breakdown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Repair behaves differently by noise type.</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Bars show repaired-minus-noisy G-Eval. Values above zero mean repair helped answer quality.</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10 / 19</a:t>
            </a:r>
            <a:endParaRPr lang="en-US" sz="680" dirty="0"/>
          </a:p>
        </p:txBody>
      </p:sp>
      <p:sp>
        <p:nvSpPr>
          <p:cNvPr id="9" name="Text 6"/>
          <p:cNvSpPr/>
          <p:nvPr/>
        </p:nvSpPr>
        <p:spPr>
          <a:xfrm>
            <a:off x="8366760" y="1874520"/>
            <a:ext cx="1097280" cy="219456"/>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Reading</a:t>
            </a:r>
            <a:endParaRPr lang="en-US" sz="1300" dirty="0"/>
          </a:p>
        </p:txBody>
      </p:sp>
      <p:sp>
        <p:nvSpPr>
          <p:cNvPr id="10" name="Text 7"/>
          <p:cNvSpPr/>
          <p:nvPr/>
        </p:nvSpPr>
        <p:spPr>
          <a:xfrm>
            <a:off x="8366760" y="2267712"/>
            <a:ext cx="2743200" cy="1828800"/>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Self-repair helps typos/grammar and incomplete questions slightly on average.</a:t>
            </a:r>
            <a:endParaRPr lang="en-US" sz="920" dirty="0"/>
          </a:p>
          <a:p>
            <a:pPr marL="0" indent="0" algn="l">
              <a:buNone/>
            </a:pPr>
            <a:endParaRPr lang="en-US" sz="920" dirty="0"/>
          </a:p>
          <a:p>
            <a:pPr marL="0" indent="0" algn="l">
              <a:buNone/>
            </a:pPr>
            <a:r>
              <a:rPr lang="en-US" sz="1400" dirty="0">
                <a:solidFill>
                  <a:srgbClr val="52616B"/>
                </a:solidFill>
                <a:latin typeface="Aptos" pitchFamily="34" charset="0"/>
                <a:ea typeface="Aptos" pitchFamily="34" charset="-122"/>
                <a:cs typeface="Aptos" pitchFamily="34" charset="-120"/>
              </a:rPr>
              <a:t>Layperson phrasing and overgeneralization remain difficult: repair often preserves or amplifies the wrong framing.</a:t>
            </a:r>
            <a:endParaRPr lang="en-US" sz="920" dirty="0"/>
          </a:p>
          <a:p>
            <a:pPr marL="0" indent="0" algn="l">
              <a:buNone/>
            </a:pPr>
            <a:endParaRPr lang="en-US" sz="920" dirty="0"/>
          </a:p>
          <a:p>
            <a:pPr marL="0" indent="0" algn="l">
              <a:buNone/>
            </a:pPr>
            <a:r>
              <a:rPr lang="en-US" sz="1400" dirty="0">
                <a:solidFill>
                  <a:srgbClr val="52616B"/>
                </a:solidFill>
                <a:latin typeface="Aptos" pitchFamily="34" charset="0"/>
                <a:ea typeface="Aptos" pitchFamily="34" charset="-122"/>
                <a:cs typeface="Aptos" pitchFamily="34" charset="-120"/>
              </a:rPr>
              <a:t>Averages hide examples where repair helps strongly and examples where it fails completely.</a:t>
            </a:r>
            <a:endParaRPr lang="en-US" sz="920" dirty="0"/>
          </a:p>
        </p:txBody>
      </p:sp>
      <p:sp>
        <p:nvSpPr>
          <p:cNvPr id="11" name="Oval 10"/>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09</a:t>
            </a:r>
          </a:p>
        </p:txBody>
      </p:sp>
      <p:graphicFrame>
        <p:nvGraphicFramePr>
          <p:cNvPr id="12" name="Chart 11"/>
          <p:cNvGraphicFramePr>
            <a:graphicFrameLocks noGrp="1"/>
          </p:cNvGraphicFramePr>
          <p:nvPr/>
        </p:nvGraphicFramePr>
        <p:xfrm>
          <a:off x="475488" y="1627632"/>
          <a:ext cx="7680960" cy="43891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Metric tension</a:t>
            </a:r>
            <a:endParaRPr lang="en-US" sz="780" dirty="0"/>
          </a:p>
        </p:txBody>
      </p:sp>
      <p:sp>
        <p:nvSpPr>
          <p:cNvPr id="3" name="Text 1"/>
          <p:cNvSpPr/>
          <p:nvPr/>
        </p:nvSpPr>
        <p:spPr>
          <a:xfrm>
            <a:off x="475488" y="621792"/>
            <a:ext cx="1124712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Repair cleans up intent more reliably than it improves answers.</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Across 11 models, intent preservation improves everywhere, but answer and domain metrics often move the other way.</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11 / 19</a:t>
            </a:r>
            <a:endParaRPr lang="en-US" sz="680" dirty="0"/>
          </a:p>
        </p:txBody>
      </p:sp>
      <p:sp>
        <p:nvSpPr>
          <p:cNvPr id="8" name="Shape 6"/>
          <p:cNvSpPr/>
          <p:nvPr/>
        </p:nvSpPr>
        <p:spPr>
          <a:xfrm>
            <a:off x="475488" y="1691640"/>
            <a:ext cx="9235440" cy="502920"/>
          </a:xfrm>
          <a:prstGeom prst="rect">
            <a:avLst/>
          </a:prstGeom>
          <a:solidFill>
            <a:srgbClr val="25323D"/>
          </a:solidFill>
          <a:ln w="8890">
            <a:solidFill>
              <a:srgbClr val="25323D"/>
            </a:solidFill>
            <a:prstDash val="solid"/>
          </a:ln>
        </p:spPr>
        <p:txBody>
          <a:bodyPr/>
          <a:lstStyle/>
          <a:p>
            <a:endParaRPr lang="en-US"/>
          </a:p>
        </p:txBody>
      </p:sp>
      <p:sp>
        <p:nvSpPr>
          <p:cNvPr id="9" name="Text 7"/>
          <p:cNvSpPr/>
          <p:nvPr/>
        </p:nvSpPr>
        <p:spPr>
          <a:xfrm>
            <a:off x="521208" y="1746504"/>
            <a:ext cx="2651760" cy="429768"/>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Metric</a:t>
            </a:r>
            <a:endParaRPr lang="en-US" sz="800" dirty="0"/>
          </a:p>
        </p:txBody>
      </p:sp>
      <p:sp>
        <p:nvSpPr>
          <p:cNvPr id="10" name="Text 8"/>
          <p:cNvSpPr/>
          <p:nvPr/>
        </p:nvSpPr>
        <p:spPr>
          <a:xfrm>
            <a:off x="3264408" y="1746504"/>
            <a:ext cx="3154680" cy="429768"/>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fixed: improved/worse/flat</a:t>
            </a:r>
            <a:endParaRPr lang="en-US" sz="800" dirty="0"/>
          </a:p>
        </p:txBody>
      </p:sp>
      <p:sp>
        <p:nvSpPr>
          <p:cNvPr id="11" name="Text 9"/>
          <p:cNvSpPr/>
          <p:nvPr/>
        </p:nvSpPr>
        <p:spPr>
          <a:xfrm>
            <a:off x="6510528" y="1746504"/>
            <a:ext cx="3154680" cy="429768"/>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self: improved/worse/flat</a:t>
            </a:r>
            <a:endParaRPr lang="en-US" sz="800" dirty="0"/>
          </a:p>
        </p:txBody>
      </p:sp>
      <p:sp>
        <p:nvSpPr>
          <p:cNvPr id="12" name="Shape 10"/>
          <p:cNvSpPr/>
          <p:nvPr/>
        </p:nvSpPr>
        <p:spPr>
          <a:xfrm>
            <a:off x="475488" y="2194560"/>
            <a:ext cx="9235440" cy="502920"/>
          </a:xfrm>
          <a:prstGeom prst="rect">
            <a:avLst/>
          </a:prstGeom>
          <a:solidFill>
            <a:srgbClr val="F2F6F7"/>
          </a:solidFill>
          <a:ln w="8890">
            <a:solidFill>
              <a:srgbClr val="D9E2E8"/>
            </a:solidFill>
            <a:prstDash val="solid"/>
          </a:ln>
        </p:spPr>
        <p:txBody>
          <a:bodyPr/>
          <a:lstStyle/>
          <a:p>
            <a:endParaRPr lang="en-US"/>
          </a:p>
        </p:txBody>
      </p:sp>
      <p:sp>
        <p:nvSpPr>
          <p:cNvPr id="13" name="Text 11"/>
          <p:cNvSpPr/>
          <p:nvPr/>
        </p:nvSpPr>
        <p:spPr>
          <a:xfrm>
            <a:off x="521208" y="2244852"/>
            <a:ext cx="2651760" cy="42976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G-Eval</a:t>
            </a:r>
            <a:endParaRPr lang="en-US" sz="900" dirty="0"/>
          </a:p>
        </p:txBody>
      </p:sp>
      <p:sp>
        <p:nvSpPr>
          <p:cNvPr id="14" name="Text 12"/>
          <p:cNvSpPr/>
          <p:nvPr/>
        </p:nvSpPr>
        <p:spPr>
          <a:xfrm>
            <a:off x="3264408" y="224485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2</a:t>
            </a:r>
            <a:r>
              <a:rPr sz="1300" b="0">
                <a:solidFill>
                  <a:srgbClr val="52616B"/>
                </a:solidFill>
                <a:latin typeface="Aptos"/>
              </a:rPr>
              <a:t> / </a:t>
            </a:r>
            <a:r>
              <a:rPr sz="1300" b="1">
                <a:solidFill>
                  <a:srgbClr val="C94C4C"/>
                </a:solidFill>
                <a:latin typeface="Aptos"/>
              </a:rPr>
              <a:t>8</a:t>
            </a:r>
            <a:r>
              <a:rPr sz="1300" b="0">
                <a:solidFill>
                  <a:srgbClr val="52616B"/>
                </a:solidFill>
                <a:latin typeface="Aptos"/>
              </a:rPr>
              <a:t> / </a:t>
            </a:r>
            <a:r>
              <a:rPr sz="1300" b="1">
                <a:solidFill>
                  <a:srgbClr val="52616B"/>
                </a:solidFill>
                <a:latin typeface="Aptos"/>
              </a:rPr>
              <a:t>1</a:t>
            </a:r>
            <a:endParaRPr lang="en-US" sz="900" dirty="0"/>
          </a:p>
        </p:txBody>
      </p:sp>
      <p:sp>
        <p:nvSpPr>
          <p:cNvPr id="15" name="Text 13"/>
          <p:cNvSpPr/>
          <p:nvPr/>
        </p:nvSpPr>
        <p:spPr>
          <a:xfrm>
            <a:off x="6510528" y="224485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2</a:t>
            </a:r>
            <a:r>
              <a:rPr sz="1300" b="0">
                <a:solidFill>
                  <a:srgbClr val="52616B"/>
                </a:solidFill>
                <a:latin typeface="Aptos"/>
              </a:rPr>
              <a:t> / </a:t>
            </a:r>
            <a:r>
              <a:rPr sz="1300" b="1">
                <a:solidFill>
                  <a:srgbClr val="C94C4C"/>
                </a:solidFill>
                <a:latin typeface="Aptos"/>
              </a:rPr>
              <a:t>9</a:t>
            </a:r>
            <a:r>
              <a:rPr sz="1300" b="0">
                <a:solidFill>
                  <a:srgbClr val="52616B"/>
                </a:solidFill>
                <a:latin typeface="Aptos"/>
              </a:rPr>
              <a:t> / </a:t>
            </a:r>
            <a:r>
              <a:rPr sz="1300" b="1">
                <a:solidFill>
                  <a:srgbClr val="52616B"/>
                </a:solidFill>
                <a:latin typeface="Aptos"/>
              </a:rPr>
              <a:t>0</a:t>
            </a:r>
            <a:endParaRPr lang="en-US" sz="900" dirty="0"/>
          </a:p>
        </p:txBody>
      </p:sp>
      <p:sp>
        <p:nvSpPr>
          <p:cNvPr id="16" name="Shape 14"/>
          <p:cNvSpPr/>
          <p:nvPr/>
        </p:nvSpPr>
        <p:spPr>
          <a:xfrm>
            <a:off x="475488" y="2697480"/>
            <a:ext cx="9235440" cy="502920"/>
          </a:xfrm>
          <a:prstGeom prst="rect">
            <a:avLst/>
          </a:prstGeom>
          <a:solidFill>
            <a:srgbClr val="FFFFFF"/>
          </a:solidFill>
          <a:ln w="8890">
            <a:solidFill>
              <a:srgbClr val="D9E2E8"/>
            </a:solidFill>
            <a:prstDash val="solid"/>
          </a:ln>
        </p:spPr>
        <p:txBody>
          <a:bodyPr/>
          <a:lstStyle/>
          <a:p>
            <a:endParaRPr lang="en-US"/>
          </a:p>
        </p:txBody>
      </p:sp>
      <p:sp>
        <p:nvSpPr>
          <p:cNvPr id="17" name="Text 15"/>
          <p:cNvSpPr/>
          <p:nvPr/>
        </p:nvSpPr>
        <p:spPr>
          <a:xfrm>
            <a:off x="521208" y="2747772"/>
            <a:ext cx="2651760" cy="42976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BERTScore</a:t>
            </a:r>
            <a:endParaRPr lang="en-US" sz="900" dirty="0"/>
          </a:p>
        </p:txBody>
      </p:sp>
      <p:sp>
        <p:nvSpPr>
          <p:cNvPr id="18" name="Text 16"/>
          <p:cNvSpPr/>
          <p:nvPr/>
        </p:nvSpPr>
        <p:spPr>
          <a:xfrm>
            <a:off x="3264408" y="274777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2</a:t>
            </a:r>
            <a:r>
              <a:rPr sz="1300" b="0">
                <a:solidFill>
                  <a:srgbClr val="52616B"/>
                </a:solidFill>
                <a:latin typeface="Aptos"/>
              </a:rPr>
              <a:t> / </a:t>
            </a:r>
            <a:r>
              <a:rPr sz="1300" b="1">
                <a:solidFill>
                  <a:srgbClr val="C94C4C"/>
                </a:solidFill>
                <a:latin typeface="Aptos"/>
              </a:rPr>
              <a:t>9</a:t>
            </a:r>
            <a:r>
              <a:rPr sz="1300" b="0">
                <a:solidFill>
                  <a:srgbClr val="52616B"/>
                </a:solidFill>
                <a:latin typeface="Aptos"/>
              </a:rPr>
              <a:t> / </a:t>
            </a:r>
            <a:r>
              <a:rPr sz="1300" b="1">
                <a:solidFill>
                  <a:srgbClr val="52616B"/>
                </a:solidFill>
                <a:latin typeface="Aptos"/>
              </a:rPr>
              <a:t>0</a:t>
            </a:r>
            <a:endParaRPr lang="en-US" sz="900" dirty="0"/>
          </a:p>
        </p:txBody>
      </p:sp>
      <p:sp>
        <p:nvSpPr>
          <p:cNvPr id="19" name="Text 17"/>
          <p:cNvSpPr/>
          <p:nvPr/>
        </p:nvSpPr>
        <p:spPr>
          <a:xfrm>
            <a:off x="6510528" y="274777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3</a:t>
            </a:r>
            <a:r>
              <a:rPr sz="1300" b="0">
                <a:solidFill>
                  <a:srgbClr val="52616B"/>
                </a:solidFill>
                <a:latin typeface="Aptos"/>
              </a:rPr>
              <a:t> / </a:t>
            </a:r>
            <a:r>
              <a:rPr sz="1300" b="1">
                <a:solidFill>
                  <a:srgbClr val="C94C4C"/>
                </a:solidFill>
                <a:latin typeface="Aptos"/>
              </a:rPr>
              <a:t>8</a:t>
            </a:r>
            <a:r>
              <a:rPr sz="1300" b="0">
                <a:solidFill>
                  <a:srgbClr val="52616B"/>
                </a:solidFill>
                <a:latin typeface="Aptos"/>
              </a:rPr>
              <a:t> / </a:t>
            </a:r>
            <a:r>
              <a:rPr sz="1300" b="1">
                <a:solidFill>
                  <a:srgbClr val="52616B"/>
                </a:solidFill>
                <a:latin typeface="Aptos"/>
              </a:rPr>
              <a:t>0</a:t>
            </a:r>
            <a:endParaRPr lang="en-US" sz="900" dirty="0"/>
          </a:p>
        </p:txBody>
      </p:sp>
      <p:sp>
        <p:nvSpPr>
          <p:cNvPr id="20" name="Shape 18"/>
          <p:cNvSpPr/>
          <p:nvPr/>
        </p:nvSpPr>
        <p:spPr>
          <a:xfrm>
            <a:off x="475488" y="3200400"/>
            <a:ext cx="9235440" cy="502920"/>
          </a:xfrm>
          <a:prstGeom prst="rect">
            <a:avLst/>
          </a:prstGeom>
          <a:solidFill>
            <a:srgbClr val="F2F6F7"/>
          </a:solidFill>
          <a:ln w="8890">
            <a:solidFill>
              <a:srgbClr val="D9E2E8"/>
            </a:solidFill>
            <a:prstDash val="solid"/>
          </a:ln>
        </p:spPr>
        <p:txBody>
          <a:bodyPr/>
          <a:lstStyle/>
          <a:p>
            <a:endParaRPr lang="en-US"/>
          </a:p>
        </p:txBody>
      </p:sp>
      <p:sp>
        <p:nvSpPr>
          <p:cNvPr id="21" name="Text 19"/>
          <p:cNvSpPr/>
          <p:nvPr/>
        </p:nvSpPr>
        <p:spPr>
          <a:xfrm>
            <a:off x="521208" y="3250692"/>
            <a:ext cx="2651760" cy="42976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med_coverage</a:t>
            </a:r>
            <a:endParaRPr lang="en-US" sz="900" dirty="0"/>
          </a:p>
        </p:txBody>
      </p:sp>
      <p:sp>
        <p:nvSpPr>
          <p:cNvPr id="22" name="Text 20"/>
          <p:cNvSpPr/>
          <p:nvPr/>
        </p:nvSpPr>
        <p:spPr>
          <a:xfrm>
            <a:off x="3264408" y="325069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2</a:t>
            </a:r>
            <a:r>
              <a:rPr sz="1300" b="0">
                <a:solidFill>
                  <a:srgbClr val="52616B"/>
                </a:solidFill>
                <a:latin typeface="Aptos"/>
              </a:rPr>
              <a:t> / </a:t>
            </a:r>
            <a:r>
              <a:rPr sz="1300" b="1">
                <a:solidFill>
                  <a:srgbClr val="C94C4C"/>
                </a:solidFill>
                <a:latin typeface="Aptos"/>
              </a:rPr>
              <a:t>9</a:t>
            </a:r>
            <a:r>
              <a:rPr sz="1300" b="0">
                <a:solidFill>
                  <a:srgbClr val="52616B"/>
                </a:solidFill>
                <a:latin typeface="Aptos"/>
              </a:rPr>
              <a:t> / </a:t>
            </a:r>
            <a:r>
              <a:rPr sz="1300" b="1">
                <a:solidFill>
                  <a:srgbClr val="52616B"/>
                </a:solidFill>
                <a:latin typeface="Aptos"/>
              </a:rPr>
              <a:t>0</a:t>
            </a:r>
            <a:endParaRPr lang="en-US" sz="900" dirty="0"/>
          </a:p>
        </p:txBody>
      </p:sp>
      <p:sp>
        <p:nvSpPr>
          <p:cNvPr id="23" name="Text 21"/>
          <p:cNvSpPr/>
          <p:nvPr/>
        </p:nvSpPr>
        <p:spPr>
          <a:xfrm>
            <a:off x="6510528" y="325069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0</a:t>
            </a:r>
            <a:r>
              <a:rPr sz="1300" b="0">
                <a:solidFill>
                  <a:srgbClr val="52616B"/>
                </a:solidFill>
                <a:latin typeface="Aptos"/>
              </a:rPr>
              <a:t> / </a:t>
            </a:r>
            <a:r>
              <a:rPr sz="1300" b="1">
                <a:solidFill>
                  <a:srgbClr val="C94C4C"/>
                </a:solidFill>
                <a:latin typeface="Aptos"/>
              </a:rPr>
              <a:t>11</a:t>
            </a:r>
            <a:r>
              <a:rPr sz="1300" b="0">
                <a:solidFill>
                  <a:srgbClr val="52616B"/>
                </a:solidFill>
                <a:latin typeface="Aptos"/>
              </a:rPr>
              <a:t> / </a:t>
            </a:r>
            <a:r>
              <a:rPr sz="1300" b="1">
                <a:solidFill>
                  <a:srgbClr val="52616B"/>
                </a:solidFill>
                <a:latin typeface="Aptos"/>
              </a:rPr>
              <a:t>0</a:t>
            </a:r>
            <a:endParaRPr lang="en-US" sz="900" dirty="0"/>
          </a:p>
        </p:txBody>
      </p:sp>
      <p:sp>
        <p:nvSpPr>
          <p:cNvPr id="24" name="Shape 22"/>
          <p:cNvSpPr/>
          <p:nvPr/>
        </p:nvSpPr>
        <p:spPr>
          <a:xfrm>
            <a:off x="475488" y="3703320"/>
            <a:ext cx="9235440" cy="502920"/>
          </a:xfrm>
          <a:prstGeom prst="rect">
            <a:avLst/>
          </a:prstGeom>
          <a:solidFill>
            <a:srgbClr val="FFFFFF"/>
          </a:solidFill>
          <a:ln w="8890">
            <a:solidFill>
              <a:srgbClr val="D9E2E8"/>
            </a:solidFill>
            <a:prstDash val="solid"/>
          </a:ln>
        </p:spPr>
        <p:txBody>
          <a:bodyPr/>
          <a:lstStyle/>
          <a:p>
            <a:endParaRPr lang="en-US"/>
          </a:p>
        </p:txBody>
      </p:sp>
      <p:sp>
        <p:nvSpPr>
          <p:cNvPr id="25" name="Text 23"/>
          <p:cNvSpPr/>
          <p:nvPr/>
        </p:nvSpPr>
        <p:spPr>
          <a:xfrm>
            <a:off x="521208" y="3753612"/>
            <a:ext cx="2651760" cy="42976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med_f1</a:t>
            </a:r>
            <a:endParaRPr lang="en-US" sz="900" dirty="0"/>
          </a:p>
        </p:txBody>
      </p:sp>
      <p:sp>
        <p:nvSpPr>
          <p:cNvPr id="26" name="Text 24"/>
          <p:cNvSpPr/>
          <p:nvPr/>
        </p:nvSpPr>
        <p:spPr>
          <a:xfrm>
            <a:off x="3264408" y="375361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4</a:t>
            </a:r>
            <a:r>
              <a:rPr sz="1300" b="0">
                <a:solidFill>
                  <a:srgbClr val="52616B"/>
                </a:solidFill>
                <a:latin typeface="Aptos"/>
              </a:rPr>
              <a:t> / </a:t>
            </a:r>
            <a:r>
              <a:rPr sz="1300" b="1">
                <a:solidFill>
                  <a:srgbClr val="C94C4C"/>
                </a:solidFill>
                <a:latin typeface="Aptos"/>
              </a:rPr>
              <a:t>7</a:t>
            </a:r>
            <a:r>
              <a:rPr sz="1300" b="0">
                <a:solidFill>
                  <a:srgbClr val="52616B"/>
                </a:solidFill>
                <a:latin typeface="Aptos"/>
              </a:rPr>
              <a:t> / </a:t>
            </a:r>
            <a:r>
              <a:rPr sz="1300" b="1">
                <a:solidFill>
                  <a:srgbClr val="52616B"/>
                </a:solidFill>
                <a:latin typeface="Aptos"/>
              </a:rPr>
              <a:t>0</a:t>
            </a:r>
            <a:endParaRPr lang="en-US" sz="900" dirty="0"/>
          </a:p>
        </p:txBody>
      </p:sp>
      <p:sp>
        <p:nvSpPr>
          <p:cNvPr id="27" name="Text 25"/>
          <p:cNvSpPr/>
          <p:nvPr/>
        </p:nvSpPr>
        <p:spPr>
          <a:xfrm>
            <a:off x="6510528" y="375361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1</a:t>
            </a:r>
            <a:r>
              <a:rPr sz="1300" b="0">
                <a:solidFill>
                  <a:srgbClr val="52616B"/>
                </a:solidFill>
                <a:latin typeface="Aptos"/>
              </a:rPr>
              <a:t> / </a:t>
            </a:r>
            <a:r>
              <a:rPr sz="1300" b="1">
                <a:solidFill>
                  <a:srgbClr val="C94C4C"/>
                </a:solidFill>
                <a:latin typeface="Aptos"/>
              </a:rPr>
              <a:t>10</a:t>
            </a:r>
            <a:r>
              <a:rPr sz="1300" b="0">
                <a:solidFill>
                  <a:srgbClr val="52616B"/>
                </a:solidFill>
                <a:latin typeface="Aptos"/>
              </a:rPr>
              <a:t> / </a:t>
            </a:r>
            <a:r>
              <a:rPr sz="1300" b="1">
                <a:solidFill>
                  <a:srgbClr val="52616B"/>
                </a:solidFill>
                <a:latin typeface="Aptos"/>
              </a:rPr>
              <a:t>0</a:t>
            </a:r>
            <a:endParaRPr lang="en-US" sz="900" dirty="0"/>
          </a:p>
        </p:txBody>
      </p:sp>
      <p:sp>
        <p:nvSpPr>
          <p:cNvPr id="28" name="Shape 26"/>
          <p:cNvSpPr/>
          <p:nvPr/>
        </p:nvSpPr>
        <p:spPr>
          <a:xfrm>
            <a:off x="475488" y="4206240"/>
            <a:ext cx="9235440" cy="502920"/>
          </a:xfrm>
          <a:prstGeom prst="rect">
            <a:avLst/>
          </a:prstGeom>
          <a:solidFill>
            <a:srgbClr val="F2F6F7"/>
          </a:solidFill>
          <a:ln w="8890">
            <a:solidFill>
              <a:srgbClr val="D9E2E8"/>
            </a:solidFill>
            <a:prstDash val="solid"/>
          </a:ln>
        </p:spPr>
        <p:txBody>
          <a:bodyPr/>
          <a:lstStyle/>
          <a:p>
            <a:endParaRPr lang="en-US"/>
          </a:p>
        </p:txBody>
      </p:sp>
      <p:sp>
        <p:nvSpPr>
          <p:cNvPr id="29" name="Text 27"/>
          <p:cNvSpPr/>
          <p:nvPr/>
        </p:nvSpPr>
        <p:spPr>
          <a:xfrm>
            <a:off x="521208" y="4256532"/>
            <a:ext cx="2651760" cy="42976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Intent preservation</a:t>
            </a:r>
            <a:endParaRPr lang="en-US" sz="900" dirty="0"/>
          </a:p>
        </p:txBody>
      </p:sp>
      <p:sp>
        <p:nvSpPr>
          <p:cNvPr id="30" name="Text 28"/>
          <p:cNvSpPr/>
          <p:nvPr/>
        </p:nvSpPr>
        <p:spPr>
          <a:xfrm>
            <a:off x="3264408" y="425653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11</a:t>
            </a:r>
            <a:r>
              <a:rPr sz="1300" b="0">
                <a:solidFill>
                  <a:srgbClr val="52616B"/>
                </a:solidFill>
                <a:latin typeface="Aptos"/>
              </a:rPr>
              <a:t> / </a:t>
            </a:r>
            <a:r>
              <a:rPr sz="1300" b="1">
                <a:solidFill>
                  <a:srgbClr val="C94C4C"/>
                </a:solidFill>
                <a:latin typeface="Aptos"/>
              </a:rPr>
              <a:t>0</a:t>
            </a:r>
            <a:r>
              <a:rPr sz="1300" b="0">
                <a:solidFill>
                  <a:srgbClr val="52616B"/>
                </a:solidFill>
                <a:latin typeface="Aptos"/>
              </a:rPr>
              <a:t> / </a:t>
            </a:r>
            <a:r>
              <a:rPr sz="1300" b="1">
                <a:solidFill>
                  <a:srgbClr val="52616B"/>
                </a:solidFill>
                <a:latin typeface="Aptos"/>
              </a:rPr>
              <a:t>0</a:t>
            </a:r>
            <a:endParaRPr lang="en-US" sz="900" dirty="0"/>
          </a:p>
        </p:txBody>
      </p:sp>
      <p:sp>
        <p:nvSpPr>
          <p:cNvPr id="31" name="Text 29"/>
          <p:cNvSpPr/>
          <p:nvPr/>
        </p:nvSpPr>
        <p:spPr>
          <a:xfrm>
            <a:off x="6510528" y="425653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11</a:t>
            </a:r>
            <a:r>
              <a:rPr sz="1300" b="0">
                <a:solidFill>
                  <a:srgbClr val="52616B"/>
                </a:solidFill>
                <a:latin typeface="Aptos"/>
              </a:rPr>
              <a:t> / </a:t>
            </a:r>
            <a:r>
              <a:rPr sz="1300" b="1">
                <a:solidFill>
                  <a:srgbClr val="C94C4C"/>
                </a:solidFill>
                <a:latin typeface="Aptos"/>
              </a:rPr>
              <a:t>0</a:t>
            </a:r>
            <a:r>
              <a:rPr sz="1300" b="0">
                <a:solidFill>
                  <a:srgbClr val="52616B"/>
                </a:solidFill>
                <a:latin typeface="Aptos"/>
              </a:rPr>
              <a:t> / </a:t>
            </a:r>
            <a:r>
              <a:rPr sz="1300" b="1">
                <a:solidFill>
                  <a:srgbClr val="52616B"/>
                </a:solidFill>
                <a:latin typeface="Aptos"/>
              </a:rPr>
              <a:t>0</a:t>
            </a:r>
            <a:endParaRPr lang="en-US" sz="900" dirty="0"/>
          </a:p>
        </p:txBody>
      </p:sp>
      <p:sp>
        <p:nvSpPr>
          <p:cNvPr id="32" name="Shape 30"/>
          <p:cNvSpPr/>
          <p:nvPr/>
        </p:nvSpPr>
        <p:spPr>
          <a:xfrm>
            <a:off x="914400" y="4892040"/>
            <a:ext cx="10241280" cy="658368"/>
          </a:xfrm>
          <a:prstGeom prst="roundRect">
            <a:avLst>
              <a:gd name="adj" fmla="val 8333"/>
            </a:avLst>
          </a:prstGeom>
          <a:solidFill>
            <a:srgbClr val="F2F6F7"/>
          </a:solidFill>
          <a:ln w="8890">
            <a:solidFill>
              <a:srgbClr val="E0A13A"/>
            </a:solidFill>
            <a:prstDash val="solid"/>
          </a:ln>
        </p:spPr>
        <p:txBody>
          <a:bodyPr/>
          <a:lstStyle/>
          <a:p>
            <a:endParaRPr lang="en-US"/>
          </a:p>
        </p:txBody>
      </p:sp>
      <p:sp>
        <p:nvSpPr>
          <p:cNvPr id="33" name="Text 31"/>
          <p:cNvSpPr/>
          <p:nvPr/>
        </p:nvSpPr>
        <p:spPr>
          <a:xfrm>
            <a:off x="1143000" y="5084064"/>
            <a:ext cx="1371600" cy="164592"/>
          </a:xfrm>
          <a:prstGeom prst="rect">
            <a:avLst/>
          </a:prstGeom>
          <a:noFill/>
          <a:ln/>
        </p:spPr>
        <p:txBody>
          <a:bodyPr wrap="square" lIns="0" tIns="0" rIns="0" bIns="0" rtlCol="0" anchor="t"/>
          <a:lstStyle/>
          <a:p>
            <a:pPr marL="0" indent="0" algn="l">
              <a:buNone/>
            </a:pPr>
            <a:r>
              <a:rPr lang="en-US" sz="1400" b="1" dirty="0">
                <a:solidFill>
                  <a:srgbClr val="E0A13A"/>
                </a:solidFill>
                <a:latin typeface="Aptos" pitchFamily="34" charset="0"/>
                <a:ea typeface="Aptos" pitchFamily="34" charset="-122"/>
                <a:cs typeface="Aptos" pitchFamily="34" charset="-120"/>
              </a:rPr>
              <a:t>Core pattern</a:t>
            </a:r>
            <a:endParaRPr lang="en-US" sz="1000" dirty="0"/>
          </a:p>
        </p:txBody>
      </p:sp>
      <p:sp>
        <p:nvSpPr>
          <p:cNvPr id="34" name="Text 32"/>
          <p:cNvSpPr/>
          <p:nvPr/>
        </p:nvSpPr>
        <p:spPr>
          <a:xfrm>
            <a:off x="2606040" y="5047488"/>
            <a:ext cx="8046720" cy="219456"/>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The repair step usually makes the question closer to the original intent. That does not guarantee the answer is better.</a:t>
            </a:r>
            <a:endParaRPr lang="en-US" sz="1100" dirty="0"/>
          </a:p>
        </p:txBody>
      </p:sp>
      <p:sp>
        <p:nvSpPr>
          <p:cNvPr id="35" name="Oval 34"/>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Evidence example</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Incomplete wording can make the answer collapse.</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100" dirty="0">
                <a:solidFill>
                  <a:srgbClr val="52616B"/>
                </a:solidFill>
                <a:latin typeface="Aptos" pitchFamily="34" charset="0"/>
                <a:ea typeface="Aptos" pitchFamily="34" charset="-122"/>
                <a:cs typeface="Aptos" pitchFamily="34" charset="-120"/>
              </a:rPr>
              <a:t>gpt-5.4 | incomplete noise | question_id 18</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12 / 19</a:t>
            </a:r>
            <a:endParaRPr lang="en-US" sz="680" dirty="0"/>
          </a:p>
        </p:txBody>
      </p:sp>
      <p:sp>
        <p:nvSpPr>
          <p:cNvPr id="8" name="Text 6"/>
          <p:cNvSpPr/>
          <p:nvPr/>
        </p:nvSpPr>
        <p:spPr>
          <a:xfrm>
            <a:off x="475488" y="1627632"/>
            <a:ext cx="1280160" cy="164592"/>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Question path</a:t>
            </a:r>
            <a:endParaRPr lang="en-US" sz="820" dirty="0"/>
          </a:p>
        </p:txBody>
      </p:sp>
      <p:sp>
        <p:nvSpPr>
          <p:cNvPr id="9" name="Text 7"/>
          <p:cNvSpPr/>
          <p:nvPr/>
        </p:nvSpPr>
        <p:spPr>
          <a:xfrm>
            <a:off x="475488" y="1874520"/>
            <a:ext cx="3063240" cy="329184"/>
          </a:xfrm>
          <a:prstGeom prst="rect">
            <a:avLst/>
          </a:prstGeom>
          <a:noFill/>
          <a:ln/>
        </p:spPr>
        <p:txBody>
          <a:bodyPr wrap="square" lIns="635" tIns="635" rIns="635" bIns="635" rtlCol="0" anchor="t">
            <a:normAutofit/>
          </a:bodyPr>
          <a:lstStyle/>
          <a:p>
            <a:pPr marL="0" indent="0" algn="l">
              <a:buNone/>
            </a:pPr>
            <a:r>
              <a:rPr lang="en-US" sz="1100" b="1" dirty="0">
                <a:solidFill>
                  <a:srgbClr val="127C7A"/>
                </a:solidFill>
                <a:latin typeface="Aptos" pitchFamily="34" charset="0"/>
                <a:ea typeface="Aptos" pitchFamily="34" charset="-122"/>
                <a:cs typeface="Aptos" pitchFamily="34" charset="-120"/>
              </a:rPr>
              <a:t>Do you have information about Air Pollution</a:t>
            </a:r>
            <a:endParaRPr lang="en-US" sz="830" dirty="0"/>
          </a:p>
        </p:txBody>
      </p:sp>
      <p:sp>
        <p:nvSpPr>
          <p:cNvPr id="10" name="Text 8"/>
          <p:cNvSpPr/>
          <p:nvPr/>
        </p:nvSpPr>
        <p:spPr>
          <a:xfrm>
            <a:off x="3657600"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1" name="Text 9"/>
          <p:cNvSpPr/>
          <p:nvPr/>
        </p:nvSpPr>
        <p:spPr>
          <a:xfrm>
            <a:off x="3977640" y="1874520"/>
            <a:ext cx="3063240" cy="329184"/>
          </a:xfrm>
          <a:prstGeom prst="rect">
            <a:avLst/>
          </a:prstGeom>
          <a:noFill/>
          <a:ln/>
        </p:spPr>
        <p:txBody>
          <a:bodyPr wrap="square" lIns="635" tIns="635" rIns="635" bIns="635" rtlCol="0" anchor="t">
            <a:normAutofit/>
          </a:bodyPr>
          <a:lstStyle/>
          <a:p>
            <a:pPr marL="0" indent="0" algn="l">
              <a:buNone/>
            </a:pPr>
            <a:r>
              <a:rPr lang="en-US" sz="1100" b="1" dirty="0">
                <a:solidFill>
                  <a:srgbClr val="E0A13A"/>
                </a:solidFill>
                <a:latin typeface="Aptos" pitchFamily="34" charset="0"/>
                <a:ea typeface="Aptos" pitchFamily="34" charset="-122"/>
                <a:cs typeface="Aptos" pitchFamily="34" charset="-120"/>
              </a:rPr>
              <a:t>do u have any info on bad air stuff and what it can do?</a:t>
            </a:r>
            <a:endParaRPr lang="en-US" sz="830" dirty="0"/>
          </a:p>
        </p:txBody>
      </p:sp>
      <p:sp>
        <p:nvSpPr>
          <p:cNvPr id="12" name="Text 10"/>
          <p:cNvSpPr/>
          <p:nvPr/>
        </p:nvSpPr>
        <p:spPr>
          <a:xfrm>
            <a:off x="7150608"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3" name="Text 11"/>
          <p:cNvSpPr/>
          <p:nvPr/>
        </p:nvSpPr>
        <p:spPr>
          <a:xfrm>
            <a:off x="7452360" y="1874520"/>
            <a:ext cx="3749040" cy="329184"/>
          </a:xfrm>
          <a:prstGeom prst="rect">
            <a:avLst/>
          </a:prstGeom>
          <a:noFill/>
          <a:ln/>
        </p:spPr>
        <p:txBody>
          <a:bodyPr wrap="square" lIns="635" tIns="635" rIns="635" bIns="635" rtlCol="0" anchor="t">
            <a:normAutofit/>
          </a:bodyPr>
          <a:lstStyle/>
          <a:p>
            <a:pPr marL="0" indent="0" algn="l">
              <a:buNone/>
            </a:pPr>
            <a:r>
              <a:rPr lang="en-US" sz="1100" b="1" dirty="0">
                <a:solidFill>
                  <a:srgbClr val="127C7A"/>
                </a:solidFill>
                <a:latin typeface="Aptos" pitchFamily="34" charset="0"/>
                <a:ea typeface="Aptos" pitchFamily="34" charset="-122"/>
                <a:cs typeface="Aptos" pitchFamily="34" charset="-120"/>
              </a:rPr>
              <a:t>What health effects can poor air quality or air pollution have on the body?</a:t>
            </a:r>
            <a:endParaRPr lang="en-US" sz="830" dirty="0"/>
          </a:p>
        </p:txBody>
      </p:sp>
      <p:sp>
        <p:nvSpPr>
          <p:cNvPr id="14" name="Shape 12"/>
          <p:cNvSpPr/>
          <p:nvPr/>
        </p:nvSpPr>
        <p:spPr>
          <a:xfrm>
            <a:off x="475488"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5" name="Shape 13"/>
          <p:cNvSpPr/>
          <p:nvPr/>
        </p:nvSpPr>
        <p:spPr>
          <a:xfrm>
            <a:off x="603504" y="2724912"/>
            <a:ext cx="1005840" cy="256032"/>
          </a:xfrm>
          <a:prstGeom prst="roundRect">
            <a:avLst>
              <a:gd name="adj" fmla="val 21429"/>
            </a:avLst>
          </a:prstGeom>
          <a:solidFill>
            <a:srgbClr val="127C7A"/>
          </a:solidFill>
          <a:ln w="8890">
            <a:solidFill>
              <a:srgbClr val="3867D6"/>
            </a:solidFill>
            <a:prstDash val="solid"/>
          </a:ln>
        </p:spPr>
        <p:txBody>
          <a:bodyPr/>
          <a:lstStyle/>
          <a:p>
            <a:endParaRPr lang="en-US"/>
          </a:p>
        </p:txBody>
      </p:sp>
      <p:sp>
        <p:nvSpPr>
          <p:cNvPr id="16" name="Text 14"/>
          <p:cNvSpPr/>
          <p:nvPr/>
        </p:nvSpPr>
        <p:spPr>
          <a:xfrm>
            <a:off x="676656" y="2779776"/>
            <a:ext cx="868680" cy="146304"/>
          </a:xfrm>
          <a:prstGeom prst="rect">
            <a:avLst/>
          </a:prstGeom>
          <a:solidFill>
            <a:srgbClr val="127C7A"/>
          </a:solidFill>
          <a:ln>
            <a:noFill/>
          </a:ln>
        </p:spPr>
        <p:txBody>
          <a:bodyPr wrap="none" lIns="109728" tIns="27432" rIns="109728" bIns="27432" rtlCol="0" anchor="t"/>
          <a:lstStyle/>
          <a:p>
            <a:pPr marL="0" indent="0" algn="ctr">
              <a:buNone/>
            </a:pPr>
            <a:r>
              <a:rPr sz="1200" b="1">
                <a:solidFill>
                  <a:srgbClr val="FFFFFF"/>
                </a:solidFill>
                <a:latin typeface="Aptos"/>
              </a:rPr>
              <a:t>CLEAN</a:t>
            </a:r>
            <a:endParaRPr lang="en-US" sz="750" dirty="0"/>
          </a:p>
        </p:txBody>
      </p:sp>
      <p:sp>
        <p:nvSpPr>
          <p:cNvPr id="17" name="Text 15"/>
          <p:cNvSpPr/>
          <p:nvPr/>
        </p:nvSpPr>
        <p:spPr>
          <a:xfrm>
            <a:off x="640080" y="3081528"/>
            <a:ext cx="3145536"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Yes. Air pollution is the contamination of indoor or outdoor air by harmful substances that can affect health. Common air pollutants include: Particulate matter: PM2.5 and PM10 Ozone Nitrogen dioxide Sulfur dioxide Carbon monoxide Volatile organic compounds Smoke from vehicles, industry, wildfires, and tobacco Health effects can include: Eye, nose, and th...</a:t>
            </a:r>
            <a:endParaRPr lang="en-US" sz="820" dirty="0"/>
          </a:p>
        </p:txBody>
      </p:sp>
      <p:sp>
        <p:nvSpPr>
          <p:cNvPr id="18" name="Shape 16"/>
          <p:cNvSpPr/>
          <p:nvPr/>
        </p:nvSpPr>
        <p:spPr>
          <a:xfrm>
            <a:off x="4370832"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9" name="Shape 17"/>
          <p:cNvSpPr/>
          <p:nvPr/>
        </p:nvSpPr>
        <p:spPr>
          <a:xfrm>
            <a:off x="4498848" y="2724912"/>
            <a:ext cx="1005840" cy="256032"/>
          </a:xfrm>
          <a:prstGeom prst="roundRect">
            <a:avLst>
              <a:gd name="adj" fmla="val 21429"/>
            </a:avLst>
          </a:prstGeom>
          <a:solidFill>
            <a:srgbClr val="E0A13A"/>
          </a:solidFill>
          <a:ln w="8890">
            <a:solidFill>
              <a:srgbClr val="E0A13A"/>
            </a:solidFill>
            <a:prstDash val="solid"/>
          </a:ln>
        </p:spPr>
        <p:txBody>
          <a:bodyPr/>
          <a:lstStyle/>
          <a:p>
            <a:endParaRPr lang="en-US"/>
          </a:p>
        </p:txBody>
      </p:sp>
      <p:sp>
        <p:nvSpPr>
          <p:cNvPr id="20" name="Text 18"/>
          <p:cNvSpPr/>
          <p:nvPr/>
        </p:nvSpPr>
        <p:spPr>
          <a:xfrm>
            <a:off x="4572000" y="2779776"/>
            <a:ext cx="868680" cy="146304"/>
          </a:xfrm>
          <a:prstGeom prst="rect">
            <a:avLst/>
          </a:prstGeom>
          <a:solidFill>
            <a:srgbClr val="C94C4C"/>
          </a:solidFill>
          <a:ln>
            <a:noFill/>
          </a:ln>
        </p:spPr>
        <p:txBody>
          <a:bodyPr wrap="none" lIns="109728" tIns="27432" rIns="109728" bIns="27432" rtlCol="0" anchor="t"/>
          <a:lstStyle/>
          <a:p>
            <a:pPr marL="0" indent="0" algn="ctr">
              <a:buNone/>
            </a:pPr>
            <a:r>
              <a:rPr sz="1200" b="1">
                <a:solidFill>
                  <a:srgbClr val="FFFFFF"/>
                </a:solidFill>
                <a:latin typeface="Aptos"/>
              </a:rPr>
              <a:t>NOISY</a:t>
            </a:r>
            <a:endParaRPr lang="en-US" sz="750" dirty="0"/>
          </a:p>
        </p:txBody>
      </p:sp>
      <p:sp>
        <p:nvSpPr>
          <p:cNvPr id="21" name="Text 19"/>
          <p:cNvSpPr/>
          <p:nvPr/>
        </p:nvSpPr>
        <p:spPr>
          <a:xfrm>
            <a:off x="4535424" y="3081528"/>
            <a:ext cx="3145536"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Yes - "bad air"</a:t>
            </a:r>
            <a:endParaRPr lang="en-US" sz="820" dirty="0"/>
          </a:p>
        </p:txBody>
      </p:sp>
      <p:sp>
        <p:nvSpPr>
          <p:cNvPr id="22" name="Shape 20"/>
          <p:cNvSpPr/>
          <p:nvPr/>
        </p:nvSpPr>
        <p:spPr>
          <a:xfrm>
            <a:off x="8247888" y="2606040"/>
            <a:ext cx="2907792"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23" name="Shape 21"/>
          <p:cNvSpPr/>
          <p:nvPr/>
        </p:nvSpPr>
        <p:spPr>
          <a:xfrm>
            <a:off x="8375904" y="2724912"/>
            <a:ext cx="1005840" cy="256032"/>
          </a:xfrm>
          <a:prstGeom prst="roundRect">
            <a:avLst>
              <a:gd name="adj" fmla="val 21429"/>
            </a:avLst>
          </a:prstGeom>
          <a:solidFill>
            <a:srgbClr val="127C7A"/>
          </a:solidFill>
          <a:ln w="8890">
            <a:solidFill>
              <a:srgbClr val="127C7A"/>
            </a:solidFill>
            <a:prstDash val="solid"/>
          </a:ln>
        </p:spPr>
        <p:txBody>
          <a:bodyPr/>
          <a:lstStyle/>
          <a:p>
            <a:endParaRPr lang="en-US"/>
          </a:p>
        </p:txBody>
      </p:sp>
      <p:sp>
        <p:nvSpPr>
          <p:cNvPr id="24" name="Text 22"/>
          <p:cNvSpPr/>
          <p:nvPr/>
        </p:nvSpPr>
        <p:spPr>
          <a:xfrm>
            <a:off x="8449056" y="2779776"/>
            <a:ext cx="1188720" cy="146304"/>
          </a:xfrm>
          <a:prstGeom prst="rect">
            <a:avLst/>
          </a:prstGeom>
          <a:solidFill>
            <a:srgbClr val="E0A13A"/>
          </a:solidFill>
          <a:ln>
            <a:noFill/>
          </a:ln>
        </p:spPr>
        <p:txBody>
          <a:bodyPr wrap="none" lIns="109728" tIns="27432" rIns="109728" bIns="27432" rtlCol="0" anchor="t"/>
          <a:lstStyle/>
          <a:p>
            <a:pPr marL="0" indent="0" algn="ctr">
              <a:buNone/>
            </a:pPr>
            <a:r>
              <a:rPr sz="1200" b="1">
                <a:solidFill>
                  <a:srgbClr val="FFFFFF"/>
                </a:solidFill>
                <a:latin typeface="Aptos"/>
              </a:rPr>
              <a:t>REPAIRED</a:t>
            </a:r>
            <a:endParaRPr lang="en-US" sz="750" dirty="0"/>
          </a:p>
        </p:txBody>
      </p:sp>
      <p:sp>
        <p:nvSpPr>
          <p:cNvPr id="25" name="Text 23"/>
          <p:cNvSpPr/>
          <p:nvPr/>
        </p:nvSpPr>
        <p:spPr>
          <a:xfrm>
            <a:off x="8412480" y="3081528"/>
            <a:ext cx="2578608"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Poor air quality can affect many parts of the body, especially the lungs and heart. Common health effects include: Eye, nose, and throat irritation Coughing, wheezing, shortness of breath Worsening of asthma, COPD, and allergies Reduced lung function and increased risk of respiratory infections like bronchitis More serious or long-term effects can include...</a:t>
            </a:r>
            <a:endParaRPr lang="en-US" sz="820" dirty="0"/>
          </a:p>
        </p:txBody>
      </p:sp>
      <p:sp>
        <p:nvSpPr>
          <p:cNvPr id="26" name="Text 24"/>
          <p:cNvSpPr/>
          <p:nvPr/>
        </p:nvSpPr>
        <p:spPr>
          <a:xfrm>
            <a:off x="475488" y="5257800"/>
            <a:ext cx="4023360" cy="164592"/>
          </a:xfrm>
          <a:prstGeom prst="rect">
            <a:avLst/>
          </a:prstGeom>
          <a:noFill/>
          <a:ln/>
        </p:spPr>
        <p:txBody>
          <a:bodyPr wrap="square" lIns="0" tIns="0" rIns="0" bIns="0" rtlCol="0" anchor="t"/>
          <a:lstStyle/>
          <a:p>
            <a:pPr marL="0" indent="0" algn="l">
              <a:buNone/>
            </a:pPr>
            <a:r>
              <a:rPr lang="en-US" sz="1100" b="1" dirty="0">
                <a:solidFill>
                  <a:srgbClr val="25323D"/>
                </a:solidFill>
                <a:latin typeface="Aptos" pitchFamily="34" charset="0"/>
                <a:ea typeface="Aptos" pitchFamily="34" charset="-122"/>
                <a:cs typeface="Aptos" pitchFamily="34" charset="-120"/>
              </a:rPr>
              <a:t>G-Eval: 4 clean | 1 noisy | 4 repaired</a:t>
            </a:r>
            <a:endParaRPr lang="en-US" sz="820" dirty="0"/>
          </a:p>
        </p:txBody>
      </p:sp>
      <p:sp>
        <p:nvSpPr>
          <p:cNvPr id="27" name="Text 25"/>
          <p:cNvSpPr/>
          <p:nvPr/>
        </p:nvSpPr>
        <p:spPr>
          <a:xfrm>
            <a:off x="475488" y="5477256"/>
            <a:ext cx="4023360" cy="164592"/>
          </a:xfrm>
          <a:prstGeom prst="rect">
            <a:avLst/>
          </a:prstGeom>
          <a:noFill/>
          <a:ln/>
        </p:spPr>
        <p:txBody>
          <a:bodyPr wrap="square" lIns="0" tIns="0" rIns="0" bIns="0" rtlCol="0" anchor="t"/>
          <a:lstStyle/>
          <a:p>
            <a:pPr marL="0" indent="0" algn="l">
              <a:buNone/>
            </a:pPr>
            <a:r>
              <a:rPr lang="en-US" sz="1100" dirty="0">
                <a:solidFill>
                  <a:srgbClr val="52616B"/>
                </a:solidFill>
                <a:latin typeface="Aptos" pitchFamily="34" charset="0"/>
                <a:ea typeface="Aptos" pitchFamily="34" charset="-122"/>
                <a:cs typeface="Aptos" pitchFamily="34" charset="-120"/>
              </a:rPr>
              <a:t>med_coverage: 27.1 -&gt; 2.1 -&gt; 16.7</a:t>
            </a:r>
            <a:endParaRPr lang="en-US" sz="780" dirty="0"/>
          </a:p>
        </p:txBody>
      </p:sp>
      <p:sp>
        <p:nvSpPr>
          <p:cNvPr id="28" name="Text 26"/>
          <p:cNvSpPr/>
          <p:nvPr/>
        </p:nvSpPr>
        <p:spPr>
          <a:xfrm>
            <a:off x="4663440" y="5138928"/>
            <a:ext cx="6263640" cy="493776"/>
          </a:xfrm>
          <a:prstGeom prst="rect">
            <a:avLst/>
          </a:prstGeom>
          <a:noFill/>
          <a:ln/>
        </p:spPr>
        <p:txBody>
          <a:bodyPr wrap="square" lIns="635" tIns="635" rIns="635" bIns="635" rtlCol="0" anchor="t">
            <a:normAutofit/>
          </a:bodyPr>
          <a:lstStyle/>
          <a:p>
            <a:pPr marL="0" indent="0" algn="l">
              <a:buNone/>
            </a:pPr>
            <a:r>
              <a:rPr lang="en-US" sz="1120" b="1" dirty="0">
                <a:solidFill>
                  <a:srgbClr val="25323D"/>
                </a:solidFill>
                <a:latin typeface="Aptos" pitchFamily="34" charset="0"/>
                <a:ea typeface="Aptos" pitchFamily="34" charset="-122"/>
                <a:cs typeface="Aptos" pitchFamily="34" charset="-120"/>
              </a:rPr>
              <a:t>The noisy question asks for 'bad air stuff' and GPT-5.4 answers with a fragment. Repair restores much of the answer quality.</a:t>
            </a:r>
            <a:endParaRPr lang="en-US" sz="1120" dirty="0"/>
          </a:p>
        </p:txBody>
      </p:sp>
      <p:sp>
        <p:nvSpPr>
          <p:cNvPr id="29" name="Oval 28"/>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Evidence example</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Noisy wording can shift the topic.</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100" dirty="0">
                <a:solidFill>
                  <a:srgbClr val="52616B"/>
                </a:solidFill>
                <a:latin typeface="Aptos" pitchFamily="34" charset="0"/>
                <a:ea typeface="Aptos" pitchFamily="34" charset="-122"/>
                <a:cs typeface="Aptos" pitchFamily="34" charset="-120"/>
              </a:rPr>
              <a:t>gpt-5.4 | incomplete noise | question_id 28</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13 / 19</a:t>
            </a:r>
            <a:endParaRPr lang="en-US" sz="680" dirty="0"/>
          </a:p>
        </p:txBody>
      </p:sp>
      <p:sp>
        <p:nvSpPr>
          <p:cNvPr id="8" name="Text 6"/>
          <p:cNvSpPr/>
          <p:nvPr/>
        </p:nvSpPr>
        <p:spPr>
          <a:xfrm>
            <a:off x="475488" y="1627632"/>
            <a:ext cx="1280160" cy="164592"/>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Question path</a:t>
            </a:r>
            <a:endParaRPr lang="en-US" sz="820" dirty="0"/>
          </a:p>
        </p:txBody>
      </p:sp>
      <p:sp>
        <p:nvSpPr>
          <p:cNvPr id="9" name="Text 7"/>
          <p:cNvSpPr/>
          <p:nvPr/>
        </p:nvSpPr>
        <p:spPr>
          <a:xfrm>
            <a:off x="475488" y="1874520"/>
            <a:ext cx="3063240" cy="329184"/>
          </a:xfrm>
          <a:prstGeom prst="rect">
            <a:avLst/>
          </a:prstGeom>
          <a:noFill/>
          <a:ln/>
        </p:spPr>
        <p:txBody>
          <a:bodyPr wrap="square" lIns="635" tIns="635" rIns="635" bIns="635" rtlCol="0" anchor="t">
            <a:normAutofit/>
          </a:bodyPr>
          <a:lstStyle/>
          <a:p>
            <a:pPr marL="0" indent="0" algn="l">
              <a:buNone/>
            </a:pPr>
            <a:r>
              <a:rPr lang="en-US" sz="1100" b="1" dirty="0">
                <a:solidFill>
                  <a:srgbClr val="127C7A"/>
                </a:solidFill>
                <a:latin typeface="Aptos" pitchFamily="34" charset="0"/>
                <a:ea typeface="Aptos" pitchFamily="34" charset="-122"/>
                <a:cs typeface="Aptos" pitchFamily="34" charset="-120"/>
              </a:rPr>
              <a:t>Do you have information about Anabolic Steroids</a:t>
            </a:r>
            <a:endParaRPr lang="en-US" sz="830" dirty="0"/>
          </a:p>
        </p:txBody>
      </p:sp>
      <p:sp>
        <p:nvSpPr>
          <p:cNvPr id="10" name="Text 8"/>
          <p:cNvSpPr/>
          <p:nvPr/>
        </p:nvSpPr>
        <p:spPr>
          <a:xfrm>
            <a:off x="3657600"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1" name="Text 9"/>
          <p:cNvSpPr/>
          <p:nvPr/>
        </p:nvSpPr>
        <p:spPr>
          <a:xfrm>
            <a:off x="3977640" y="1874520"/>
            <a:ext cx="3063240" cy="329184"/>
          </a:xfrm>
          <a:prstGeom prst="rect">
            <a:avLst/>
          </a:prstGeom>
          <a:noFill/>
          <a:ln/>
        </p:spPr>
        <p:txBody>
          <a:bodyPr wrap="square" lIns="635" tIns="635" rIns="635" bIns="635" rtlCol="0" anchor="t">
            <a:normAutofit/>
          </a:bodyPr>
          <a:lstStyle/>
          <a:p>
            <a:pPr marL="0" indent="0" algn="l">
              <a:buNone/>
            </a:pPr>
            <a:r>
              <a:rPr lang="en-US" sz="1100" b="1" dirty="0">
                <a:solidFill>
                  <a:srgbClr val="E0A13A"/>
                </a:solidFill>
                <a:latin typeface="Aptos" pitchFamily="34" charset="0"/>
                <a:ea typeface="Aptos" pitchFamily="34" charset="-122"/>
                <a:cs typeface="Aptos" pitchFamily="34" charset="-120"/>
              </a:rPr>
              <a:t>do you hav any info on those muscle-building stuff?</a:t>
            </a:r>
            <a:endParaRPr lang="en-US" sz="830" dirty="0"/>
          </a:p>
        </p:txBody>
      </p:sp>
      <p:sp>
        <p:nvSpPr>
          <p:cNvPr id="12" name="Text 10"/>
          <p:cNvSpPr/>
          <p:nvPr/>
        </p:nvSpPr>
        <p:spPr>
          <a:xfrm>
            <a:off x="7150608"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3" name="Text 11"/>
          <p:cNvSpPr/>
          <p:nvPr/>
        </p:nvSpPr>
        <p:spPr>
          <a:xfrm>
            <a:off x="7452360" y="1874520"/>
            <a:ext cx="3749040" cy="329184"/>
          </a:xfrm>
          <a:prstGeom prst="rect">
            <a:avLst/>
          </a:prstGeom>
          <a:noFill/>
          <a:ln/>
        </p:spPr>
        <p:txBody>
          <a:bodyPr wrap="square" lIns="635" tIns="635" rIns="635" bIns="635" rtlCol="0" anchor="t">
            <a:normAutofit/>
          </a:bodyPr>
          <a:lstStyle/>
          <a:p>
            <a:pPr marL="0" indent="0" algn="l">
              <a:buNone/>
            </a:pPr>
            <a:r>
              <a:rPr lang="en-US" sz="1100" b="1" dirty="0">
                <a:solidFill>
                  <a:srgbClr val="127C7A"/>
                </a:solidFill>
                <a:latin typeface="Aptos" pitchFamily="34" charset="0"/>
                <a:ea typeface="Aptos" pitchFamily="34" charset="-122"/>
                <a:cs typeface="Aptos" pitchFamily="34" charset="-120"/>
              </a:rPr>
              <a:t>What are the health risks and side effects of using muscle-building supplements or anabolic steroids?</a:t>
            </a:r>
            <a:endParaRPr lang="en-US" sz="830" dirty="0"/>
          </a:p>
        </p:txBody>
      </p:sp>
      <p:sp>
        <p:nvSpPr>
          <p:cNvPr id="14" name="Shape 12"/>
          <p:cNvSpPr/>
          <p:nvPr/>
        </p:nvSpPr>
        <p:spPr>
          <a:xfrm>
            <a:off x="475488"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5" name="Shape 13"/>
          <p:cNvSpPr/>
          <p:nvPr/>
        </p:nvSpPr>
        <p:spPr>
          <a:xfrm>
            <a:off x="603504" y="2724912"/>
            <a:ext cx="1005840" cy="256032"/>
          </a:xfrm>
          <a:prstGeom prst="roundRect">
            <a:avLst>
              <a:gd name="adj" fmla="val 21429"/>
            </a:avLst>
          </a:prstGeom>
          <a:solidFill>
            <a:srgbClr val="127C7A"/>
          </a:solidFill>
          <a:ln w="8890">
            <a:solidFill>
              <a:srgbClr val="3867D6"/>
            </a:solidFill>
            <a:prstDash val="solid"/>
          </a:ln>
        </p:spPr>
        <p:txBody>
          <a:bodyPr/>
          <a:lstStyle/>
          <a:p>
            <a:endParaRPr lang="en-US"/>
          </a:p>
        </p:txBody>
      </p:sp>
      <p:sp>
        <p:nvSpPr>
          <p:cNvPr id="16" name="Text 14"/>
          <p:cNvSpPr/>
          <p:nvPr/>
        </p:nvSpPr>
        <p:spPr>
          <a:xfrm>
            <a:off x="676656" y="2779776"/>
            <a:ext cx="868680" cy="146304"/>
          </a:xfrm>
          <a:prstGeom prst="rect">
            <a:avLst/>
          </a:prstGeom>
          <a:solidFill>
            <a:srgbClr val="127C7A"/>
          </a:solidFill>
          <a:ln>
            <a:noFill/>
          </a:ln>
        </p:spPr>
        <p:txBody>
          <a:bodyPr wrap="none" lIns="109728" tIns="27432" rIns="109728" bIns="27432" rtlCol="0" anchor="t"/>
          <a:lstStyle/>
          <a:p>
            <a:pPr marL="0" indent="0" algn="ctr">
              <a:buNone/>
            </a:pPr>
            <a:r>
              <a:rPr sz="1200" b="1">
                <a:solidFill>
                  <a:srgbClr val="FFFFFF"/>
                </a:solidFill>
                <a:latin typeface="Aptos"/>
              </a:rPr>
              <a:t>CLEAN</a:t>
            </a:r>
            <a:endParaRPr lang="en-US" sz="750" dirty="0"/>
          </a:p>
        </p:txBody>
      </p:sp>
      <p:sp>
        <p:nvSpPr>
          <p:cNvPr id="17" name="Text 15"/>
          <p:cNvSpPr/>
          <p:nvPr/>
        </p:nvSpPr>
        <p:spPr>
          <a:xfrm>
            <a:off x="640080" y="3081528"/>
            <a:ext cx="3145536"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Yes. Anabolic steroids usually refers to anabolic-androgenic steroids (AAS), which are synthetic versions of testosterone. What they do They can: Increase muscle mass and strength Promote protein synthesis Affect male sexual characteristics because of their androgenic effects Legitimate medical uses Doctors may prescribe them for certain conditions, such...</a:t>
            </a:r>
            <a:endParaRPr lang="en-US" sz="820" dirty="0"/>
          </a:p>
        </p:txBody>
      </p:sp>
      <p:sp>
        <p:nvSpPr>
          <p:cNvPr id="18" name="Shape 16"/>
          <p:cNvSpPr/>
          <p:nvPr/>
        </p:nvSpPr>
        <p:spPr>
          <a:xfrm>
            <a:off x="4370832"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9" name="Shape 17"/>
          <p:cNvSpPr/>
          <p:nvPr/>
        </p:nvSpPr>
        <p:spPr>
          <a:xfrm>
            <a:off x="4498848" y="2724912"/>
            <a:ext cx="1005840" cy="256032"/>
          </a:xfrm>
          <a:prstGeom prst="roundRect">
            <a:avLst>
              <a:gd name="adj" fmla="val 21429"/>
            </a:avLst>
          </a:prstGeom>
          <a:solidFill>
            <a:srgbClr val="E0A13A"/>
          </a:solidFill>
          <a:ln w="8890">
            <a:solidFill>
              <a:srgbClr val="E0A13A"/>
            </a:solidFill>
            <a:prstDash val="solid"/>
          </a:ln>
        </p:spPr>
        <p:txBody>
          <a:bodyPr/>
          <a:lstStyle/>
          <a:p>
            <a:endParaRPr lang="en-US"/>
          </a:p>
        </p:txBody>
      </p:sp>
      <p:sp>
        <p:nvSpPr>
          <p:cNvPr id="20" name="Text 18"/>
          <p:cNvSpPr/>
          <p:nvPr/>
        </p:nvSpPr>
        <p:spPr>
          <a:xfrm>
            <a:off x="4572000" y="2779776"/>
            <a:ext cx="868680" cy="146304"/>
          </a:xfrm>
          <a:prstGeom prst="rect">
            <a:avLst/>
          </a:prstGeom>
          <a:solidFill>
            <a:srgbClr val="C94C4C"/>
          </a:solidFill>
          <a:ln>
            <a:noFill/>
          </a:ln>
        </p:spPr>
        <p:txBody>
          <a:bodyPr wrap="none" lIns="109728" tIns="27432" rIns="109728" bIns="27432" rtlCol="0" anchor="t"/>
          <a:lstStyle/>
          <a:p>
            <a:pPr marL="0" indent="0" algn="ctr">
              <a:buNone/>
            </a:pPr>
            <a:r>
              <a:rPr sz="1200" b="1">
                <a:solidFill>
                  <a:srgbClr val="FFFFFF"/>
                </a:solidFill>
                <a:latin typeface="Aptos"/>
              </a:rPr>
              <a:t>NOISY</a:t>
            </a:r>
            <a:endParaRPr lang="en-US" sz="750" dirty="0"/>
          </a:p>
        </p:txBody>
      </p:sp>
      <p:sp>
        <p:nvSpPr>
          <p:cNvPr id="21" name="Text 19"/>
          <p:cNvSpPr/>
          <p:nvPr/>
        </p:nvSpPr>
        <p:spPr>
          <a:xfrm>
            <a:off x="4535424" y="3081528"/>
            <a:ext cx="3145536"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Yes - if you mean muscle-building supplements or drugs, here's the short version: Things that actually help Protein powder: useful if you're not getting enough protein from food. Aim for about 1.6-2.2 g protein/kg body weight/day if trying to build muscle. Creatine monohydrate: one of the best-studied supplements for strength and muscle gain. Typical dose...</a:t>
            </a:r>
            <a:endParaRPr lang="en-US" sz="820" dirty="0"/>
          </a:p>
        </p:txBody>
      </p:sp>
      <p:sp>
        <p:nvSpPr>
          <p:cNvPr id="22" name="Shape 20"/>
          <p:cNvSpPr/>
          <p:nvPr/>
        </p:nvSpPr>
        <p:spPr>
          <a:xfrm>
            <a:off x="8247888" y="2606040"/>
            <a:ext cx="2907792"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23" name="Shape 21"/>
          <p:cNvSpPr/>
          <p:nvPr/>
        </p:nvSpPr>
        <p:spPr>
          <a:xfrm>
            <a:off x="8375904" y="2724912"/>
            <a:ext cx="1005840" cy="256032"/>
          </a:xfrm>
          <a:prstGeom prst="roundRect">
            <a:avLst>
              <a:gd name="adj" fmla="val 21429"/>
            </a:avLst>
          </a:prstGeom>
          <a:solidFill>
            <a:srgbClr val="127C7A"/>
          </a:solidFill>
          <a:ln w="8890">
            <a:solidFill>
              <a:srgbClr val="127C7A"/>
            </a:solidFill>
            <a:prstDash val="solid"/>
          </a:ln>
        </p:spPr>
        <p:txBody>
          <a:bodyPr/>
          <a:lstStyle/>
          <a:p>
            <a:endParaRPr lang="en-US"/>
          </a:p>
        </p:txBody>
      </p:sp>
      <p:sp>
        <p:nvSpPr>
          <p:cNvPr id="24" name="Text 22"/>
          <p:cNvSpPr/>
          <p:nvPr/>
        </p:nvSpPr>
        <p:spPr>
          <a:xfrm>
            <a:off x="8449056" y="2779776"/>
            <a:ext cx="1188720" cy="146304"/>
          </a:xfrm>
          <a:prstGeom prst="rect">
            <a:avLst/>
          </a:prstGeom>
          <a:solidFill>
            <a:srgbClr val="E0A13A"/>
          </a:solidFill>
          <a:ln>
            <a:noFill/>
          </a:ln>
        </p:spPr>
        <p:txBody>
          <a:bodyPr wrap="none" lIns="109728" tIns="27432" rIns="109728" bIns="27432" rtlCol="0" anchor="t"/>
          <a:lstStyle/>
          <a:p>
            <a:pPr marL="0" indent="0" algn="ctr">
              <a:buNone/>
            </a:pPr>
            <a:r>
              <a:rPr sz="1200" b="1">
                <a:solidFill>
                  <a:srgbClr val="FFFFFF"/>
                </a:solidFill>
                <a:latin typeface="Aptos"/>
              </a:rPr>
              <a:t>REPAIRED</a:t>
            </a:r>
            <a:endParaRPr lang="en-US" sz="750" dirty="0"/>
          </a:p>
        </p:txBody>
      </p:sp>
      <p:sp>
        <p:nvSpPr>
          <p:cNvPr id="25" name="Text 23"/>
          <p:cNvSpPr/>
          <p:nvPr/>
        </p:nvSpPr>
        <p:spPr>
          <a:xfrm>
            <a:off x="8412480" y="3081528"/>
            <a:ext cx="2578608"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Muscle-building products range from legal supplements to anabolic-androgenic steroids, and the risks depend heavily on what is being used. Muscle-building supplements Common products include protein powders, creatine, pre-workouts, "test boosters," and weight-gain products. Possible risks and side effects Stomach upset: nausea, bloating, diarrhea, cramps...</a:t>
            </a:r>
            <a:endParaRPr lang="en-US" sz="820" dirty="0"/>
          </a:p>
        </p:txBody>
      </p:sp>
      <p:sp>
        <p:nvSpPr>
          <p:cNvPr id="26" name="Text 24"/>
          <p:cNvSpPr/>
          <p:nvPr/>
        </p:nvSpPr>
        <p:spPr>
          <a:xfrm>
            <a:off x="475488" y="5257800"/>
            <a:ext cx="4023360" cy="164592"/>
          </a:xfrm>
          <a:prstGeom prst="rect">
            <a:avLst/>
          </a:prstGeom>
          <a:noFill/>
          <a:ln/>
        </p:spPr>
        <p:txBody>
          <a:bodyPr wrap="square" lIns="0" tIns="0" rIns="0" bIns="0" rtlCol="0" anchor="t"/>
          <a:lstStyle/>
          <a:p>
            <a:pPr marL="0" indent="0" algn="l">
              <a:buNone/>
            </a:pPr>
            <a:r>
              <a:rPr lang="en-US" sz="1100" b="1" dirty="0">
                <a:solidFill>
                  <a:srgbClr val="25323D"/>
                </a:solidFill>
                <a:latin typeface="Aptos" pitchFamily="34" charset="0"/>
                <a:ea typeface="Aptos" pitchFamily="34" charset="-122"/>
                <a:cs typeface="Aptos" pitchFamily="34" charset="-120"/>
              </a:rPr>
              <a:t>G-Eval: 4 clean | 2 noisy | 3 repaired</a:t>
            </a:r>
            <a:endParaRPr lang="en-US" sz="820" dirty="0"/>
          </a:p>
        </p:txBody>
      </p:sp>
      <p:sp>
        <p:nvSpPr>
          <p:cNvPr id="27" name="Text 25"/>
          <p:cNvSpPr/>
          <p:nvPr/>
        </p:nvSpPr>
        <p:spPr>
          <a:xfrm>
            <a:off x="475488" y="5477256"/>
            <a:ext cx="4023360" cy="164592"/>
          </a:xfrm>
          <a:prstGeom prst="rect">
            <a:avLst/>
          </a:prstGeom>
          <a:noFill/>
          <a:ln/>
        </p:spPr>
        <p:txBody>
          <a:bodyPr wrap="square" lIns="0" tIns="0" rIns="0" bIns="0" rtlCol="0" anchor="t"/>
          <a:lstStyle/>
          <a:p>
            <a:pPr marL="0" indent="0" algn="l">
              <a:buNone/>
            </a:pPr>
            <a:r>
              <a:rPr lang="en-US" sz="1100" dirty="0">
                <a:solidFill>
                  <a:srgbClr val="52616B"/>
                </a:solidFill>
                <a:latin typeface="Aptos" pitchFamily="34" charset="0"/>
                <a:ea typeface="Aptos" pitchFamily="34" charset="-122"/>
                <a:cs typeface="Aptos" pitchFamily="34" charset="-120"/>
              </a:rPr>
              <a:t>med_coverage: 28.3 -&gt; 7.5 -&gt; 13.2</a:t>
            </a:r>
            <a:endParaRPr lang="en-US" sz="780" dirty="0"/>
          </a:p>
        </p:txBody>
      </p:sp>
      <p:sp>
        <p:nvSpPr>
          <p:cNvPr id="28" name="Text 26"/>
          <p:cNvSpPr/>
          <p:nvPr/>
        </p:nvSpPr>
        <p:spPr>
          <a:xfrm>
            <a:off x="4663440" y="5138928"/>
            <a:ext cx="6263640" cy="493776"/>
          </a:xfrm>
          <a:prstGeom prst="rect">
            <a:avLst/>
          </a:prstGeom>
          <a:noFill/>
          <a:ln/>
        </p:spPr>
        <p:txBody>
          <a:bodyPr wrap="square" lIns="635" tIns="635" rIns="635" bIns="635" rtlCol="0" anchor="t">
            <a:normAutofit/>
          </a:bodyPr>
          <a:lstStyle/>
          <a:p>
            <a:pPr marL="0" indent="0" algn="l">
              <a:buNone/>
            </a:pPr>
            <a:r>
              <a:rPr lang="en-US" sz="1120" b="1" dirty="0">
                <a:solidFill>
                  <a:srgbClr val="25323D"/>
                </a:solidFill>
                <a:latin typeface="Aptos" pitchFamily="34" charset="0"/>
                <a:ea typeface="Aptos" pitchFamily="34" charset="-122"/>
                <a:cs typeface="Aptos" pitchFamily="34" charset="-120"/>
              </a:rPr>
              <a:t>The clean topic is anabolic steroids; the noisy answer drifts into generic supplements like protein powder and creatine.</a:t>
            </a:r>
            <a:endParaRPr lang="en-US" sz="1120" dirty="0"/>
          </a:p>
        </p:txBody>
      </p:sp>
      <p:sp>
        <p:nvSpPr>
          <p:cNvPr id="29" name="Oval 28"/>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Evidence example</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Layperson phrasing changes the frame.</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100" dirty="0">
                <a:solidFill>
                  <a:srgbClr val="52616B"/>
                </a:solidFill>
                <a:latin typeface="Aptos" pitchFamily="34" charset="0"/>
                <a:ea typeface="Aptos" pitchFamily="34" charset="-122"/>
                <a:cs typeface="Aptos" pitchFamily="34" charset="-120"/>
              </a:rPr>
              <a:t>gpt-5.4 | layperson noise | question_id 2</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14 / 19</a:t>
            </a:r>
            <a:endParaRPr lang="en-US" sz="680" dirty="0"/>
          </a:p>
        </p:txBody>
      </p:sp>
      <p:sp>
        <p:nvSpPr>
          <p:cNvPr id="8" name="Text 6"/>
          <p:cNvSpPr/>
          <p:nvPr/>
        </p:nvSpPr>
        <p:spPr>
          <a:xfrm>
            <a:off x="475488" y="1627632"/>
            <a:ext cx="1280160" cy="164592"/>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Question path</a:t>
            </a:r>
            <a:endParaRPr lang="en-US" sz="820" dirty="0"/>
          </a:p>
        </p:txBody>
      </p:sp>
      <p:sp>
        <p:nvSpPr>
          <p:cNvPr id="9" name="Text 7"/>
          <p:cNvSpPr/>
          <p:nvPr/>
        </p:nvSpPr>
        <p:spPr>
          <a:xfrm>
            <a:off x="475488" y="1874520"/>
            <a:ext cx="3063240" cy="329184"/>
          </a:xfrm>
          <a:prstGeom prst="rect">
            <a:avLst/>
          </a:prstGeom>
          <a:noFill/>
          <a:ln/>
        </p:spPr>
        <p:txBody>
          <a:bodyPr wrap="square" lIns="635" tIns="635" rIns="635" bIns="635" rtlCol="0" anchor="t">
            <a:normAutofit/>
          </a:bodyPr>
          <a:lstStyle/>
          <a:p>
            <a:pPr marL="0" indent="0" algn="l">
              <a:buNone/>
            </a:pPr>
            <a:r>
              <a:rPr lang="en-US" sz="1100" b="1" dirty="0">
                <a:solidFill>
                  <a:srgbClr val="127C7A"/>
                </a:solidFill>
                <a:latin typeface="Aptos" pitchFamily="34" charset="0"/>
                <a:ea typeface="Aptos" pitchFamily="34" charset="-122"/>
                <a:cs typeface="Aptos" pitchFamily="34" charset="-120"/>
              </a:rPr>
              <a:t>What is (are) Abortion ?</a:t>
            </a:r>
            <a:endParaRPr lang="en-US" sz="830" dirty="0"/>
          </a:p>
        </p:txBody>
      </p:sp>
      <p:sp>
        <p:nvSpPr>
          <p:cNvPr id="10" name="Text 8"/>
          <p:cNvSpPr/>
          <p:nvPr/>
        </p:nvSpPr>
        <p:spPr>
          <a:xfrm>
            <a:off x="3657600"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1" name="Text 9"/>
          <p:cNvSpPr/>
          <p:nvPr/>
        </p:nvSpPr>
        <p:spPr>
          <a:xfrm>
            <a:off x="3977640" y="1874520"/>
            <a:ext cx="3063240" cy="329184"/>
          </a:xfrm>
          <a:prstGeom prst="rect">
            <a:avLst/>
          </a:prstGeom>
          <a:noFill/>
          <a:ln/>
        </p:spPr>
        <p:txBody>
          <a:bodyPr wrap="square" lIns="635" tIns="635" rIns="635" bIns="635" rtlCol="0" anchor="t">
            <a:normAutofit/>
          </a:bodyPr>
          <a:lstStyle/>
          <a:p>
            <a:pPr marL="0" indent="0" algn="l">
              <a:buNone/>
            </a:pPr>
            <a:r>
              <a:rPr lang="en-US" sz="1100" b="1" dirty="0">
                <a:solidFill>
                  <a:srgbClr val="E0A13A"/>
                </a:solidFill>
                <a:latin typeface="Aptos" pitchFamily="34" charset="0"/>
                <a:ea typeface="Aptos" pitchFamily="34" charset="-122"/>
                <a:cs typeface="Aptos" pitchFamily="34" charset="-120"/>
              </a:rPr>
              <a:t>what does it mean when a pregancy gets ended early or the baby is not kept, like how does that whole thing happen and what is i...</a:t>
            </a:r>
            <a:endParaRPr lang="en-US" sz="830" dirty="0"/>
          </a:p>
        </p:txBody>
      </p:sp>
      <p:sp>
        <p:nvSpPr>
          <p:cNvPr id="12" name="Text 10"/>
          <p:cNvSpPr/>
          <p:nvPr/>
        </p:nvSpPr>
        <p:spPr>
          <a:xfrm>
            <a:off x="7150608"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3" name="Text 11"/>
          <p:cNvSpPr/>
          <p:nvPr/>
        </p:nvSpPr>
        <p:spPr>
          <a:xfrm>
            <a:off x="7452360" y="1874520"/>
            <a:ext cx="3749040" cy="329184"/>
          </a:xfrm>
          <a:prstGeom prst="rect">
            <a:avLst/>
          </a:prstGeom>
          <a:noFill/>
          <a:ln/>
        </p:spPr>
        <p:txBody>
          <a:bodyPr wrap="square" lIns="635" tIns="635" rIns="635" bIns="635" rtlCol="0" anchor="t">
            <a:normAutofit/>
          </a:bodyPr>
          <a:lstStyle/>
          <a:p>
            <a:pPr marL="0" indent="0" algn="l">
              <a:buNone/>
            </a:pPr>
            <a:r>
              <a:rPr lang="en-US" sz="1100" b="1" dirty="0">
                <a:solidFill>
                  <a:srgbClr val="127C7A"/>
                </a:solidFill>
                <a:latin typeface="Aptos" pitchFamily="34" charset="0"/>
                <a:ea typeface="Aptos" pitchFamily="34" charset="-122"/>
                <a:cs typeface="Aptos" pitchFamily="34" charset="-120"/>
              </a:rPr>
              <a:t>What does it mean when a pregnancy ends early or is intentionally ended, and what happens during that process?</a:t>
            </a:r>
            <a:endParaRPr lang="en-US" sz="830" dirty="0"/>
          </a:p>
        </p:txBody>
      </p:sp>
      <p:sp>
        <p:nvSpPr>
          <p:cNvPr id="14" name="Shape 12"/>
          <p:cNvSpPr/>
          <p:nvPr/>
        </p:nvSpPr>
        <p:spPr>
          <a:xfrm>
            <a:off x="475488"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5" name="Shape 13"/>
          <p:cNvSpPr/>
          <p:nvPr/>
        </p:nvSpPr>
        <p:spPr>
          <a:xfrm>
            <a:off x="603504" y="2724912"/>
            <a:ext cx="1005840" cy="256032"/>
          </a:xfrm>
          <a:prstGeom prst="roundRect">
            <a:avLst>
              <a:gd name="adj" fmla="val 21429"/>
            </a:avLst>
          </a:prstGeom>
          <a:solidFill>
            <a:srgbClr val="127C7A"/>
          </a:solidFill>
          <a:ln w="8890">
            <a:solidFill>
              <a:srgbClr val="3867D6"/>
            </a:solidFill>
            <a:prstDash val="solid"/>
          </a:ln>
        </p:spPr>
        <p:txBody>
          <a:bodyPr/>
          <a:lstStyle/>
          <a:p>
            <a:endParaRPr lang="en-US"/>
          </a:p>
        </p:txBody>
      </p:sp>
      <p:sp>
        <p:nvSpPr>
          <p:cNvPr id="16" name="Text 14"/>
          <p:cNvSpPr/>
          <p:nvPr/>
        </p:nvSpPr>
        <p:spPr>
          <a:xfrm>
            <a:off x="676656" y="2779776"/>
            <a:ext cx="868680" cy="146304"/>
          </a:xfrm>
          <a:prstGeom prst="rect">
            <a:avLst/>
          </a:prstGeom>
          <a:solidFill>
            <a:srgbClr val="127C7A"/>
          </a:solidFill>
          <a:ln>
            <a:noFill/>
          </a:ln>
        </p:spPr>
        <p:txBody>
          <a:bodyPr wrap="none" lIns="109728" tIns="27432" rIns="109728" bIns="27432" rtlCol="0" anchor="t"/>
          <a:lstStyle/>
          <a:p>
            <a:pPr marL="0" indent="0" algn="ctr">
              <a:buNone/>
            </a:pPr>
            <a:r>
              <a:rPr sz="1200" b="1">
                <a:solidFill>
                  <a:srgbClr val="FFFFFF"/>
                </a:solidFill>
                <a:latin typeface="Aptos"/>
              </a:rPr>
              <a:t>CLEAN</a:t>
            </a:r>
            <a:endParaRPr lang="en-US" sz="750" dirty="0"/>
          </a:p>
        </p:txBody>
      </p:sp>
      <p:sp>
        <p:nvSpPr>
          <p:cNvPr id="17" name="Text 15"/>
          <p:cNvSpPr/>
          <p:nvPr/>
        </p:nvSpPr>
        <p:spPr>
          <a:xfrm>
            <a:off x="640080" y="3081528"/>
            <a:ext cx="3145536"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Abortion is the termination or loss of a pregnancy before the fetus is viable outside the uterus. It may be: Spontaneous abortion: a miscarriage, occurring naturally. Induced abortion: deliberate ending of a pregnancy by medication or a medical/surgical procedure. In medical use, abortion generally refers to pregnancy ending in the early stages, before th...</a:t>
            </a:r>
            <a:endParaRPr lang="en-US" sz="820" dirty="0"/>
          </a:p>
        </p:txBody>
      </p:sp>
      <p:sp>
        <p:nvSpPr>
          <p:cNvPr id="18" name="Shape 16"/>
          <p:cNvSpPr/>
          <p:nvPr/>
        </p:nvSpPr>
        <p:spPr>
          <a:xfrm>
            <a:off x="4370832"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9" name="Shape 17"/>
          <p:cNvSpPr/>
          <p:nvPr/>
        </p:nvSpPr>
        <p:spPr>
          <a:xfrm>
            <a:off x="4498848" y="2724912"/>
            <a:ext cx="1005840" cy="256032"/>
          </a:xfrm>
          <a:prstGeom prst="roundRect">
            <a:avLst>
              <a:gd name="adj" fmla="val 21429"/>
            </a:avLst>
          </a:prstGeom>
          <a:solidFill>
            <a:srgbClr val="E0A13A"/>
          </a:solidFill>
          <a:ln w="8890">
            <a:solidFill>
              <a:srgbClr val="E0A13A"/>
            </a:solidFill>
            <a:prstDash val="solid"/>
          </a:ln>
        </p:spPr>
        <p:txBody>
          <a:bodyPr/>
          <a:lstStyle/>
          <a:p>
            <a:endParaRPr lang="en-US"/>
          </a:p>
        </p:txBody>
      </p:sp>
      <p:sp>
        <p:nvSpPr>
          <p:cNvPr id="20" name="Text 18"/>
          <p:cNvSpPr/>
          <p:nvPr/>
        </p:nvSpPr>
        <p:spPr>
          <a:xfrm>
            <a:off x="4572000" y="2779776"/>
            <a:ext cx="868680" cy="146304"/>
          </a:xfrm>
          <a:prstGeom prst="rect">
            <a:avLst/>
          </a:prstGeom>
          <a:solidFill>
            <a:srgbClr val="C94C4C"/>
          </a:solidFill>
          <a:ln>
            <a:noFill/>
          </a:ln>
        </p:spPr>
        <p:txBody>
          <a:bodyPr wrap="none" lIns="109728" tIns="27432" rIns="109728" bIns="27432" rtlCol="0" anchor="t"/>
          <a:lstStyle/>
          <a:p>
            <a:pPr marL="0" indent="0" algn="ctr">
              <a:buNone/>
            </a:pPr>
            <a:r>
              <a:rPr sz="1200" b="1">
                <a:solidFill>
                  <a:srgbClr val="FFFFFF"/>
                </a:solidFill>
                <a:latin typeface="Aptos"/>
              </a:rPr>
              <a:t>NOISY</a:t>
            </a:r>
            <a:endParaRPr lang="en-US" sz="750" dirty="0"/>
          </a:p>
        </p:txBody>
      </p:sp>
      <p:sp>
        <p:nvSpPr>
          <p:cNvPr id="21" name="Text 19"/>
          <p:cNvSpPr/>
          <p:nvPr/>
        </p:nvSpPr>
        <p:spPr>
          <a:xfrm>
            <a:off x="4535424" y="3081528"/>
            <a:ext cx="3145536"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When a pregnancy ends early, there are a few different medical terms, depending on how it happens: Miscarriage This means the pregnancy ends on its own before the baby can survive outside the uterus, usually before 20 weeks. It often happens because the embryo/fetus was not developing normally, often due to chromosome problems. It is very common and usual...</a:t>
            </a:r>
            <a:endParaRPr lang="en-US" sz="820" dirty="0"/>
          </a:p>
        </p:txBody>
      </p:sp>
      <p:sp>
        <p:nvSpPr>
          <p:cNvPr id="22" name="Shape 20"/>
          <p:cNvSpPr/>
          <p:nvPr/>
        </p:nvSpPr>
        <p:spPr>
          <a:xfrm>
            <a:off x="8247888" y="2606040"/>
            <a:ext cx="2907792"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23" name="Shape 21"/>
          <p:cNvSpPr/>
          <p:nvPr/>
        </p:nvSpPr>
        <p:spPr>
          <a:xfrm>
            <a:off x="8375904" y="2724912"/>
            <a:ext cx="1005840" cy="256032"/>
          </a:xfrm>
          <a:prstGeom prst="roundRect">
            <a:avLst>
              <a:gd name="adj" fmla="val 21429"/>
            </a:avLst>
          </a:prstGeom>
          <a:solidFill>
            <a:srgbClr val="127C7A"/>
          </a:solidFill>
          <a:ln w="8890">
            <a:solidFill>
              <a:srgbClr val="127C7A"/>
            </a:solidFill>
            <a:prstDash val="solid"/>
          </a:ln>
        </p:spPr>
        <p:txBody>
          <a:bodyPr/>
          <a:lstStyle/>
          <a:p>
            <a:endParaRPr lang="en-US"/>
          </a:p>
        </p:txBody>
      </p:sp>
      <p:sp>
        <p:nvSpPr>
          <p:cNvPr id="24" name="Text 22"/>
          <p:cNvSpPr/>
          <p:nvPr/>
        </p:nvSpPr>
        <p:spPr>
          <a:xfrm>
            <a:off x="8449056" y="2779776"/>
            <a:ext cx="1188720" cy="146304"/>
          </a:xfrm>
          <a:prstGeom prst="rect">
            <a:avLst/>
          </a:prstGeom>
          <a:solidFill>
            <a:srgbClr val="E0A13A"/>
          </a:solidFill>
          <a:ln>
            <a:noFill/>
          </a:ln>
        </p:spPr>
        <p:txBody>
          <a:bodyPr wrap="none" lIns="109728" tIns="27432" rIns="109728" bIns="27432" rtlCol="0" anchor="t"/>
          <a:lstStyle/>
          <a:p>
            <a:pPr marL="0" indent="0" algn="ctr">
              <a:buNone/>
            </a:pPr>
            <a:r>
              <a:rPr sz="1200" b="1">
                <a:solidFill>
                  <a:srgbClr val="FFFFFF"/>
                </a:solidFill>
                <a:latin typeface="Aptos"/>
              </a:rPr>
              <a:t>REPAIRED</a:t>
            </a:r>
            <a:endParaRPr lang="en-US" sz="750" dirty="0"/>
          </a:p>
        </p:txBody>
      </p:sp>
      <p:sp>
        <p:nvSpPr>
          <p:cNvPr id="25" name="Text 23"/>
          <p:cNvSpPr/>
          <p:nvPr/>
        </p:nvSpPr>
        <p:spPr>
          <a:xfrm>
            <a:off x="8412480" y="3081528"/>
            <a:ext cx="2578608"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This is called abortion. If a pregnancy ends on its own early, it is a spontaneous abortion, also known as a miscarriage. If it is ended deliberately, it is an induced abortion. In either case, the pregnancy tissue-such as the embryo or fetus and the placenta-is expelled or removed from the uterus before the fetus is able to survive outside the womb. This...</a:t>
            </a:r>
            <a:endParaRPr lang="en-US" sz="820" dirty="0"/>
          </a:p>
        </p:txBody>
      </p:sp>
      <p:sp>
        <p:nvSpPr>
          <p:cNvPr id="26" name="Text 24"/>
          <p:cNvSpPr/>
          <p:nvPr/>
        </p:nvSpPr>
        <p:spPr>
          <a:xfrm>
            <a:off x="475488" y="5257800"/>
            <a:ext cx="4023360" cy="164592"/>
          </a:xfrm>
          <a:prstGeom prst="rect">
            <a:avLst/>
          </a:prstGeom>
          <a:noFill/>
          <a:ln/>
        </p:spPr>
        <p:txBody>
          <a:bodyPr wrap="square" lIns="0" tIns="0" rIns="0" bIns="0" rtlCol="0" anchor="t"/>
          <a:lstStyle/>
          <a:p>
            <a:pPr marL="0" indent="0" algn="l">
              <a:buNone/>
            </a:pPr>
            <a:r>
              <a:rPr lang="en-US" sz="1100" b="1" dirty="0">
                <a:solidFill>
                  <a:srgbClr val="25323D"/>
                </a:solidFill>
                <a:latin typeface="Aptos" pitchFamily="34" charset="0"/>
                <a:ea typeface="Aptos" pitchFamily="34" charset="-122"/>
                <a:cs typeface="Aptos" pitchFamily="34" charset="-120"/>
              </a:rPr>
              <a:t>G-Eval: 4 clean | 3 noisy | 4 repaired</a:t>
            </a:r>
            <a:endParaRPr lang="en-US" sz="820" dirty="0"/>
          </a:p>
        </p:txBody>
      </p:sp>
      <p:sp>
        <p:nvSpPr>
          <p:cNvPr id="27" name="Text 25"/>
          <p:cNvSpPr/>
          <p:nvPr/>
        </p:nvSpPr>
        <p:spPr>
          <a:xfrm>
            <a:off x="475488" y="5477256"/>
            <a:ext cx="4023360" cy="164592"/>
          </a:xfrm>
          <a:prstGeom prst="rect">
            <a:avLst/>
          </a:prstGeom>
          <a:noFill/>
          <a:ln/>
        </p:spPr>
        <p:txBody>
          <a:bodyPr wrap="square" lIns="0" tIns="0" rIns="0" bIns="0" rtlCol="0" anchor="t"/>
          <a:lstStyle/>
          <a:p>
            <a:pPr marL="0" indent="0" algn="l">
              <a:buNone/>
            </a:pPr>
            <a:r>
              <a:rPr lang="en-US" sz="1100" dirty="0">
                <a:solidFill>
                  <a:srgbClr val="52616B"/>
                </a:solidFill>
                <a:latin typeface="Aptos" pitchFamily="34" charset="0"/>
                <a:ea typeface="Aptos" pitchFamily="34" charset="-122"/>
                <a:cs typeface="Aptos" pitchFamily="34" charset="-120"/>
              </a:rPr>
              <a:t>med_coverage: 23.8 -&gt; 28.6 -&gt; 23.8</a:t>
            </a:r>
            <a:endParaRPr lang="en-US" sz="780" dirty="0"/>
          </a:p>
        </p:txBody>
      </p:sp>
      <p:sp>
        <p:nvSpPr>
          <p:cNvPr id="28" name="Text 26"/>
          <p:cNvSpPr/>
          <p:nvPr/>
        </p:nvSpPr>
        <p:spPr>
          <a:xfrm>
            <a:off x="4663440" y="5138928"/>
            <a:ext cx="6263640" cy="493776"/>
          </a:xfrm>
          <a:prstGeom prst="rect">
            <a:avLst/>
          </a:prstGeom>
          <a:noFill/>
          <a:ln/>
        </p:spPr>
        <p:txBody>
          <a:bodyPr wrap="square" lIns="635" tIns="635" rIns="635" bIns="635" rtlCol="0" anchor="t">
            <a:normAutofit/>
          </a:bodyPr>
          <a:lstStyle/>
          <a:p>
            <a:pPr marL="0" indent="0" algn="l">
              <a:buNone/>
            </a:pPr>
            <a:r>
              <a:rPr lang="en-US" sz="1120" b="1" dirty="0">
                <a:solidFill>
                  <a:srgbClr val="25323D"/>
                </a:solidFill>
                <a:latin typeface="Aptos" pitchFamily="34" charset="0"/>
                <a:ea typeface="Aptos" pitchFamily="34" charset="-122"/>
                <a:cs typeface="Aptos" pitchFamily="34" charset="-120"/>
              </a:rPr>
              <a:t>Here repair helps: it restores a concise medical distinction between spontaneous and induced abortion.</a:t>
            </a:r>
            <a:endParaRPr lang="en-US" sz="1120" dirty="0"/>
          </a:p>
        </p:txBody>
      </p:sp>
      <p:sp>
        <p:nvSpPr>
          <p:cNvPr id="29" name="Oval 28"/>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Evidence example</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A better judge score can still lose medical content.</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100" dirty="0">
                <a:solidFill>
                  <a:srgbClr val="52616B"/>
                </a:solidFill>
                <a:latin typeface="Aptos" pitchFamily="34" charset="0"/>
                <a:ea typeface="Aptos" pitchFamily="34" charset="-122"/>
                <a:cs typeface="Aptos" pitchFamily="34" charset="-120"/>
              </a:rPr>
              <a:t>Mixtral-8x7B-Instruct-v0.1 (4bit) | typos_grammar noise | question_id 30</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15 / 19</a:t>
            </a:r>
            <a:endParaRPr lang="en-US" sz="680" dirty="0"/>
          </a:p>
        </p:txBody>
      </p:sp>
      <p:sp>
        <p:nvSpPr>
          <p:cNvPr id="8" name="Text 6"/>
          <p:cNvSpPr/>
          <p:nvPr/>
        </p:nvSpPr>
        <p:spPr>
          <a:xfrm>
            <a:off x="475488" y="1627632"/>
            <a:ext cx="1280160" cy="164592"/>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Question path</a:t>
            </a:r>
            <a:endParaRPr lang="en-US" sz="820" dirty="0"/>
          </a:p>
        </p:txBody>
      </p:sp>
      <p:sp>
        <p:nvSpPr>
          <p:cNvPr id="9" name="Text 7"/>
          <p:cNvSpPr/>
          <p:nvPr/>
        </p:nvSpPr>
        <p:spPr>
          <a:xfrm>
            <a:off x="475488" y="1874520"/>
            <a:ext cx="3063240" cy="329184"/>
          </a:xfrm>
          <a:prstGeom prst="rect">
            <a:avLst/>
          </a:prstGeom>
          <a:noFill/>
          <a:ln/>
        </p:spPr>
        <p:txBody>
          <a:bodyPr wrap="square" lIns="635" tIns="635" rIns="635" bIns="635" rtlCol="0" anchor="t">
            <a:normAutofit/>
          </a:bodyPr>
          <a:lstStyle/>
          <a:p>
            <a:pPr marL="0" indent="0" algn="l">
              <a:buNone/>
            </a:pPr>
            <a:r>
              <a:rPr lang="en-US" sz="1100" b="1" dirty="0">
                <a:solidFill>
                  <a:srgbClr val="127C7A"/>
                </a:solidFill>
                <a:latin typeface="Aptos" pitchFamily="34" charset="0"/>
                <a:ea typeface="Aptos" pitchFamily="34" charset="-122"/>
                <a:cs typeface="Aptos" pitchFamily="34" charset="-120"/>
              </a:rPr>
              <a:t>What is (are) Anal Disorders ?</a:t>
            </a:r>
            <a:endParaRPr lang="en-US" sz="830" dirty="0"/>
          </a:p>
        </p:txBody>
      </p:sp>
      <p:sp>
        <p:nvSpPr>
          <p:cNvPr id="10" name="Text 8"/>
          <p:cNvSpPr/>
          <p:nvPr/>
        </p:nvSpPr>
        <p:spPr>
          <a:xfrm>
            <a:off x="3657600"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1" name="Text 9"/>
          <p:cNvSpPr/>
          <p:nvPr/>
        </p:nvSpPr>
        <p:spPr>
          <a:xfrm>
            <a:off x="3977640" y="1874520"/>
            <a:ext cx="3063240" cy="329184"/>
          </a:xfrm>
          <a:prstGeom prst="rect">
            <a:avLst/>
          </a:prstGeom>
          <a:noFill/>
          <a:ln/>
        </p:spPr>
        <p:txBody>
          <a:bodyPr wrap="square" lIns="635" tIns="635" rIns="635" bIns="635" rtlCol="0" anchor="t">
            <a:normAutofit/>
          </a:bodyPr>
          <a:lstStyle/>
          <a:p>
            <a:pPr marL="0" indent="0" algn="l">
              <a:buNone/>
            </a:pPr>
            <a:r>
              <a:rPr lang="en-US" sz="1100" b="1" dirty="0">
                <a:solidFill>
                  <a:srgbClr val="E0A13A"/>
                </a:solidFill>
                <a:latin typeface="Aptos" pitchFamily="34" charset="0"/>
                <a:ea typeface="Aptos" pitchFamily="34" charset="-122"/>
                <a:cs typeface="Aptos" pitchFamily="34" charset="-120"/>
              </a:rPr>
              <a:t>what are anal disordrs exacly, and how do they happn ?</a:t>
            </a:r>
            <a:endParaRPr lang="en-US" sz="830" dirty="0"/>
          </a:p>
        </p:txBody>
      </p:sp>
      <p:sp>
        <p:nvSpPr>
          <p:cNvPr id="12" name="Text 10"/>
          <p:cNvSpPr/>
          <p:nvPr/>
        </p:nvSpPr>
        <p:spPr>
          <a:xfrm>
            <a:off x="7150608"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3" name="Text 11"/>
          <p:cNvSpPr/>
          <p:nvPr/>
        </p:nvSpPr>
        <p:spPr>
          <a:xfrm>
            <a:off x="7452360" y="1874520"/>
            <a:ext cx="3749040" cy="329184"/>
          </a:xfrm>
          <a:prstGeom prst="rect">
            <a:avLst/>
          </a:prstGeom>
          <a:noFill/>
          <a:ln/>
        </p:spPr>
        <p:txBody>
          <a:bodyPr wrap="square" lIns="635" tIns="635" rIns="635" bIns="635" rtlCol="0" anchor="t">
            <a:normAutofit/>
          </a:bodyPr>
          <a:lstStyle/>
          <a:p>
            <a:pPr marL="0" indent="0" algn="l">
              <a:buNone/>
            </a:pPr>
            <a:r>
              <a:rPr lang="en-US" sz="1100" b="1" dirty="0">
                <a:solidFill>
                  <a:srgbClr val="127C7A"/>
                </a:solidFill>
                <a:latin typeface="Aptos" pitchFamily="34" charset="0"/>
                <a:ea typeface="Aptos" pitchFamily="34" charset="-122"/>
                <a:cs typeface="Aptos" pitchFamily="34" charset="-120"/>
              </a:rPr>
              <a:t>What are anal disorders exactly, and how do they typically develop?</a:t>
            </a:r>
            <a:endParaRPr lang="en-US" sz="830" dirty="0"/>
          </a:p>
        </p:txBody>
      </p:sp>
      <p:sp>
        <p:nvSpPr>
          <p:cNvPr id="14" name="Shape 12"/>
          <p:cNvSpPr/>
          <p:nvPr/>
        </p:nvSpPr>
        <p:spPr>
          <a:xfrm>
            <a:off x="475488"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5" name="Shape 13"/>
          <p:cNvSpPr/>
          <p:nvPr/>
        </p:nvSpPr>
        <p:spPr>
          <a:xfrm>
            <a:off x="603504" y="2724912"/>
            <a:ext cx="1005840" cy="256032"/>
          </a:xfrm>
          <a:prstGeom prst="roundRect">
            <a:avLst>
              <a:gd name="adj" fmla="val 21429"/>
            </a:avLst>
          </a:prstGeom>
          <a:solidFill>
            <a:srgbClr val="127C7A"/>
          </a:solidFill>
          <a:ln w="8890">
            <a:solidFill>
              <a:srgbClr val="3867D6"/>
            </a:solidFill>
            <a:prstDash val="solid"/>
          </a:ln>
        </p:spPr>
        <p:txBody>
          <a:bodyPr/>
          <a:lstStyle/>
          <a:p>
            <a:endParaRPr lang="en-US"/>
          </a:p>
        </p:txBody>
      </p:sp>
      <p:sp>
        <p:nvSpPr>
          <p:cNvPr id="16" name="Text 14"/>
          <p:cNvSpPr/>
          <p:nvPr/>
        </p:nvSpPr>
        <p:spPr>
          <a:xfrm>
            <a:off x="676656" y="2779776"/>
            <a:ext cx="868680" cy="146304"/>
          </a:xfrm>
          <a:prstGeom prst="rect">
            <a:avLst/>
          </a:prstGeom>
          <a:solidFill>
            <a:srgbClr val="127C7A"/>
          </a:solidFill>
          <a:ln>
            <a:noFill/>
          </a:ln>
        </p:spPr>
        <p:txBody>
          <a:bodyPr wrap="none" lIns="109728" tIns="27432" rIns="109728" bIns="27432" rtlCol="0" anchor="t"/>
          <a:lstStyle/>
          <a:p>
            <a:pPr marL="0" indent="0" algn="ctr">
              <a:buNone/>
            </a:pPr>
            <a:r>
              <a:rPr sz="1200" b="1">
                <a:solidFill>
                  <a:srgbClr val="FFFFFF"/>
                </a:solidFill>
                <a:latin typeface="Aptos"/>
              </a:rPr>
              <a:t>CLEAN</a:t>
            </a:r>
            <a:endParaRPr lang="en-US" sz="750" dirty="0"/>
          </a:p>
        </p:txBody>
      </p:sp>
      <p:sp>
        <p:nvSpPr>
          <p:cNvPr id="17" name="Text 15"/>
          <p:cNvSpPr/>
          <p:nvPr/>
        </p:nvSpPr>
        <p:spPr>
          <a:xfrm>
            <a:off x="640080" y="3081528"/>
            <a:ext cx="3145536"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An anal disorder refers to various conditions that affect the anus, including: Hemorrhoids: Swollen veins in the rectum or anus that can cause pain, itching, and bleeding. Fissures: Small tears in the lining of the anus that can be painful and bleed during bowel movements. Abscesses: Infections that result in pus-filled pockets near the anus. Fistulas: Ch...</a:t>
            </a:r>
            <a:endParaRPr lang="en-US" sz="820" dirty="0"/>
          </a:p>
        </p:txBody>
      </p:sp>
      <p:sp>
        <p:nvSpPr>
          <p:cNvPr id="18" name="Shape 16"/>
          <p:cNvSpPr/>
          <p:nvPr/>
        </p:nvSpPr>
        <p:spPr>
          <a:xfrm>
            <a:off x="4370832"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9" name="Shape 17"/>
          <p:cNvSpPr/>
          <p:nvPr/>
        </p:nvSpPr>
        <p:spPr>
          <a:xfrm>
            <a:off x="4498848" y="2724912"/>
            <a:ext cx="1005840" cy="256032"/>
          </a:xfrm>
          <a:prstGeom prst="roundRect">
            <a:avLst>
              <a:gd name="adj" fmla="val 21429"/>
            </a:avLst>
          </a:prstGeom>
          <a:solidFill>
            <a:srgbClr val="E0A13A"/>
          </a:solidFill>
          <a:ln w="8890">
            <a:solidFill>
              <a:srgbClr val="E0A13A"/>
            </a:solidFill>
            <a:prstDash val="solid"/>
          </a:ln>
        </p:spPr>
        <p:txBody>
          <a:bodyPr/>
          <a:lstStyle/>
          <a:p>
            <a:endParaRPr lang="en-US"/>
          </a:p>
        </p:txBody>
      </p:sp>
      <p:sp>
        <p:nvSpPr>
          <p:cNvPr id="20" name="Text 18"/>
          <p:cNvSpPr/>
          <p:nvPr/>
        </p:nvSpPr>
        <p:spPr>
          <a:xfrm>
            <a:off x="4572000" y="2779776"/>
            <a:ext cx="868680" cy="146304"/>
          </a:xfrm>
          <a:prstGeom prst="rect">
            <a:avLst/>
          </a:prstGeom>
          <a:solidFill>
            <a:srgbClr val="C94C4C"/>
          </a:solidFill>
          <a:ln>
            <a:noFill/>
          </a:ln>
        </p:spPr>
        <p:txBody>
          <a:bodyPr wrap="none" lIns="109728" tIns="27432" rIns="109728" bIns="27432" rtlCol="0" anchor="t"/>
          <a:lstStyle/>
          <a:p>
            <a:pPr marL="0" indent="0" algn="ctr">
              <a:buNone/>
            </a:pPr>
            <a:r>
              <a:rPr sz="1200" b="1">
                <a:solidFill>
                  <a:srgbClr val="FFFFFF"/>
                </a:solidFill>
                <a:latin typeface="Aptos"/>
              </a:rPr>
              <a:t>NOISY</a:t>
            </a:r>
            <a:endParaRPr lang="en-US" sz="750" dirty="0"/>
          </a:p>
        </p:txBody>
      </p:sp>
      <p:sp>
        <p:nvSpPr>
          <p:cNvPr id="21" name="Text 19"/>
          <p:cNvSpPr/>
          <p:nvPr/>
        </p:nvSpPr>
        <p:spPr>
          <a:xfrm>
            <a:off x="4535424" y="3081528"/>
            <a:ext cx="3145536"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Anal disorders refer to various conditions that affect the anus, including: Hemorrhoids: Swollen veins in the rectum or anus that can cause pain, itching, and bleeding. They can be caused by straining during bowel movements, obesity, pregnancy, standing or sitting for long periods, chronic constipation or diarrhea, eating a low-fiber diet, or aging. Fissu...</a:t>
            </a:r>
            <a:endParaRPr lang="en-US" sz="820" dirty="0"/>
          </a:p>
        </p:txBody>
      </p:sp>
      <p:sp>
        <p:nvSpPr>
          <p:cNvPr id="22" name="Shape 20"/>
          <p:cNvSpPr/>
          <p:nvPr/>
        </p:nvSpPr>
        <p:spPr>
          <a:xfrm>
            <a:off x="8247888" y="2606040"/>
            <a:ext cx="2907792"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23" name="Shape 21"/>
          <p:cNvSpPr/>
          <p:nvPr/>
        </p:nvSpPr>
        <p:spPr>
          <a:xfrm>
            <a:off x="8375904" y="2724912"/>
            <a:ext cx="1005840" cy="256032"/>
          </a:xfrm>
          <a:prstGeom prst="roundRect">
            <a:avLst>
              <a:gd name="adj" fmla="val 21429"/>
            </a:avLst>
          </a:prstGeom>
          <a:solidFill>
            <a:srgbClr val="127C7A"/>
          </a:solidFill>
          <a:ln w="8890">
            <a:solidFill>
              <a:srgbClr val="127C7A"/>
            </a:solidFill>
            <a:prstDash val="solid"/>
          </a:ln>
        </p:spPr>
        <p:txBody>
          <a:bodyPr/>
          <a:lstStyle/>
          <a:p>
            <a:endParaRPr lang="en-US"/>
          </a:p>
        </p:txBody>
      </p:sp>
      <p:sp>
        <p:nvSpPr>
          <p:cNvPr id="24" name="Text 22"/>
          <p:cNvSpPr/>
          <p:nvPr/>
        </p:nvSpPr>
        <p:spPr>
          <a:xfrm>
            <a:off x="8449056" y="2779776"/>
            <a:ext cx="1188720" cy="146304"/>
          </a:xfrm>
          <a:prstGeom prst="rect">
            <a:avLst/>
          </a:prstGeom>
          <a:solidFill>
            <a:srgbClr val="E0A13A"/>
          </a:solidFill>
          <a:ln>
            <a:noFill/>
          </a:ln>
        </p:spPr>
        <p:txBody>
          <a:bodyPr wrap="none" lIns="109728" tIns="27432" rIns="109728" bIns="27432" rtlCol="0" anchor="t"/>
          <a:lstStyle/>
          <a:p>
            <a:pPr marL="0" indent="0" algn="ctr">
              <a:buNone/>
            </a:pPr>
            <a:r>
              <a:rPr sz="1200" b="1">
                <a:solidFill>
                  <a:srgbClr val="FFFFFF"/>
                </a:solidFill>
                <a:latin typeface="Aptos"/>
              </a:rPr>
              <a:t>REPAIRED</a:t>
            </a:r>
            <a:endParaRPr lang="en-US" sz="750" dirty="0"/>
          </a:p>
        </p:txBody>
      </p:sp>
      <p:sp>
        <p:nvSpPr>
          <p:cNvPr id="25" name="Text 23"/>
          <p:cNvSpPr/>
          <p:nvPr/>
        </p:nvSpPr>
        <p:spPr>
          <a:xfrm>
            <a:off x="8412480" y="3081528"/>
            <a:ext cx="2578608"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Anal disorders refer to various conditions affecting the anus, including hemorrhoids, anal fissures, abscesses, and fistulas. They typically develop due to straining during bowel movements, constipation, diarrhea, aging, or anal intercourse. In some cases, they can be caused by underlying conditions like inflammatory bowel disease or colon cancer. Symptom...</a:t>
            </a:r>
            <a:endParaRPr lang="en-US" sz="820" dirty="0"/>
          </a:p>
        </p:txBody>
      </p:sp>
      <p:sp>
        <p:nvSpPr>
          <p:cNvPr id="26" name="Text 24"/>
          <p:cNvSpPr/>
          <p:nvPr/>
        </p:nvSpPr>
        <p:spPr>
          <a:xfrm>
            <a:off x="475488" y="5257800"/>
            <a:ext cx="4023360" cy="164592"/>
          </a:xfrm>
          <a:prstGeom prst="rect">
            <a:avLst/>
          </a:prstGeom>
          <a:noFill/>
          <a:ln/>
        </p:spPr>
        <p:txBody>
          <a:bodyPr wrap="square" lIns="0" tIns="0" rIns="0" bIns="0" rtlCol="0" anchor="t"/>
          <a:lstStyle/>
          <a:p>
            <a:pPr marL="0" indent="0" algn="l">
              <a:buNone/>
            </a:pPr>
            <a:r>
              <a:rPr lang="en-US" sz="1100" b="1" dirty="0">
                <a:solidFill>
                  <a:srgbClr val="25323D"/>
                </a:solidFill>
                <a:latin typeface="Aptos" pitchFamily="34" charset="0"/>
                <a:ea typeface="Aptos" pitchFamily="34" charset="-122"/>
                <a:cs typeface="Aptos" pitchFamily="34" charset="-120"/>
              </a:rPr>
              <a:t>G-Eval: 4 clean | 3 noisy | 5 repaired</a:t>
            </a:r>
            <a:endParaRPr lang="en-US" sz="820" dirty="0"/>
          </a:p>
        </p:txBody>
      </p:sp>
      <p:sp>
        <p:nvSpPr>
          <p:cNvPr id="27" name="Text 25"/>
          <p:cNvSpPr/>
          <p:nvPr/>
        </p:nvSpPr>
        <p:spPr>
          <a:xfrm>
            <a:off x="475488" y="5477256"/>
            <a:ext cx="4023360" cy="164592"/>
          </a:xfrm>
          <a:prstGeom prst="rect">
            <a:avLst/>
          </a:prstGeom>
          <a:noFill/>
          <a:ln/>
        </p:spPr>
        <p:txBody>
          <a:bodyPr wrap="square" lIns="0" tIns="0" rIns="0" bIns="0" rtlCol="0" anchor="t"/>
          <a:lstStyle/>
          <a:p>
            <a:pPr marL="0" indent="0" algn="l">
              <a:buNone/>
            </a:pPr>
            <a:r>
              <a:rPr lang="en-US" sz="1100" dirty="0">
                <a:solidFill>
                  <a:srgbClr val="52616B"/>
                </a:solidFill>
                <a:latin typeface="Aptos" pitchFamily="34" charset="0"/>
                <a:ea typeface="Aptos" pitchFamily="34" charset="-122"/>
                <a:cs typeface="Aptos" pitchFamily="34" charset="-120"/>
              </a:rPr>
              <a:t>med_coverage: 22.2 -&gt; 19.4 -&gt; 16.7</a:t>
            </a:r>
            <a:endParaRPr lang="en-US" sz="780" dirty="0"/>
          </a:p>
        </p:txBody>
      </p:sp>
      <p:sp>
        <p:nvSpPr>
          <p:cNvPr id="28" name="Text 26"/>
          <p:cNvSpPr/>
          <p:nvPr/>
        </p:nvSpPr>
        <p:spPr>
          <a:xfrm>
            <a:off x="4663440" y="5138928"/>
            <a:ext cx="6263640" cy="493776"/>
          </a:xfrm>
          <a:prstGeom prst="rect">
            <a:avLst/>
          </a:prstGeom>
          <a:noFill/>
          <a:ln/>
        </p:spPr>
        <p:txBody>
          <a:bodyPr wrap="square" lIns="635" tIns="635" rIns="635" bIns="635" rtlCol="0" anchor="t">
            <a:normAutofit/>
          </a:bodyPr>
          <a:lstStyle/>
          <a:p>
            <a:pPr marL="0" indent="0" algn="l">
              <a:buNone/>
            </a:pPr>
            <a:r>
              <a:rPr lang="en-US" sz="1120" b="1" dirty="0">
                <a:solidFill>
                  <a:srgbClr val="25323D"/>
                </a:solidFill>
                <a:latin typeface="Aptos" pitchFamily="34" charset="0"/>
                <a:ea typeface="Aptos" pitchFamily="34" charset="-122"/>
                <a:cs typeface="Aptos" pitchFamily="34" charset="-120"/>
              </a:rPr>
              <a:t>Mixtral self-repair improves G-Eval from 3 to 5, but med_coverage falls. This is why the metric stack matters.</a:t>
            </a:r>
            <a:endParaRPr lang="en-US" sz="1120" dirty="0"/>
          </a:p>
        </p:txBody>
      </p:sp>
      <p:sp>
        <p:nvSpPr>
          <p:cNvPr id="29" name="Oval 28"/>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Interpretation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What the n=50 evidence means</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The project is not asking whether repair can produce nicer questions. It asks whether nicer questions produce better medical answers.</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16 / 19</a:t>
            </a:r>
            <a:endParaRPr lang="en-US" sz="680" dirty="0"/>
          </a:p>
        </p:txBody>
      </p:sp>
      <p:sp>
        <p:nvSpPr>
          <p:cNvPr id="8" name="Text 6"/>
          <p:cNvSpPr/>
          <p:nvPr/>
        </p:nvSpPr>
        <p:spPr>
          <a:xfrm>
            <a:off x="475488" y="1737360"/>
            <a:ext cx="411480" cy="274320"/>
          </a:xfrm>
          <a:prstGeom prst="rect">
            <a:avLst/>
          </a:prstGeom>
          <a:solidFill>
            <a:srgbClr val="127C7A"/>
          </a:solidFill>
          <a:ln>
            <a:noFill/>
          </a:ln>
        </p:spPr>
        <p:txBody>
          <a:bodyPr wrap="square" lIns="0" tIns="0" rIns="0" bIns="0" rtlCol="0" anchor="t"/>
          <a:lstStyle/>
          <a:p>
            <a:pPr marL="0" indent="0" algn="ctr">
              <a:buNone/>
            </a:pPr>
            <a:r>
              <a:rPr lang="en-US" sz="1600" b="1" dirty="0">
                <a:solidFill>
                  <a:srgbClr val="FFFFFF"/>
                </a:solidFill>
                <a:latin typeface="Aptos" pitchFamily="34" charset="0"/>
                <a:ea typeface="Aptos" pitchFamily="34" charset="-122"/>
                <a:cs typeface="Aptos" pitchFamily="34" charset="-120"/>
              </a:rPr>
              <a:t>01</a:t>
            </a:r>
            <a:endParaRPr lang="en-US" sz="1400" dirty="0"/>
          </a:p>
        </p:txBody>
      </p:sp>
      <p:sp>
        <p:nvSpPr>
          <p:cNvPr id="9" name="Text 7"/>
          <p:cNvSpPr/>
          <p:nvPr/>
        </p:nvSpPr>
        <p:spPr>
          <a:xfrm>
            <a:off x="987552" y="1737360"/>
            <a:ext cx="10058400" cy="256032"/>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Repair is useful, but bounded.</a:t>
            </a:r>
            <a:endParaRPr lang="en-US" sz="1600" dirty="0"/>
          </a:p>
        </p:txBody>
      </p:sp>
      <p:sp>
        <p:nvSpPr>
          <p:cNvPr id="10" name="Text 8"/>
          <p:cNvSpPr/>
          <p:nvPr/>
        </p:nvSpPr>
        <p:spPr>
          <a:xfrm>
            <a:off x="987552" y="2121408"/>
            <a:ext cx="9052560" cy="365760"/>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It can fix surface noise and some missing-context cases, yet it cannot reliably recover medical meaning once the user prompt has drifted.</a:t>
            </a:r>
            <a:endParaRPr lang="en-US" sz="1120" dirty="0"/>
          </a:p>
        </p:txBody>
      </p:sp>
      <p:sp>
        <p:nvSpPr>
          <p:cNvPr id="11" name="Text 9"/>
          <p:cNvSpPr/>
          <p:nvPr/>
        </p:nvSpPr>
        <p:spPr>
          <a:xfrm>
            <a:off x="475488" y="2971800"/>
            <a:ext cx="411480" cy="274320"/>
          </a:xfrm>
          <a:prstGeom prst="rect">
            <a:avLst/>
          </a:prstGeom>
          <a:solidFill>
            <a:srgbClr val="127C7A"/>
          </a:solidFill>
          <a:ln>
            <a:noFill/>
          </a:ln>
        </p:spPr>
        <p:txBody>
          <a:bodyPr wrap="square" lIns="0" tIns="0" rIns="0" bIns="0" rtlCol="0" anchor="t"/>
          <a:lstStyle/>
          <a:p>
            <a:pPr marL="0" indent="0" algn="ctr">
              <a:buNone/>
            </a:pPr>
            <a:r>
              <a:rPr lang="en-US" sz="1600" b="1" dirty="0">
                <a:solidFill>
                  <a:srgbClr val="FFFFFF"/>
                </a:solidFill>
                <a:latin typeface="Aptos" pitchFamily="34" charset="0"/>
                <a:ea typeface="Aptos" pitchFamily="34" charset="-122"/>
                <a:cs typeface="Aptos" pitchFamily="34" charset="-120"/>
              </a:rPr>
              <a:t>02</a:t>
            </a:r>
            <a:endParaRPr lang="en-US" sz="1400" dirty="0"/>
          </a:p>
        </p:txBody>
      </p:sp>
      <p:sp>
        <p:nvSpPr>
          <p:cNvPr id="12" name="Text 10"/>
          <p:cNvSpPr/>
          <p:nvPr/>
        </p:nvSpPr>
        <p:spPr>
          <a:xfrm>
            <a:off x="987552" y="2971800"/>
            <a:ext cx="10058400" cy="256032"/>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Question repair adds another failure mode.</a:t>
            </a:r>
            <a:endParaRPr lang="en-US" sz="1600" dirty="0"/>
          </a:p>
        </p:txBody>
      </p:sp>
      <p:sp>
        <p:nvSpPr>
          <p:cNvPr id="13" name="Text 11"/>
          <p:cNvSpPr/>
          <p:nvPr/>
        </p:nvSpPr>
        <p:spPr>
          <a:xfrm>
            <a:off x="987552" y="3355848"/>
            <a:ext cx="9052560" cy="365760"/>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The repair model can commit to the wrong interpretation or broaden the target before the answer model ever sees it.</a:t>
            </a:r>
            <a:endParaRPr lang="en-US" sz="1120" dirty="0"/>
          </a:p>
        </p:txBody>
      </p:sp>
      <p:sp>
        <p:nvSpPr>
          <p:cNvPr id="14" name="Text 12"/>
          <p:cNvSpPr/>
          <p:nvPr/>
        </p:nvSpPr>
        <p:spPr>
          <a:xfrm>
            <a:off x="475488" y="4206240"/>
            <a:ext cx="411480" cy="274320"/>
          </a:xfrm>
          <a:prstGeom prst="rect">
            <a:avLst/>
          </a:prstGeom>
          <a:solidFill>
            <a:srgbClr val="127C7A"/>
          </a:solidFill>
          <a:ln>
            <a:noFill/>
          </a:ln>
        </p:spPr>
        <p:txBody>
          <a:bodyPr wrap="square" lIns="0" tIns="0" rIns="0" bIns="0" rtlCol="0" anchor="t"/>
          <a:lstStyle/>
          <a:p>
            <a:pPr marL="0" indent="0" algn="ctr">
              <a:buNone/>
            </a:pPr>
            <a:r>
              <a:rPr lang="en-US" sz="1600" b="1" dirty="0">
                <a:solidFill>
                  <a:srgbClr val="FFFFFF"/>
                </a:solidFill>
                <a:latin typeface="Aptos" pitchFamily="34" charset="0"/>
                <a:ea typeface="Aptos" pitchFamily="34" charset="-122"/>
                <a:cs typeface="Aptos" pitchFamily="34" charset="-120"/>
              </a:rPr>
              <a:t>03</a:t>
            </a:r>
            <a:endParaRPr lang="en-US" sz="1400" dirty="0"/>
          </a:p>
        </p:txBody>
      </p:sp>
      <p:sp>
        <p:nvSpPr>
          <p:cNvPr id="15" name="Text 13"/>
          <p:cNvSpPr/>
          <p:nvPr/>
        </p:nvSpPr>
        <p:spPr>
          <a:xfrm>
            <a:off x="987552" y="4206240"/>
            <a:ext cx="10058400" cy="256032"/>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Metric choice changes the story.</a:t>
            </a:r>
            <a:endParaRPr lang="en-US" sz="1600" dirty="0"/>
          </a:p>
        </p:txBody>
      </p:sp>
      <p:sp>
        <p:nvSpPr>
          <p:cNvPr id="16" name="Text 14"/>
          <p:cNvSpPr/>
          <p:nvPr/>
        </p:nvSpPr>
        <p:spPr>
          <a:xfrm>
            <a:off x="987552" y="4590288"/>
            <a:ext cx="9052560" cy="365760"/>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Intent scores often improve while G-Eval and medical-term coverage do not. The safest read uses multiple lenses.</a:t>
            </a:r>
            <a:endParaRPr lang="en-US" sz="1120" dirty="0"/>
          </a:p>
        </p:txBody>
      </p:sp>
      <p:sp>
        <p:nvSpPr>
          <p:cNvPr id="17" name="Oval 16"/>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Limitations</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What this pilot cannot yet claim</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The deck is deliberately conservative: these are completed n=50 pilot experiments, not the final 1,000-question study.</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17 / 19</a:t>
            </a:r>
            <a:endParaRPr lang="en-US" sz="680" dirty="0"/>
          </a:p>
        </p:txBody>
      </p:sp>
      <p:sp>
        <p:nvSpPr>
          <p:cNvPr id="8" name="Shape 6"/>
          <p:cNvSpPr/>
          <p:nvPr/>
        </p:nvSpPr>
        <p:spPr>
          <a:xfrm>
            <a:off x="475488" y="1700784"/>
            <a:ext cx="9875520" cy="594360"/>
          </a:xfrm>
          <a:prstGeom prst="rect">
            <a:avLst/>
          </a:prstGeom>
          <a:solidFill>
            <a:srgbClr val="25323D"/>
          </a:solidFill>
          <a:ln w="8890">
            <a:solidFill>
              <a:srgbClr val="25323D"/>
            </a:solidFill>
            <a:prstDash val="solid"/>
          </a:ln>
        </p:spPr>
        <p:txBody>
          <a:bodyPr/>
          <a:lstStyle/>
          <a:p>
            <a:endParaRPr lang="en-US"/>
          </a:p>
        </p:txBody>
      </p:sp>
      <p:sp>
        <p:nvSpPr>
          <p:cNvPr id="9" name="Text 7"/>
          <p:cNvSpPr/>
          <p:nvPr/>
        </p:nvSpPr>
        <p:spPr>
          <a:xfrm>
            <a:off x="521208" y="1755648"/>
            <a:ext cx="1920240" cy="521208"/>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Limit</a:t>
            </a:r>
            <a:endParaRPr lang="en-US" sz="850" dirty="0"/>
          </a:p>
        </p:txBody>
      </p:sp>
      <p:sp>
        <p:nvSpPr>
          <p:cNvPr id="10" name="Text 8"/>
          <p:cNvSpPr/>
          <p:nvPr/>
        </p:nvSpPr>
        <p:spPr>
          <a:xfrm>
            <a:off x="2532888" y="1755648"/>
            <a:ext cx="7772400" cy="521208"/>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Why it matters</a:t>
            </a:r>
            <a:endParaRPr lang="en-US" sz="850" dirty="0"/>
          </a:p>
        </p:txBody>
      </p:sp>
      <p:sp>
        <p:nvSpPr>
          <p:cNvPr id="11" name="Shape 9"/>
          <p:cNvSpPr/>
          <p:nvPr/>
        </p:nvSpPr>
        <p:spPr>
          <a:xfrm>
            <a:off x="475488" y="2295144"/>
            <a:ext cx="9875520" cy="594360"/>
          </a:xfrm>
          <a:prstGeom prst="rect">
            <a:avLst/>
          </a:prstGeom>
          <a:solidFill>
            <a:srgbClr val="F2F6F7"/>
          </a:solidFill>
          <a:ln w="8890">
            <a:solidFill>
              <a:srgbClr val="D9E2E8"/>
            </a:solidFill>
            <a:prstDash val="solid"/>
          </a:ln>
        </p:spPr>
        <p:txBody>
          <a:bodyPr/>
          <a:lstStyle/>
          <a:p>
            <a:endParaRPr lang="en-US"/>
          </a:p>
        </p:txBody>
      </p:sp>
      <p:sp>
        <p:nvSpPr>
          <p:cNvPr id="12" name="Text 10"/>
          <p:cNvSpPr/>
          <p:nvPr/>
        </p:nvSpPr>
        <p:spPr>
          <a:xfrm>
            <a:off x="521208" y="2345436"/>
            <a:ext cx="1920240" cy="52120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Pilot scale</a:t>
            </a:r>
            <a:endParaRPr lang="en-US" sz="920" dirty="0"/>
          </a:p>
        </p:txBody>
      </p:sp>
      <p:sp>
        <p:nvSpPr>
          <p:cNvPr id="13" name="Text 11"/>
          <p:cNvSpPr/>
          <p:nvPr/>
        </p:nvSpPr>
        <p:spPr>
          <a:xfrm>
            <a:off x="2532888" y="2345436"/>
            <a:ext cx="7772400" cy="521208"/>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50 questions per model. Good for signal-finding, not final statistical claim-making.</a:t>
            </a:r>
            <a:endParaRPr lang="en-US" sz="920" dirty="0"/>
          </a:p>
        </p:txBody>
      </p:sp>
      <p:sp>
        <p:nvSpPr>
          <p:cNvPr id="14" name="Shape 12"/>
          <p:cNvSpPr/>
          <p:nvPr/>
        </p:nvSpPr>
        <p:spPr>
          <a:xfrm>
            <a:off x="475488" y="2889504"/>
            <a:ext cx="9875520" cy="594360"/>
          </a:xfrm>
          <a:prstGeom prst="rect">
            <a:avLst/>
          </a:prstGeom>
          <a:solidFill>
            <a:srgbClr val="FFFFFF"/>
          </a:solidFill>
          <a:ln w="8890">
            <a:solidFill>
              <a:srgbClr val="D9E2E8"/>
            </a:solidFill>
            <a:prstDash val="solid"/>
          </a:ln>
        </p:spPr>
        <p:txBody>
          <a:bodyPr/>
          <a:lstStyle/>
          <a:p>
            <a:endParaRPr lang="en-US"/>
          </a:p>
        </p:txBody>
      </p:sp>
      <p:sp>
        <p:nvSpPr>
          <p:cNvPr id="15" name="Text 13"/>
          <p:cNvSpPr/>
          <p:nvPr/>
        </p:nvSpPr>
        <p:spPr>
          <a:xfrm>
            <a:off x="521208" y="2939796"/>
            <a:ext cx="1920240" cy="52120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Synthetic noise</a:t>
            </a:r>
            <a:endParaRPr lang="en-US" sz="920" dirty="0"/>
          </a:p>
        </p:txBody>
      </p:sp>
      <p:sp>
        <p:nvSpPr>
          <p:cNvPr id="16" name="Text 14"/>
          <p:cNvSpPr/>
          <p:nvPr/>
        </p:nvSpPr>
        <p:spPr>
          <a:xfrm>
            <a:off x="2532888" y="2939796"/>
            <a:ext cx="7772400" cy="521208"/>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LLM-generated noise is controlled, but real patient language can be messier and multi-modal.</a:t>
            </a:r>
            <a:endParaRPr lang="en-US" sz="920" dirty="0"/>
          </a:p>
        </p:txBody>
      </p:sp>
      <p:sp>
        <p:nvSpPr>
          <p:cNvPr id="17" name="Shape 15"/>
          <p:cNvSpPr/>
          <p:nvPr/>
        </p:nvSpPr>
        <p:spPr>
          <a:xfrm>
            <a:off x="475488" y="3483864"/>
            <a:ext cx="9875520" cy="594360"/>
          </a:xfrm>
          <a:prstGeom prst="rect">
            <a:avLst/>
          </a:prstGeom>
          <a:solidFill>
            <a:srgbClr val="F2F6F7"/>
          </a:solidFill>
          <a:ln w="8890">
            <a:solidFill>
              <a:srgbClr val="D9E2E8"/>
            </a:solidFill>
            <a:prstDash val="solid"/>
          </a:ln>
        </p:spPr>
        <p:txBody>
          <a:bodyPr/>
          <a:lstStyle/>
          <a:p>
            <a:endParaRPr lang="en-US"/>
          </a:p>
        </p:txBody>
      </p:sp>
      <p:sp>
        <p:nvSpPr>
          <p:cNvPr id="18" name="Text 16"/>
          <p:cNvSpPr/>
          <p:nvPr/>
        </p:nvSpPr>
        <p:spPr>
          <a:xfrm>
            <a:off x="521208" y="3534156"/>
            <a:ext cx="1920240" cy="52120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Single dataset</a:t>
            </a:r>
            <a:endParaRPr lang="en-US" sz="920" dirty="0"/>
          </a:p>
        </p:txBody>
      </p:sp>
      <p:sp>
        <p:nvSpPr>
          <p:cNvPr id="19" name="Text 17"/>
          <p:cNvSpPr/>
          <p:nvPr/>
        </p:nvSpPr>
        <p:spPr>
          <a:xfrm>
            <a:off x="2532888" y="3534156"/>
            <a:ext cx="7772400" cy="521208"/>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MedQuAD is curated NIH/NLM content, not patient portal messages or EHR notes.</a:t>
            </a:r>
            <a:endParaRPr lang="en-US" sz="920" dirty="0"/>
          </a:p>
        </p:txBody>
      </p:sp>
      <p:sp>
        <p:nvSpPr>
          <p:cNvPr id="20" name="Shape 18"/>
          <p:cNvSpPr/>
          <p:nvPr/>
        </p:nvSpPr>
        <p:spPr>
          <a:xfrm>
            <a:off x="475488" y="4078224"/>
            <a:ext cx="9875520" cy="594360"/>
          </a:xfrm>
          <a:prstGeom prst="rect">
            <a:avLst/>
          </a:prstGeom>
          <a:solidFill>
            <a:srgbClr val="FFFFFF"/>
          </a:solidFill>
          <a:ln w="8890">
            <a:solidFill>
              <a:srgbClr val="D9E2E8"/>
            </a:solidFill>
            <a:prstDash val="solid"/>
          </a:ln>
        </p:spPr>
        <p:txBody>
          <a:bodyPr/>
          <a:lstStyle/>
          <a:p>
            <a:endParaRPr lang="en-US"/>
          </a:p>
        </p:txBody>
      </p:sp>
      <p:sp>
        <p:nvSpPr>
          <p:cNvPr id="21" name="Text 19"/>
          <p:cNvSpPr/>
          <p:nvPr/>
        </p:nvSpPr>
        <p:spPr>
          <a:xfrm>
            <a:off x="521208" y="4128516"/>
            <a:ext cx="1920240" cy="52120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Judge model overlap</a:t>
            </a:r>
            <a:endParaRPr lang="en-US" sz="920" dirty="0"/>
          </a:p>
        </p:txBody>
      </p:sp>
      <p:sp>
        <p:nvSpPr>
          <p:cNvPr id="22" name="Text 20"/>
          <p:cNvSpPr/>
          <p:nvPr/>
        </p:nvSpPr>
        <p:spPr>
          <a:xfrm>
            <a:off x="2532888" y="4128516"/>
            <a:ext cx="7772400" cy="521208"/>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G-Eval uses GPT-5.4-mini; the repair/noise stack also uses GPT-family components.</a:t>
            </a:r>
            <a:endParaRPr lang="en-US" sz="920" dirty="0"/>
          </a:p>
        </p:txBody>
      </p:sp>
      <p:sp>
        <p:nvSpPr>
          <p:cNvPr id="23" name="Shape 21"/>
          <p:cNvSpPr/>
          <p:nvPr/>
        </p:nvSpPr>
        <p:spPr>
          <a:xfrm>
            <a:off x="475488" y="4672584"/>
            <a:ext cx="9875520" cy="594360"/>
          </a:xfrm>
          <a:prstGeom prst="rect">
            <a:avLst/>
          </a:prstGeom>
          <a:solidFill>
            <a:srgbClr val="F2F6F7"/>
          </a:solidFill>
          <a:ln w="8890">
            <a:solidFill>
              <a:srgbClr val="D9E2E8"/>
            </a:solidFill>
            <a:prstDash val="solid"/>
          </a:ln>
        </p:spPr>
        <p:txBody>
          <a:bodyPr/>
          <a:lstStyle/>
          <a:p>
            <a:endParaRPr lang="en-US"/>
          </a:p>
        </p:txBody>
      </p:sp>
      <p:sp>
        <p:nvSpPr>
          <p:cNvPr id="24" name="Text 22"/>
          <p:cNvSpPr/>
          <p:nvPr/>
        </p:nvSpPr>
        <p:spPr>
          <a:xfrm>
            <a:off x="521208" y="4722876"/>
            <a:ext cx="1920240" cy="52120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Domain metric limits</a:t>
            </a:r>
            <a:endParaRPr lang="en-US" sz="920" dirty="0"/>
          </a:p>
        </p:txBody>
      </p:sp>
      <p:sp>
        <p:nvSpPr>
          <p:cNvPr id="25" name="Text 23"/>
          <p:cNvSpPr/>
          <p:nvPr/>
        </p:nvSpPr>
        <p:spPr>
          <a:xfrm>
            <a:off x="2532888" y="4722876"/>
            <a:ext cx="7772400" cy="521208"/>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Medical-term coverage catches lost terms, but it does not judge clinical harm or relevance.</a:t>
            </a:r>
            <a:endParaRPr lang="en-US" sz="920" dirty="0"/>
          </a:p>
        </p:txBody>
      </p:sp>
      <p:sp>
        <p:nvSpPr>
          <p:cNvPr id="26" name="Oval 25"/>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Next steps</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What would turn the pilot into a stronger study</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The next phase should test scale, repair validation, and clinical safety rather than only adding more aggregate metrics.</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18 / 19</a:t>
            </a:r>
            <a:endParaRPr lang="en-US" sz="680" dirty="0"/>
          </a:p>
        </p:txBody>
      </p:sp>
      <p:sp>
        <p:nvSpPr>
          <p:cNvPr id="8" name="Shape 6"/>
          <p:cNvSpPr/>
          <p:nvPr/>
        </p:nvSpPr>
        <p:spPr>
          <a:xfrm>
            <a:off x="475488" y="1783080"/>
            <a:ext cx="5074920" cy="969264"/>
          </a:xfrm>
          <a:prstGeom prst="roundRect">
            <a:avLst>
              <a:gd name="adj" fmla="val 5660"/>
            </a:avLst>
          </a:prstGeom>
          <a:solidFill>
            <a:srgbClr val="FFFFFF"/>
          </a:solidFill>
          <a:ln w="8890">
            <a:solidFill>
              <a:srgbClr val="D9E2E8"/>
            </a:solidFill>
            <a:prstDash val="solid"/>
          </a:ln>
        </p:spPr>
        <p:txBody>
          <a:bodyPr/>
          <a:lstStyle/>
          <a:p>
            <a:endParaRPr lang="en-US"/>
          </a:p>
        </p:txBody>
      </p:sp>
      <p:sp>
        <p:nvSpPr>
          <p:cNvPr id="9" name="Text 7"/>
          <p:cNvSpPr/>
          <p:nvPr/>
        </p:nvSpPr>
        <p:spPr>
          <a:xfrm>
            <a:off x="658368" y="1947672"/>
            <a:ext cx="2331720" cy="219456"/>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Scale to n=1,000</a:t>
            </a:r>
            <a:endParaRPr lang="en-US" sz="1300" dirty="0"/>
          </a:p>
        </p:txBody>
      </p:sp>
      <p:sp>
        <p:nvSpPr>
          <p:cNvPr id="10" name="Text 8"/>
          <p:cNvSpPr/>
          <p:nvPr/>
        </p:nvSpPr>
        <p:spPr>
          <a:xfrm>
            <a:off x="658368" y="2276856"/>
            <a:ext cx="44805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Run the same fixed_repair and self_repair structure on a larger MedQuAD sample with confidence intervals.</a:t>
            </a:r>
            <a:endParaRPr lang="en-US" sz="880" dirty="0"/>
          </a:p>
        </p:txBody>
      </p:sp>
      <p:sp>
        <p:nvSpPr>
          <p:cNvPr id="11" name="Shape 9"/>
          <p:cNvSpPr/>
          <p:nvPr/>
        </p:nvSpPr>
        <p:spPr>
          <a:xfrm>
            <a:off x="6053328" y="1783080"/>
            <a:ext cx="5074920" cy="969264"/>
          </a:xfrm>
          <a:prstGeom prst="roundRect">
            <a:avLst>
              <a:gd name="adj" fmla="val 5660"/>
            </a:avLst>
          </a:prstGeom>
          <a:solidFill>
            <a:srgbClr val="FFFFFF"/>
          </a:solidFill>
          <a:ln w="8890">
            <a:solidFill>
              <a:srgbClr val="D9E2E8"/>
            </a:solidFill>
            <a:prstDash val="solid"/>
          </a:ln>
        </p:spPr>
        <p:txBody>
          <a:bodyPr/>
          <a:lstStyle/>
          <a:p>
            <a:endParaRPr lang="en-US"/>
          </a:p>
        </p:txBody>
      </p:sp>
      <p:sp>
        <p:nvSpPr>
          <p:cNvPr id="12" name="Text 10"/>
          <p:cNvSpPr/>
          <p:nvPr/>
        </p:nvSpPr>
        <p:spPr>
          <a:xfrm>
            <a:off x="6236208" y="1947672"/>
            <a:ext cx="2331720" cy="219456"/>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Validate repair outputs</a:t>
            </a:r>
            <a:endParaRPr lang="en-US" sz="1300" dirty="0"/>
          </a:p>
        </p:txBody>
      </p:sp>
      <p:sp>
        <p:nvSpPr>
          <p:cNvPr id="13" name="Text 11"/>
          <p:cNvSpPr/>
          <p:nvPr/>
        </p:nvSpPr>
        <p:spPr>
          <a:xfrm>
            <a:off x="6236208" y="2276856"/>
            <a:ext cx="44805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Reject rewrites that answer the question, ask for more context, or inject facts not present in the noisy input.</a:t>
            </a:r>
            <a:endParaRPr lang="en-US" sz="880" dirty="0"/>
          </a:p>
        </p:txBody>
      </p:sp>
      <p:sp>
        <p:nvSpPr>
          <p:cNvPr id="14" name="Shape 12"/>
          <p:cNvSpPr/>
          <p:nvPr/>
        </p:nvSpPr>
        <p:spPr>
          <a:xfrm>
            <a:off x="475488" y="3200400"/>
            <a:ext cx="5074920" cy="1180618"/>
          </a:xfrm>
          <a:prstGeom prst="roundRect">
            <a:avLst>
              <a:gd name="adj" fmla="val 5660"/>
            </a:avLst>
          </a:prstGeom>
          <a:solidFill>
            <a:srgbClr val="FFFFFF"/>
          </a:solidFill>
          <a:ln w="8890">
            <a:solidFill>
              <a:srgbClr val="D9E2E8"/>
            </a:solidFill>
            <a:prstDash val="solid"/>
          </a:ln>
        </p:spPr>
        <p:txBody>
          <a:bodyPr/>
          <a:lstStyle/>
          <a:p>
            <a:endParaRPr lang="en-US"/>
          </a:p>
        </p:txBody>
      </p:sp>
      <p:sp>
        <p:nvSpPr>
          <p:cNvPr id="15" name="Text 13"/>
          <p:cNvSpPr/>
          <p:nvPr/>
        </p:nvSpPr>
        <p:spPr>
          <a:xfrm>
            <a:off x="658368" y="3364992"/>
            <a:ext cx="2331720" cy="219456"/>
          </a:xfrm>
          <a:prstGeom prst="rect">
            <a:avLst/>
          </a:prstGeom>
          <a:noFill/>
          <a:ln/>
        </p:spPr>
        <p:txBody>
          <a:bodyPr wrap="square" lIns="0" tIns="0" rIns="0" bIns="0" rtlCol="0" anchor="t"/>
          <a:lstStyle/>
          <a:p>
            <a:pPr marL="0" indent="0" algn="l">
              <a:buNone/>
            </a:pPr>
            <a:r>
              <a:rPr lang="en-US" sz="1400" b="1" dirty="0">
                <a:solidFill>
                  <a:srgbClr val="E0A13A"/>
                </a:solidFill>
                <a:latin typeface="Aptos" pitchFamily="34" charset="0"/>
                <a:ea typeface="Aptos" pitchFamily="34" charset="-122"/>
                <a:cs typeface="Aptos" pitchFamily="34" charset="-120"/>
              </a:rPr>
              <a:t>Human/clinical review</a:t>
            </a:r>
            <a:endParaRPr lang="en-US" sz="1300" dirty="0"/>
          </a:p>
        </p:txBody>
      </p:sp>
      <p:sp>
        <p:nvSpPr>
          <p:cNvPr id="16" name="Text 14"/>
          <p:cNvSpPr/>
          <p:nvPr/>
        </p:nvSpPr>
        <p:spPr>
          <a:xfrm>
            <a:off x="658368" y="3694176"/>
            <a:ext cx="44805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Pair automatic scores with a harm-tier rubric for misleading, unsafe, or clinically dangerous answers.</a:t>
            </a:r>
            <a:endParaRPr lang="en-US" sz="880" dirty="0"/>
          </a:p>
        </p:txBody>
      </p:sp>
      <p:sp>
        <p:nvSpPr>
          <p:cNvPr id="17" name="Shape 15"/>
          <p:cNvSpPr/>
          <p:nvPr/>
        </p:nvSpPr>
        <p:spPr>
          <a:xfrm>
            <a:off x="6053328" y="3200400"/>
            <a:ext cx="5074920" cy="1180618"/>
          </a:xfrm>
          <a:prstGeom prst="roundRect">
            <a:avLst>
              <a:gd name="adj" fmla="val 5660"/>
            </a:avLst>
          </a:prstGeom>
          <a:solidFill>
            <a:srgbClr val="FFFFFF"/>
          </a:solidFill>
          <a:ln w="8890">
            <a:solidFill>
              <a:srgbClr val="D9E2E8"/>
            </a:solidFill>
            <a:prstDash val="solid"/>
          </a:ln>
        </p:spPr>
        <p:txBody>
          <a:bodyPr/>
          <a:lstStyle/>
          <a:p>
            <a:endParaRPr lang="en-US"/>
          </a:p>
        </p:txBody>
      </p:sp>
      <p:sp>
        <p:nvSpPr>
          <p:cNvPr id="18" name="Text 16"/>
          <p:cNvSpPr/>
          <p:nvPr/>
        </p:nvSpPr>
        <p:spPr>
          <a:xfrm>
            <a:off x="6236208" y="3364992"/>
            <a:ext cx="2331720" cy="219456"/>
          </a:xfrm>
          <a:prstGeom prst="rect">
            <a:avLst/>
          </a:prstGeom>
          <a:noFill/>
          <a:ln/>
        </p:spPr>
        <p:txBody>
          <a:bodyPr wrap="square" lIns="0" tIns="0" rIns="0" bIns="0" rtlCol="0" anchor="t"/>
          <a:lstStyle/>
          <a:p>
            <a:pPr marL="0" indent="0" algn="l">
              <a:buNone/>
            </a:pPr>
            <a:r>
              <a:rPr lang="en-US" sz="1400" b="1" dirty="0">
                <a:solidFill>
                  <a:srgbClr val="C94C4C"/>
                </a:solidFill>
                <a:latin typeface="Aptos" pitchFamily="34" charset="0"/>
                <a:ea typeface="Aptos" pitchFamily="34" charset="-122"/>
                <a:cs typeface="Aptos" pitchFamily="34" charset="-120"/>
              </a:rPr>
              <a:t>Noise-specific policy</a:t>
            </a:r>
            <a:endParaRPr lang="en-US" sz="1300" dirty="0"/>
          </a:p>
        </p:txBody>
      </p:sp>
      <p:sp>
        <p:nvSpPr>
          <p:cNvPr id="19" name="Text 17"/>
          <p:cNvSpPr/>
          <p:nvPr/>
        </p:nvSpPr>
        <p:spPr>
          <a:xfrm>
            <a:off x="6236208" y="3694176"/>
            <a:ext cx="4480560" cy="329184"/>
          </a:xfrm>
          <a:prstGeom prst="rect">
            <a:avLst/>
          </a:prstGeom>
          <a:noFill/>
          <a:ln/>
        </p:spPr>
        <p:txBody>
          <a:bodyPr wrap="square" lIns="0" tIns="0" rIns="0" bIns="0" rtlCol="0" anchor="t">
            <a:noAutofit/>
          </a:bodyPr>
          <a:lstStyle/>
          <a:p>
            <a:pPr marL="0" indent="0" algn="l">
              <a:buNone/>
            </a:pPr>
            <a:r>
              <a:rPr lang="en-US" sz="1400" dirty="0">
                <a:solidFill>
                  <a:srgbClr val="52616B"/>
                </a:solidFill>
                <a:latin typeface="Aptos" pitchFamily="34" charset="0"/>
                <a:ea typeface="Aptos" pitchFamily="34" charset="-122"/>
                <a:cs typeface="Aptos" pitchFamily="34" charset="-120"/>
              </a:rPr>
              <a:t>Deploy repair selectively: typo/incomplete questions may benefit; overgeneralized or ambiguous prompts may need clarification instead.</a:t>
            </a:r>
            <a:endParaRPr lang="en-US" sz="1400" dirty="0"/>
          </a:p>
        </p:txBody>
      </p:sp>
      <p:sp>
        <p:nvSpPr>
          <p:cNvPr id="20" name="Text 18"/>
          <p:cNvSpPr/>
          <p:nvPr/>
        </p:nvSpPr>
        <p:spPr>
          <a:xfrm>
            <a:off x="475488" y="5166360"/>
            <a:ext cx="9875520" cy="347472"/>
          </a:xfrm>
          <a:prstGeom prst="rect">
            <a:avLst/>
          </a:prstGeom>
          <a:noFill/>
          <a:ln/>
        </p:spPr>
        <p:txBody>
          <a:bodyPr wrap="square" lIns="635" tIns="635" rIns="635" bIns="635" rtlCol="0" anchor="t">
            <a:normAutofit/>
          </a:bodyPr>
          <a:lstStyle/>
          <a:p>
            <a:pPr marL="0" indent="0" algn="l">
              <a:buNone/>
            </a:pPr>
            <a:r>
              <a:rPr lang="en-US" sz="1500" b="1" dirty="0">
                <a:solidFill>
                  <a:srgbClr val="25323D"/>
                </a:solidFill>
                <a:latin typeface="Aptos" pitchFamily="34" charset="0"/>
                <a:ea typeface="Aptos" pitchFamily="34" charset="-122"/>
                <a:cs typeface="Aptos" pitchFamily="34" charset="-120"/>
              </a:rPr>
              <a:t>Practical takeaway: prompt repair should be evaluated as a conditional tool, not assumed to be a universal safety layer.</a:t>
            </a:r>
            <a:endParaRPr lang="en-US" sz="1500" dirty="0"/>
          </a:p>
        </p:txBody>
      </p:sp>
      <p:sp>
        <p:nvSpPr>
          <p:cNvPr id="21" name="Oval 20"/>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5323D"/>
        </a:solidFill>
        <a:effectLst/>
      </p:bgPr>
    </p:bg>
    <p:spTree>
      <p:nvGrpSpPr>
        <p:cNvPr id="1" name=""/>
        <p:cNvGrpSpPr/>
        <p:nvPr/>
      </p:nvGrpSpPr>
      <p:grpSpPr>
        <a:xfrm>
          <a:off x="0" y="0"/>
          <a:ext cx="0" cy="0"/>
          <a:chOff x="0" y="0"/>
          <a:chExt cx="0" cy="0"/>
        </a:xfrm>
      </p:grpSpPr>
      <p:sp>
        <p:nvSpPr>
          <p:cNvPr id="2" name="Text 0"/>
          <p:cNvSpPr/>
          <p:nvPr/>
        </p:nvSpPr>
        <p:spPr>
          <a:xfrm>
            <a:off x="475488" y="1417320"/>
            <a:ext cx="4389120" cy="713232"/>
          </a:xfrm>
          <a:prstGeom prst="rect">
            <a:avLst/>
          </a:prstGeom>
          <a:noFill/>
          <a:ln/>
        </p:spPr>
        <p:txBody>
          <a:bodyPr wrap="square" lIns="0" tIns="0" rIns="0" bIns="0" rtlCol="0" anchor="t"/>
          <a:lstStyle/>
          <a:p>
            <a:pPr marL="0" indent="0" algn="l">
              <a:buNone/>
            </a:pPr>
            <a:r>
              <a:rPr lang="en-US" sz="5400" b="1" dirty="0">
                <a:solidFill>
                  <a:srgbClr val="FFFFFF"/>
                </a:solidFill>
                <a:latin typeface="Aptos" pitchFamily="34" charset="0"/>
                <a:ea typeface="Aptos" pitchFamily="34" charset="-122"/>
                <a:cs typeface="Aptos" pitchFamily="34" charset="-120"/>
              </a:rPr>
              <a:t>Thank you.</a:t>
            </a:r>
            <a:endParaRPr lang="en-US" sz="4200" dirty="0"/>
          </a:p>
        </p:txBody>
      </p:sp>
      <p:sp>
        <p:nvSpPr>
          <p:cNvPr id="3" name="Text 1"/>
          <p:cNvSpPr/>
          <p:nvPr/>
        </p:nvSpPr>
        <p:spPr>
          <a:xfrm>
            <a:off x="475488" y="2395728"/>
            <a:ext cx="5486400" cy="292608"/>
          </a:xfrm>
          <a:prstGeom prst="rect">
            <a:avLst/>
          </a:prstGeom>
          <a:noFill/>
          <a:ln/>
        </p:spPr>
        <p:txBody>
          <a:bodyPr wrap="square" lIns="0" tIns="0" rIns="0" bIns="0" rtlCol="0" anchor="t"/>
          <a:lstStyle/>
          <a:p>
            <a:pPr marL="0" indent="0" algn="l">
              <a:buNone/>
            </a:pPr>
            <a:r>
              <a:rPr lang="en-US" sz="1400" i="1" dirty="0">
                <a:solidFill>
                  <a:srgbClr val="DCE9ED"/>
                </a:solidFill>
                <a:latin typeface="Aptos" pitchFamily="34" charset="0"/>
                <a:ea typeface="Aptos" pitchFamily="34" charset="-122"/>
                <a:cs typeface="Aptos" pitchFamily="34" charset="-120"/>
              </a:rPr>
              <a:t>Questions, pushback, and especially counter-evidence welcome.</a:t>
            </a:r>
            <a:endParaRPr lang="en-US" sz="1400" dirty="0"/>
          </a:p>
        </p:txBody>
      </p:sp>
      <p:sp>
        <p:nvSpPr>
          <p:cNvPr id="4" name="Text 2"/>
          <p:cNvSpPr/>
          <p:nvPr/>
        </p:nvSpPr>
        <p:spPr>
          <a:xfrm>
            <a:off x="475488" y="5120640"/>
            <a:ext cx="4206240" cy="201168"/>
          </a:xfrm>
          <a:prstGeom prst="rect">
            <a:avLst/>
          </a:prstGeom>
          <a:noFill/>
          <a:ln/>
        </p:spPr>
        <p:txBody>
          <a:bodyPr wrap="square" lIns="0" tIns="0" rIns="0" bIns="0" rtlCol="0" anchor="t"/>
          <a:lstStyle/>
          <a:p>
            <a:pPr marL="0" indent="0" algn="l">
              <a:buNone/>
            </a:pPr>
            <a:r>
              <a:rPr lang="en-US" sz="1400" dirty="0">
                <a:solidFill>
                  <a:srgbClr val="FFFFFF"/>
                </a:solidFill>
                <a:latin typeface="Aptos" pitchFamily="34" charset="0"/>
                <a:ea typeface="Aptos" pitchFamily="34" charset="-122"/>
                <a:cs typeface="Aptos" pitchFamily="34" charset="-120"/>
              </a:rPr>
              <a:t>Group 2 | Practicum in LLM Evaluation</a:t>
            </a:r>
            <a:endParaRPr lang="en-US" sz="900" dirty="0"/>
          </a:p>
        </p:txBody>
      </p:sp>
      <p:sp>
        <p:nvSpPr>
          <p:cNvPr id="5" name="Text 3"/>
          <p:cNvSpPr/>
          <p:nvPr/>
        </p:nvSpPr>
        <p:spPr>
          <a:xfrm>
            <a:off x="475488" y="5440680"/>
            <a:ext cx="4206240" cy="201168"/>
          </a:xfrm>
          <a:prstGeom prst="rect">
            <a:avLst/>
          </a:prstGeom>
          <a:noFill/>
          <a:ln/>
        </p:spPr>
        <p:txBody>
          <a:bodyPr wrap="square" lIns="0" tIns="0" rIns="0" bIns="0" rtlCol="0" anchor="t"/>
          <a:lstStyle/>
          <a:p>
            <a:pPr marL="0" indent="0" algn="l">
              <a:buNone/>
            </a:pPr>
            <a:r>
              <a:rPr lang="en-US" sz="1400" dirty="0">
                <a:solidFill>
                  <a:srgbClr val="FFFFFF"/>
                </a:solidFill>
                <a:latin typeface="Aptos" pitchFamily="34" charset="0"/>
                <a:ea typeface="Aptos" pitchFamily="34" charset="-122"/>
                <a:cs typeface="Aptos" pitchFamily="34" charset="-120"/>
              </a:rPr>
              <a:t>MedQuAD Robustness | n=50 final presentation</a:t>
            </a:r>
            <a:endParaRPr lang="en-US" sz="900" dirty="0"/>
          </a:p>
        </p:txBody>
      </p:sp>
      <p:sp>
        <p:nvSpPr>
          <p:cNvPr id="6" name="Shape 4"/>
          <p:cNvSpPr/>
          <p:nvPr/>
        </p:nvSpPr>
        <p:spPr>
          <a:xfrm>
            <a:off x="6675120" y="1234440"/>
            <a:ext cx="4023360" cy="3108960"/>
          </a:xfrm>
          <a:prstGeom prst="roundRect">
            <a:avLst>
              <a:gd name="adj" fmla="val 1765"/>
            </a:avLst>
          </a:prstGeom>
          <a:solidFill>
            <a:srgbClr val="25323D"/>
          </a:solidFill>
          <a:ln w="8890">
            <a:solidFill>
              <a:srgbClr val="31424E"/>
            </a:solidFill>
            <a:prstDash val="solid"/>
          </a:ln>
        </p:spPr>
        <p:txBody>
          <a:bodyPr/>
          <a:lstStyle/>
          <a:p>
            <a:endParaRPr lang="en-US"/>
          </a:p>
        </p:txBody>
      </p:sp>
      <p:sp>
        <p:nvSpPr>
          <p:cNvPr id="7" name="Text 5"/>
          <p:cNvSpPr/>
          <p:nvPr/>
        </p:nvSpPr>
        <p:spPr>
          <a:xfrm>
            <a:off x="7086600" y="1691640"/>
            <a:ext cx="1828800" cy="237744"/>
          </a:xfrm>
          <a:prstGeom prst="rect">
            <a:avLst/>
          </a:prstGeom>
          <a:noFill/>
          <a:ln/>
        </p:spPr>
        <p:txBody>
          <a:bodyPr wrap="square" lIns="0" tIns="0" rIns="0" bIns="0" rtlCol="0" anchor="t"/>
          <a:lstStyle/>
          <a:p>
            <a:pPr marL="0" indent="0" algn="l">
              <a:buNone/>
            </a:pPr>
            <a:r>
              <a:rPr lang="en-US" sz="1400" b="1" dirty="0">
                <a:solidFill>
                  <a:srgbClr val="FFFFFF"/>
                </a:solidFill>
                <a:latin typeface="Aptos" pitchFamily="34" charset="0"/>
                <a:ea typeface="Aptos" pitchFamily="34" charset="-122"/>
                <a:cs typeface="Aptos" pitchFamily="34" charset="-120"/>
              </a:rPr>
              <a:t>Main answer</a:t>
            </a:r>
            <a:endParaRPr lang="en-US" sz="1300" dirty="0"/>
          </a:p>
        </p:txBody>
      </p:sp>
      <p:sp>
        <p:nvSpPr>
          <p:cNvPr id="8" name="Text 6"/>
          <p:cNvSpPr/>
          <p:nvPr/>
        </p:nvSpPr>
        <p:spPr>
          <a:xfrm>
            <a:off x="7086600" y="2148840"/>
            <a:ext cx="3063240" cy="960120"/>
          </a:xfrm>
          <a:prstGeom prst="rect">
            <a:avLst/>
          </a:prstGeom>
          <a:noFill/>
          <a:ln/>
        </p:spPr>
        <p:txBody>
          <a:bodyPr wrap="square" lIns="0" tIns="0" rIns="0" bIns="0" rtlCol="0" anchor="t">
            <a:normAutofit/>
          </a:bodyPr>
          <a:lstStyle/>
          <a:p>
            <a:pPr marL="0" indent="0" algn="l">
              <a:buNone/>
            </a:pPr>
            <a:r>
              <a:rPr lang="en-US" sz="1600" b="1" dirty="0">
                <a:solidFill>
                  <a:srgbClr val="E0A13A"/>
                </a:solidFill>
                <a:latin typeface="Aptos" pitchFamily="34" charset="0"/>
                <a:ea typeface="Aptos" pitchFamily="34" charset="-122"/>
                <a:cs typeface="Aptos" pitchFamily="34" charset="-120"/>
              </a:rPr>
              <a:t>Repair improved question intent in every model, but it did not systematically improve medical QA answer quality in the completed n=50 pilot.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3024</Words>
  <Application>Microsoft Office PowerPoint</Application>
  <PresentationFormat>Widescreen</PresentationFormat>
  <Paragraphs>390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Columbia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LLM Robustness to Noisy User Inputs</dc:title>
  <dc:subject>MedQuAD Robustness n=50 Experiments</dc:subject>
  <dc:creator>Group 2</dc:creator>
  <cp:lastModifiedBy>Michael Li</cp:lastModifiedBy>
  <cp:revision>1</cp:revision>
  <dcterms:created xsi:type="dcterms:W3CDTF">2026-04-28T02:25:16Z</dcterms:created>
  <dcterms:modified xsi:type="dcterms:W3CDTF">2026-04-28T04:13:43Z</dcterms:modified>
</cp:coreProperties>
</file>